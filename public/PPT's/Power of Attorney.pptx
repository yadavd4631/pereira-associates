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Canva Sans" panose="020B0604020202020204" charset="0"/>
      <p:regular r:id="rId29"/>
    </p:embeddedFont>
    <p:embeddedFont>
      <p:font typeface="Canva Sans Bold" panose="020B0604020202020204" charset="0"/>
      <p:regular r:id="rId30"/>
    </p:embeddedFont>
    <p:embeddedFont>
      <p:font typeface="Canva Sans Bold Italics" panose="020B0604020202020204" charset="0"/>
      <p:regular r:id="rId31"/>
    </p:embeddedFont>
    <p:embeddedFont>
      <p:font typeface="Montserrat Ultra-Bold" panose="020B0604020202020204" charset="0"/>
      <p:regular r:id="rId32"/>
    </p:embeddedFont>
    <p:embeddedFont>
      <p:font typeface="Playfair Display SC Bold Italics" panose="020B0604020202020204" charset="0"/>
      <p:regular r:id="rId33"/>
    </p:embeddedFont>
    <p:embeddedFont>
      <p:font typeface="Poppins Bold Italics" panose="020B0604020202020204" charset="0"/>
      <p:regular r:id="rId34"/>
    </p:embeddedFont>
    <p:embeddedFont>
      <p:font typeface="Raleway" pitchFamily="2" charset="0"/>
      <p:regular r:id="rId35"/>
    </p:embeddedFont>
    <p:embeddedFont>
      <p:font typeface="Raleway Bold" panose="020B0604020202020204" charset="0"/>
      <p:regular r:id="rId36"/>
    </p:embeddedFont>
    <p:embeddedFont>
      <p:font typeface="Raleway Bold Italics" panose="020B0604020202020204" charset="0"/>
      <p:regular r:id="rId37"/>
    </p:embeddedFont>
    <p:embeddedFont>
      <p:font typeface="Raleway Semi-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7" d="100"/>
          <a:sy n="37" d="100"/>
        </p:scale>
        <p:origin x="1060" y="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FD3EE5-E95D-428B-9753-0EEFE250C426}" type="datetimeFigureOut">
              <a:rPr lang="en-IN" smtClean="0"/>
              <a:t>03-02-2026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762F9C-8EE4-437C-9623-09928AD737BB}" type="slidenum">
              <a:rPr lang="en-IN" smtClean="0"/>
              <a:t>‹#›</a:t>
            </a:fld>
            <a:endParaRPr lang="en-IN"/>
          </a:p>
        </p:txBody>
      </p:sp>
    </p:spTree>
    <p:extLst>
      <p:ext uri="{BB962C8B-B14F-4D97-AF65-F5344CB8AC3E}">
        <p14:creationId xmlns:p14="http://schemas.microsoft.com/office/powerpoint/2010/main" val="3797823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762F9C-8EE4-437C-9623-09928AD737BB}" type="slidenum">
              <a:rPr lang="en-IN" smtClean="0"/>
              <a:t>10</a:t>
            </a:fld>
            <a:endParaRPr lang="en-IN"/>
          </a:p>
        </p:txBody>
      </p:sp>
    </p:spTree>
    <p:extLst>
      <p:ext uri="{BB962C8B-B14F-4D97-AF65-F5344CB8AC3E}">
        <p14:creationId xmlns:p14="http://schemas.microsoft.com/office/powerpoint/2010/main" val="2348847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3.png"/><Relationship Id="rId7"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4.sv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4.svg"/></Relationships>
</file>

<file path=ppt/slides/_rels/slide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gif"/><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mailto:pereiraassociates604@gmail.com"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mailto:darrylpereira@yahoo.com" TargetMode="External"/><Relationship Id="rId5" Type="http://schemas.openxmlformats.org/officeDocument/2006/relationships/image" Target="../media/image50.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28518" y="6439783"/>
            <a:ext cx="5431872" cy="4511946"/>
          </a:xfrm>
          <a:custGeom>
            <a:avLst/>
            <a:gdLst/>
            <a:ahLst/>
            <a:cxnLst/>
            <a:rect l="l" t="t" r="r" b="b"/>
            <a:pathLst>
              <a:path w="5431872" h="4511946">
                <a:moveTo>
                  <a:pt x="0" y="0"/>
                </a:moveTo>
                <a:lnTo>
                  <a:pt x="5431873" y="0"/>
                </a:lnTo>
                <a:lnTo>
                  <a:pt x="5431873" y="4511946"/>
                </a:lnTo>
                <a:lnTo>
                  <a:pt x="0" y="4511946"/>
                </a:lnTo>
                <a:lnTo>
                  <a:pt x="0" y="0"/>
                </a:lnTo>
                <a:close/>
              </a:path>
            </a:pathLst>
          </a:custGeom>
          <a:blipFill>
            <a:blip r:embed="rId3"/>
            <a:stretch>
              <a:fillRect r="-158565"/>
            </a:stretch>
          </a:blipFill>
        </p:spPr>
        <p:txBody>
          <a:bodyPr/>
          <a:lstStyle/>
          <a:p>
            <a:endParaRPr lang="en-IN"/>
          </a:p>
        </p:txBody>
      </p:sp>
      <p:sp>
        <p:nvSpPr>
          <p:cNvPr id="4" name="Freeform 4"/>
          <p:cNvSpPr/>
          <p:nvPr/>
        </p:nvSpPr>
        <p:spPr>
          <a:xfrm>
            <a:off x="9683266" y="6439783"/>
            <a:ext cx="8733252" cy="4511946"/>
          </a:xfrm>
          <a:custGeom>
            <a:avLst/>
            <a:gdLst/>
            <a:ahLst/>
            <a:cxnLst/>
            <a:rect l="l" t="t" r="r" b="b"/>
            <a:pathLst>
              <a:path w="8733252" h="4511946">
                <a:moveTo>
                  <a:pt x="0" y="0"/>
                </a:moveTo>
                <a:lnTo>
                  <a:pt x="8733252" y="0"/>
                </a:lnTo>
                <a:lnTo>
                  <a:pt x="8733252" y="4511946"/>
                </a:lnTo>
                <a:lnTo>
                  <a:pt x="0" y="4511946"/>
                </a:lnTo>
                <a:lnTo>
                  <a:pt x="0" y="0"/>
                </a:lnTo>
                <a:close/>
              </a:path>
            </a:pathLst>
          </a:custGeom>
          <a:blipFill>
            <a:blip r:embed="rId3"/>
            <a:stretch>
              <a:fillRect l="-60821"/>
            </a:stretch>
          </a:blipFill>
        </p:spPr>
        <p:txBody>
          <a:bodyPr/>
          <a:lstStyle/>
          <a:p>
            <a:endParaRPr lang="en-IN"/>
          </a:p>
        </p:txBody>
      </p:sp>
      <p:grpSp>
        <p:nvGrpSpPr>
          <p:cNvPr id="5" name="Group 5"/>
          <p:cNvGrpSpPr/>
          <p:nvPr/>
        </p:nvGrpSpPr>
        <p:grpSpPr>
          <a:xfrm>
            <a:off x="1388728" y="3580316"/>
            <a:ext cx="9097090" cy="761980"/>
            <a:chOff x="0" y="0"/>
            <a:chExt cx="2395941" cy="200686"/>
          </a:xfrm>
        </p:grpSpPr>
        <p:sp>
          <p:nvSpPr>
            <p:cNvPr id="6" name="Freeform 6"/>
            <p:cNvSpPr/>
            <p:nvPr/>
          </p:nvSpPr>
          <p:spPr>
            <a:xfrm>
              <a:off x="0" y="0"/>
              <a:ext cx="2395941" cy="200686"/>
            </a:xfrm>
            <a:custGeom>
              <a:avLst/>
              <a:gdLst/>
              <a:ahLst/>
              <a:cxnLst/>
              <a:rect l="l" t="t" r="r" b="b"/>
              <a:pathLst>
                <a:path w="2395941" h="200686">
                  <a:moveTo>
                    <a:pt x="43403" y="0"/>
                  </a:moveTo>
                  <a:lnTo>
                    <a:pt x="2352539" y="0"/>
                  </a:lnTo>
                  <a:cubicBezTo>
                    <a:pt x="2364050" y="0"/>
                    <a:pt x="2375090" y="4573"/>
                    <a:pt x="2383229" y="12712"/>
                  </a:cubicBezTo>
                  <a:cubicBezTo>
                    <a:pt x="2391369" y="20852"/>
                    <a:pt x="2395941" y="31892"/>
                    <a:pt x="2395941" y="43403"/>
                  </a:cubicBezTo>
                  <a:lnTo>
                    <a:pt x="2395941" y="157283"/>
                  </a:lnTo>
                  <a:cubicBezTo>
                    <a:pt x="2395941" y="168795"/>
                    <a:pt x="2391369" y="179834"/>
                    <a:pt x="2383229" y="187974"/>
                  </a:cubicBezTo>
                  <a:cubicBezTo>
                    <a:pt x="2375090" y="196113"/>
                    <a:pt x="2364050" y="200686"/>
                    <a:pt x="2352539" y="200686"/>
                  </a:cubicBezTo>
                  <a:lnTo>
                    <a:pt x="43403" y="200686"/>
                  </a:lnTo>
                  <a:cubicBezTo>
                    <a:pt x="31892" y="200686"/>
                    <a:pt x="20852" y="196113"/>
                    <a:pt x="12712" y="187974"/>
                  </a:cubicBezTo>
                  <a:cubicBezTo>
                    <a:pt x="4573" y="179834"/>
                    <a:pt x="0" y="168795"/>
                    <a:pt x="0" y="157283"/>
                  </a:cubicBezTo>
                  <a:lnTo>
                    <a:pt x="0" y="43403"/>
                  </a:lnTo>
                  <a:cubicBezTo>
                    <a:pt x="0" y="31892"/>
                    <a:pt x="4573" y="20852"/>
                    <a:pt x="12712" y="12712"/>
                  </a:cubicBezTo>
                  <a:cubicBezTo>
                    <a:pt x="20852" y="4573"/>
                    <a:pt x="31892" y="0"/>
                    <a:pt x="43403" y="0"/>
                  </a:cubicBezTo>
                  <a:close/>
                </a:path>
              </a:pathLst>
            </a:custGeom>
            <a:solidFill>
              <a:srgbClr val="000000">
                <a:alpha val="0"/>
              </a:srgbClr>
            </a:solidFill>
            <a:ln w="19050" cap="rnd">
              <a:solidFill>
                <a:srgbClr val="000000"/>
              </a:solidFill>
              <a:prstDash val="solid"/>
              <a:round/>
            </a:ln>
          </p:spPr>
          <p:txBody>
            <a:bodyPr/>
            <a:lstStyle/>
            <a:p>
              <a:endParaRPr lang="en-IN"/>
            </a:p>
          </p:txBody>
        </p:sp>
        <p:sp>
          <p:nvSpPr>
            <p:cNvPr id="7" name="TextBox 7"/>
            <p:cNvSpPr txBox="1"/>
            <p:nvPr/>
          </p:nvSpPr>
          <p:spPr>
            <a:xfrm>
              <a:off x="0" y="-57150"/>
              <a:ext cx="2395941" cy="257836"/>
            </a:xfrm>
            <a:prstGeom prst="rect">
              <a:avLst/>
            </a:prstGeom>
          </p:spPr>
          <p:txBody>
            <a:bodyPr lIns="50800" tIns="50800" rIns="50800" bIns="50800" rtlCol="0" anchor="ctr"/>
            <a:lstStyle/>
            <a:p>
              <a:pPr algn="ctr">
                <a:lnSpc>
                  <a:spcPts val="2940"/>
                </a:lnSpc>
              </a:pPr>
              <a:endParaRPr/>
            </a:p>
          </p:txBody>
        </p:sp>
      </p:grpSp>
      <p:sp>
        <p:nvSpPr>
          <p:cNvPr id="8" name="Freeform 8"/>
          <p:cNvSpPr/>
          <p:nvPr/>
        </p:nvSpPr>
        <p:spPr>
          <a:xfrm rot="-6270082">
            <a:off x="13449948" y="-1008356"/>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rot="6289874" flipH="1">
            <a:off x="-1179412" y="-1021525"/>
            <a:ext cx="6029659" cy="6306682"/>
          </a:xfrm>
          <a:custGeom>
            <a:avLst/>
            <a:gdLst/>
            <a:ahLst/>
            <a:cxnLst/>
            <a:rect l="l" t="t" r="r" b="b"/>
            <a:pathLst>
              <a:path w="6029659" h="6306682">
                <a:moveTo>
                  <a:pt x="6029659" y="0"/>
                </a:moveTo>
                <a:lnTo>
                  <a:pt x="0" y="0"/>
                </a:lnTo>
                <a:lnTo>
                  <a:pt x="0" y="6306682"/>
                </a:lnTo>
                <a:lnTo>
                  <a:pt x="6029659" y="6306682"/>
                </a:lnTo>
                <a:lnTo>
                  <a:pt x="6029659"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898717">
            <a:off x="10860973" y="4371451"/>
            <a:ext cx="5417996" cy="3615281"/>
          </a:xfrm>
          <a:custGeom>
            <a:avLst/>
            <a:gdLst/>
            <a:ahLst/>
            <a:cxnLst/>
            <a:rect l="l" t="t" r="r" b="b"/>
            <a:pathLst>
              <a:path w="5417996" h="3615281">
                <a:moveTo>
                  <a:pt x="0" y="0"/>
                </a:moveTo>
                <a:lnTo>
                  <a:pt x="5417997" y="0"/>
                </a:lnTo>
                <a:lnTo>
                  <a:pt x="5417997" y="3615281"/>
                </a:lnTo>
                <a:lnTo>
                  <a:pt x="0" y="3615281"/>
                </a:lnTo>
                <a:lnTo>
                  <a:pt x="0" y="0"/>
                </a:lnTo>
                <a:close/>
              </a:path>
            </a:pathLst>
          </a:custGeom>
          <a:blipFill>
            <a:blip r:embed="rId6"/>
            <a:stretch>
              <a:fillRect/>
            </a:stretch>
          </a:blipFill>
        </p:spPr>
        <p:txBody>
          <a:bodyPr/>
          <a:lstStyle/>
          <a:p>
            <a:endParaRPr lang="en-IN"/>
          </a:p>
        </p:txBody>
      </p:sp>
      <p:sp>
        <p:nvSpPr>
          <p:cNvPr id="11" name="Freeform 11"/>
          <p:cNvSpPr/>
          <p:nvPr/>
        </p:nvSpPr>
        <p:spPr>
          <a:xfrm rot="686640">
            <a:off x="4027132" y="5868801"/>
            <a:ext cx="5467945" cy="3648610"/>
          </a:xfrm>
          <a:custGeom>
            <a:avLst/>
            <a:gdLst/>
            <a:ahLst/>
            <a:cxnLst/>
            <a:rect l="l" t="t" r="r" b="b"/>
            <a:pathLst>
              <a:path w="5467945" h="3648610">
                <a:moveTo>
                  <a:pt x="0" y="0"/>
                </a:moveTo>
                <a:lnTo>
                  <a:pt x="5467944" y="0"/>
                </a:lnTo>
                <a:lnTo>
                  <a:pt x="5467944" y="3648611"/>
                </a:lnTo>
                <a:lnTo>
                  <a:pt x="0" y="3648611"/>
                </a:lnTo>
                <a:lnTo>
                  <a:pt x="0" y="0"/>
                </a:lnTo>
                <a:close/>
              </a:path>
            </a:pathLst>
          </a:custGeom>
          <a:blipFill>
            <a:blip r:embed="rId7"/>
            <a:stretch>
              <a:fillRect/>
            </a:stretch>
          </a:blipFill>
        </p:spPr>
        <p:txBody>
          <a:bodyPr/>
          <a:lstStyle/>
          <a:p>
            <a:endParaRPr lang="en-IN"/>
          </a:p>
        </p:txBody>
      </p:sp>
      <p:sp>
        <p:nvSpPr>
          <p:cNvPr id="12" name="TextBox 12"/>
          <p:cNvSpPr txBox="1"/>
          <p:nvPr/>
        </p:nvSpPr>
        <p:spPr>
          <a:xfrm>
            <a:off x="1028700" y="3666031"/>
            <a:ext cx="8709864" cy="547370"/>
          </a:xfrm>
          <a:prstGeom prst="rect">
            <a:avLst/>
          </a:prstGeom>
        </p:spPr>
        <p:txBody>
          <a:bodyPr lIns="0" tIns="0" rIns="0" bIns="0" rtlCol="0" anchor="t">
            <a:spAutoFit/>
          </a:bodyPr>
          <a:lstStyle/>
          <a:p>
            <a:pPr algn="ctr">
              <a:lnSpc>
                <a:spcPts val="4480"/>
              </a:lnSpc>
            </a:pPr>
            <a:r>
              <a:rPr lang="en-US" sz="3200" b="1">
                <a:solidFill>
                  <a:srgbClr val="000000"/>
                </a:solidFill>
                <a:latin typeface="Raleway Bold"/>
                <a:ea typeface="Raleway Bold"/>
                <a:cs typeface="Raleway Bold"/>
                <a:sym typeface="Raleway Bold"/>
              </a:rPr>
              <a:t> Meaning, Uses , Steps and more... </a:t>
            </a:r>
          </a:p>
        </p:txBody>
      </p:sp>
      <p:sp>
        <p:nvSpPr>
          <p:cNvPr id="13" name="TextBox 13"/>
          <p:cNvSpPr txBox="1"/>
          <p:nvPr/>
        </p:nvSpPr>
        <p:spPr>
          <a:xfrm>
            <a:off x="435608" y="1561197"/>
            <a:ext cx="15076049" cy="1636333"/>
          </a:xfrm>
          <a:prstGeom prst="rect">
            <a:avLst/>
          </a:prstGeom>
        </p:spPr>
        <p:txBody>
          <a:bodyPr lIns="0" tIns="0" rIns="0" bIns="0" rtlCol="0" anchor="t">
            <a:spAutoFit/>
          </a:bodyPr>
          <a:lstStyle/>
          <a:p>
            <a:pPr algn="ctr">
              <a:lnSpc>
                <a:spcPts val="13404"/>
              </a:lnSpc>
            </a:pPr>
            <a:r>
              <a:rPr lang="en-US" sz="9574" b="1">
                <a:solidFill>
                  <a:srgbClr val="000000"/>
                </a:solidFill>
                <a:latin typeface="Montserrat Ultra-Bold"/>
                <a:ea typeface="Montserrat Ultra-Bold"/>
                <a:cs typeface="Montserrat Ultra-Bold"/>
                <a:sym typeface="Montserrat Ultra-Bold"/>
              </a:rPr>
              <a:t>POWER OF ATTORNEY </a:t>
            </a:r>
          </a:p>
        </p:txBody>
      </p:sp>
      <p:sp>
        <p:nvSpPr>
          <p:cNvPr id="14" name="TextBox 14"/>
          <p:cNvSpPr txBox="1"/>
          <p:nvPr/>
        </p:nvSpPr>
        <p:spPr>
          <a:xfrm>
            <a:off x="9139238" y="4819967"/>
            <a:ext cx="9525" cy="580390"/>
          </a:xfrm>
          <a:prstGeom prst="rect">
            <a:avLst/>
          </a:prstGeom>
        </p:spPr>
        <p:txBody>
          <a:bodyPr lIns="0" tIns="0" rIns="0" bIns="0" rtlCol="0" anchor="t">
            <a:spAutoFit/>
          </a:bodyPr>
          <a:lstStyle/>
          <a:p>
            <a:pPr algn="ctr">
              <a:lnSpc>
                <a:spcPts val="4759"/>
              </a:lnSpc>
            </a:pPr>
            <a:endParaRPr/>
          </a:p>
        </p:txBody>
      </p:sp>
      <p:sp>
        <p:nvSpPr>
          <p:cNvPr id="15" name="TextBox 15"/>
          <p:cNvSpPr txBox="1"/>
          <p:nvPr/>
        </p:nvSpPr>
        <p:spPr>
          <a:xfrm>
            <a:off x="14096504" y="9499716"/>
            <a:ext cx="4191496" cy="523875"/>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Raleway Bold"/>
                <a:ea typeface="Raleway Bold"/>
                <a:cs typeface="Raleway Bold"/>
                <a:sym typeface="Raleway Bold"/>
              </a:rPr>
              <a:t>© Pereira &amp; Associates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5F9F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057400"/>
            <a:ext cx="16230600" cy="8229600"/>
            <a:chOff x="0" y="0"/>
            <a:chExt cx="2514545" cy="1274980"/>
          </a:xfrm>
        </p:grpSpPr>
        <p:sp>
          <p:nvSpPr>
            <p:cNvPr id="3" name="Freeform 3"/>
            <p:cNvSpPr/>
            <p:nvPr/>
          </p:nvSpPr>
          <p:spPr>
            <a:xfrm>
              <a:off x="0" y="0"/>
              <a:ext cx="2514545" cy="1274980"/>
            </a:xfrm>
            <a:custGeom>
              <a:avLst/>
              <a:gdLst/>
              <a:ahLst/>
              <a:cxnLst/>
              <a:rect l="l" t="t" r="r" b="b"/>
              <a:pathLst>
                <a:path w="2514545" h="1274980">
                  <a:moveTo>
                    <a:pt x="11925" y="0"/>
                  </a:moveTo>
                  <a:lnTo>
                    <a:pt x="2502620" y="0"/>
                  </a:lnTo>
                  <a:cubicBezTo>
                    <a:pt x="2509206" y="0"/>
                    <a:pt x="2514545" y="5339"/>
                    <a:pt x="2514545" y="11925"/>
                  </a:cubicBezTo>
                  <a:lnTo>
                    <a:pt x="2514545" y="1263056"/>
                  </a:lnTo>
                  <a:cubicBezTo>
                    <a:pt x="2514545" y="1269641"/>
                    <a:pt x="2509206" y="1274980"/>
                    <a:pt x="2502620" y="1274980"/>
                  </a:cubicBezTo>
                  <a:lnTo>
                    <a:pt x="11925" y="1274980"/>
                  </a:lnTo>
                  <a:cubicBezTo>
                    <a:pt x="5339" y="1274980"/>
                    <a:pt x="0" y="1269641"/>
                    <a:pt x="0" y="1263056"/>
                  </a:cubicBezTo>
                  <a:lnTo>
                    <a:pt x="0" y="11925"/>
                  </a:lnTo>
                  <a:cubicBezTo>
                    <a:pt x="0" y="5339"/>
                    <a:pt x="5339" y="0"/>
                    <a:pt x="11925" y="0"/>
                  </a:cubicBezTo>
                  <a:close/>
                </a:path>
              </a:pathLst>
            </a:custGeom>
            <a:blipFill>
              <a:blip r:embed="rId2">
                <a:alphaModFix amt="15000"/>
              </a:blip>
              <a:stretch>
                <a:fillRect t="-31399"/>
              </a:stretch>
            </a:blipFill>
          </p:spPr>
          <p:txBody>
            <a:bodyPr/>
            <a:lstStyle/>
            <a:p>
              <a:endParaRPr lang="en-IN"/>
            </a:p>
          </p:txBody>
        </p:sp>
      </p:grpSp>
      <p:sp>
        <p:nvSpPr>
          <p:cNvPr id="4" name="TextBox 4"/>
          <p:cNvSpPr txBox="1"/>
          <p:nvPr/>
        </p:nvSpPr>
        <p:spPr>
          <a:xfrm>
            <a:off x="798636" y="2988855"/>
            <a:ext cx="16230600" cy="5324061"/>
          </a:xfrm>
          <a:prstGeom prst="rect">
            <a:avLst/>
          </a:prstGeom>
        </p:spPr>
        <p:txBody>
          <a:bodyPr lIns="0" tIns="0" rIns="0" bIns="0" rtlCol="0" anchor="t">
            <a:spAutoFit/>
          </a:bodyPr>
          <a:lstStyle/>
          <a:p>
            <a:pPr marL="813145" lvl="1" indent="-406573" algn="just">
              <a:lnSpc>
                <a:spcPts val="5272"/>
              </a:lnSpc>
              <a:buFont typeface="Arial"/>
              <a:buChar char="•"/>
            </a:pPr>
            <a:r>
              <a:rPr lang="en-US" sz="3766" b="1" i="1">
                <a:solidFill>
                  <a:srgbClr val="000000"/>
                </a:solidFill>
                <a:latin typeface="Raleway Bold Italics"/>
                <a:ea typeface="Raleway Bold Italics"/>
                <a:cs typeface="Raleway Bold Italics"/>
                <a:sym typeface="Raleway Bold Italics"/>
              </a:rPr>
              <a:t>The term “Power of Attorney” is defined under Section 1A of the Power of Attorney Act, 1882 and includes any instrument empowering a specified person to act for and in the name of the person executing it</a:t>
            </a:r>
          </a:p>
          <a:p>
            <a:pPr algn="just">
              <a:lnSpc>
                <a:spcPts val="5272"/>
              </a:lnSpc>
            </a:pPr>
            <a:endParaRPr lang="en-US" sz="3766" b="1" i="1">
              <a:solidFill>
                <a:srgbClr val="000000"/>
              </a:solidFill>
              <a:latin typeface="Raleway Bold Italics"/>
              <a:ea typeface="Raleway Bold Italics"/>
              <a:cs typeface="Raleway Bold Italics"/>
              <a:sym typeface="Raleway Bold Italics"/>
            </a:endParaRPr>
          </a:p>
          <a:p>
            <a:pPr marL="813145" lvl="1" indent="-406573" algn="just">
              <a:lnSpc>
                <a:spcPts val="5272"/>
              </a:lnSpc>
              <a:buFont typeface="Arial"/>
              <a:buChar char="•"/>
            </a:pPr>
            <a:r>
              <a:rPr lang="en-US" sz="3766" b="1" i="1">
                <a:solidFill>
                  <a:srgbClr val="000000"/>
                </a:solidFill>
                <a:latin typeface="Raleway Bold Italics"/>
                <a:ea typeface="Raleway Bold Italics"/>
                <a:cs typeface="Raleway Bold Italics"/>
                <a:sym typeface="Raleway Bold Italics"/>
              </a:rPr>
              <a:t>The legal authority of the agent to act on behalf of the principal is limited to the extent that the same is clearly specified and authorised under the instrument. It may be general and broad or specific in nature. </a:t>
            </a:r>
          </a:p>
        </p:txBody>
      </p:sp>
      <p:sp>
        <p:nvSpPr>
          <p:cNvPr id="5" name="Freeform 5"/>
          <p:cNvSpPr/>
          <p:nvPr/>
        </p:nvSpPr>
        <p:spPr>
          <a:xfrm>
            <a:off x="12735109" y="428515"/>
            <a:ext cx="1694935" cy="1628885"/>
          </a:xfrm>
          <a:custGeom>
            <a:avLst/>
            <a:gdLst/>
            <a:ahLst/>
            <a:cxnLst/>
            <a:rect l="l" t="t" r="r" b="b"/>
            <a:pathLst>
              <a:path w="1694935" h="1628885">
                <a:moveTo>
                  <a:pt x="0" y="0"/>
                </a:moveTo>
                <a:lnTo>
                  <a:pt x="1694935" y="0"/>
                </a:lnTo>
                <a:lnTo>
                  <a:pt x="1694935" y="1628885"/>
                </a:lnTo>
                <a:lnTo>
                  <a:pt x="0" y="16288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6" name="TextBox 6"/>
          <p:cNvSpPr txBox="1"/>
          <p:nvPr/>
        </p:nvSpPr>
        <p:spPr>
          <a:xfrm>
            <a:off x="0" y="904875"/>
            <a:ext cx="16230600" cy="816612"/>
          </a:xfrm>
          <a:prstGeom prst="rect">
            <a:avLst/>
          </a:prstGeom>
        </p:spPr>
        <p:txBody>
          <a:bodyPr lIns="0" tIns="0" rIns="0" bIns="0" rtlCol="0" anchor="t">
            <a:spAutoFit/>
          </a:bodyPr>
          <a:lstStyle/>
          <a:p>
            <a:pPr algn="ctr">
              <a:lnSpc>
                <a:spcPts val="6439"/>
              </a:lnSpc>
              <a:spcBef>
                <a:spcPct val="0"/>
              </a:spcBef>
            </a:pPr>
            <a:r>
              <a:rPr lang="en-US" sz="4599" b="1" i="1">
                <a:solidFill>
                  <a:srgbClr val="000000"/>
                </a:solidFill>
                <a:latin typeface="Poppins Bold Italics"/>
                <a:ea typeface="Poppins Bold Italics"/>
                <a:cs typeface="Poppins Bold Italics"/>
                <a:sym typeface="Poppins Bold Italics"/>
              </a:rPr>
              <a:t>WHAT IS POWER ATTORNEY ? </a:t>
            </a:r>
          </a:p>
        </p:txBody>
      </p:sp>
      <p:sp>
        <p:nvSpPr>
          <p:cNvPr id="7" name="TextBox 7"/>
          <p:cNvSpPr txBox="1"/>
          <p:nvPr/>
        </p:nvSpPr>
        <p:spPr>
          <a:xfrm>
            <a:off x="14430044" y="9608315"/>
            <a:ext cx="3757153" cy="927428"/>
          </a:xfrm>
          <a:prstGeom prst="rect">
            <a:avLst/>
          </a:prstGeom>
        </p:spPr>
        <p:txBody>
          <a:bodyPr lIns="0" tIns="0" rIns="0" bIns="0" rtlCol="0" anchor="t">
            <a:spAutoFit/>
          </a:bodyPr>
          <a:lstStyle/>
          <a:p>
            <a:pPr algn="ctr">
              <a:lnSpc>
                <a:spcPts val="3719"/>
              </a:lnSpc>
            </a:pPr>
            <a:r>
              <a:rPr lang="en-US" sz="2656" b="1">
                <a:solidFill>
                  <a:srgbClr val="000000"/>
                </a:solidFill>
                <a:latin typeface="Canva Sans Bold"/>
                <a:ea typeface="Canva Sans Bold"/>
                <a:cs typeface="Canva Sans Bold"/>
                <a:sym typeface="Canva Sans Bold"/>
              </a:rPr>
              <a:t>© Pereira &amp; Associates </a:t>
            </a:r>
          </a:p>
          <a:p>
            <a:pPr algn="ctr">
              <a:lnSpc>
                <a:spcPts val="3719"/>
              </a:lnSpc>
            </a:pPr>
            <a:endParaRPr lang="en-US" sz="2656" b="1">
              <a:solidFill>
                <a:srgbClr val="000000"/>
              </a:solidFill>
              <a:latin typeface="Canva Sans Bold"/>
              <a:ea typeface="Canva Sans Bold"/>
              <a:cs typeface="Canva Sans Bold"/>
              <a:sym typeface="Canva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5F9FE"/>
        </a:solidFill>
        <a:effectLst/>
      </p:bgPr>
    </p:bg>
    <p:spTree>
      <p:nvGrpSpPr>
        <p:cNvPr id="1" name=""/>
        <p:cNvGrpSpPr/>
        <p:nvPr/>
      </p:nvGrpSpPr>
      <p:grpSpPr>
        <a:xfrm>
          <a:off x="0" y="0"/>
          <a:ext cx="0" cy="0"/>
          <a:chOff x="0" y="0"/>
          <a:chExt cx="0" cy="0"/>
        </a:xfrm>
      </p:grpSpPr>
      <p:grpSp>
        <p:nvGrpSpPr>
          <p:cNvPr id="2" name="Group 2"/>
          <p:cNvGrpSpPr/>
          <p:nvPr/>
        </p:nvGrpSpPr>
        <p:grpSpPr>
          <a:xfrm>
            <a:off x="393210" y="1001081"/>
            <a:ext cx="18259425" cy="9258300"/>
            <a:chOff x="0" y="0"/>
            <a:chExt cx="2514545" cy="1274980"/>
          </a:xfrm>
        </p:grpSpPr>
        <p:sp>
          <p:nvSpPr>
            <p:cNvPr id="3" name="Freeform 3"/>
            <p:cNvSpPr/>
            <p:nvPr/>
          </p:nvSpPr>
          <p:spPr>
            <a:xfrm>
              <a:off x="0" y="0"/>
              <a:ext cx="2514545" cy="1274980"/>
            </a:xfrm>
            <a:custGeom>
              <a:avLst/>
              <a:gdLst/>
              <a:ahLst/>
              <a:cxnLst/>
              <a:rect l="l" t="t" r="r" b="b"/>
              <a:pathLst>
                <a:path w="2514545" h="1274980">
                  <a:moveTo>
                    <a:pt x="10600" y="0"/>
                  </a:moveTo>
                  <a:lnTo>
                    <a:pt x="2503945" y="0"/>
                  </a:lnTo>
                  <a:cubicBezTo>
                    <a:pt x="2506756" y="0"/>
                    <a:pt x="2509452" y="1117"/>
                    <a:pt x="2511440" y="3105"/>
                  </a:cubicBezTo>
                  <a:cubicBezTo>
                    <a:pt x="2513428" y="5093"/>
                    <a:pt x="2514545" y="7789"/>
                    <a:pt x="2514545" y="10600"/>
                  </a:cubicBezTo>
                  <a:lnTo>
                    <a:pt x="2514545" y="1264380"/>
                  </a:lnTo>
                  <a:cubicBezTo>
                    <a:pt x="2514545" y="1267192"/>
                    <a:pt x="2513428" y="1269888"/>
                    <a:pt x="2511440" y="1271876"/>
                  </a:cubicBezTo>
                  <a:cubicBezTo>
                    <a:pt x="2509452" y="1273864"/>
                    <a:pt x="2506756" y="1274980"/>
                    <a:pt x="2503945" y="1274980"/>
                  </a:cubicBezTo>
                  <a:lnTo>
                    <a:pt x="10600" y="1274980"/>
                  </a:lnTo>
                  <a:cubicBezTo>
                    <a:pt x="7789" y="1274980"/>
                    <a:pt x="5093" y="1273864"/>
                    <a:pt x="3105" y="1271876"/>
                  </a:cubicBezTo>
                  <a:cubicBezTo>
                    <a:pt x="1117" y="1269888"/>
                    <a:pt x="0" y="1267192"/>
                    <a:pt x="0" y="1264380"/>
                  </a:cubicBezTo>
                  <a:lnTo>
                    <a:pt x="0" y="10600"/>
                  </a:lnTo>
                  <a:cubicBezTo>
                    <a:pt x="0" y="7789"/>
                    <a:pt x="1117" y="5093"/>
                    <a:pt x="3105" y="3105"/>
                  </a:cubicBezTo>
                  <a:cubicBezTo>
                    <a:pt x="5093" y="1117"/>
                    <a:pt x="7789" y="0"/>
                    <a:pt x="10600" y="0"/>
                  </a:cubicBezTo>
                  <a:close/>
                </a:path>
              </a:pathLst>
            </a:custGeom>
            <a:blipFill>
              <a:blip r:embed="rId2">
                <a:alphaModFix amt="15000"/>
              </a:blip>
              <a:stretch>
                <a:fillRect t="-60685" b="-60685"/>
              </a:stretch>
            </a:blipFill>
          </p:spPr>
          <p:txBody>
            <a:bodyPr/>
            <a:lstStyle/>
            <a:p>
              <a:endParaRPr lang="en-IN"/>
            </a:p>
          </p:txBody>
        </p:sp>
      </p:grpSp>
      <p:sp>
        <p:nvSpPr>
          <p:cNvPr id="4" name="Freeform 4"/>
          <p:cNvSpPr/>
          <p:nvPr/>
        </p:nvSpPr>
        <p:spPr>
          <a:xfrm rot="715796">
            <a:off x="14601082" y="1184495"/>
            <a:ext cx="2590908" cy="3260868"/>
          </a:xfrm>
          <a:custGeom>
            <a:avLst/>
            <a:gdLst/>
            <a:ahLst/>
            <a:cxnLst/>
            <a:rect l="l" t="t" r="r" b="b"/>
            <a:pathLst>
              <a:path w="2590908" h="3260868">
                <a:moveTo>
                  <a:pt x="0" y="0"/>
                </a:moveTo>
                <a:lnTo>
                  <a:pt x="2590908" y="0"/>
                </a:lnTo>
                <a:lnTo>
                  <a:pt x="2590908" y="3260868"/>
                </a:lnTo>
                <a:lnTo>
                  <a:pt x="0" y="32608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1028700" y="4592213"/>
            <a:ext cx="16230600" cy="1990311"/>
          </a:xfrm>
          <a:prstGeom prst="rect">
            <a:avLst/>
          </a:prstGeom>
        </p:spPr>
        <p:txBody>
          <a:bodyPr lIns="0" tIns="0" rIns="0" bIns="0" rtlCol="0" anchor="t">
            <a:spAutoFit/>
          </a:bodyPr>
          <a:lstStyle/>
          <a:p>
            <a:pPr marL="813145" lvl="1" indent="-406573" algn="just">
              <a:lnSpc>
                <a:spcPts val="5272"/>
              </a:lnSpc>
              <a:buFont typeface="Arial"/>
              <a:buChar char="•"/>
            </a:pPr>
            <a:r>
              <a:rPr lang="en-US" sz="3766" b="1" i="1">
                <a:solidFill>
                  <a:srgbClr val="000000"/>
                </a:solidFill>
                <a:latin typeface="Raleway Bold Italics"/>
                <a:ea typeface="Raleway Bold Italics"/>
                <a:cs typeface="Raleway Bold Italics"/>
                <a:sym typeface="Raleway Bold Italics"/>
              </a:rPr>
              <a:t>A Power of Attorney (POA) is a unilateral instrument and does not require the consent or signatures of the agent and remains to be valid only during the lifetime of the principal</a:t>
            </a:r>
          </a:p>
        </p:txBody>
      </p:sp>
      <p:sp>
        <p:nvSpPr>
          <p:cNvPr id="6" name="TextBox 6"/>
          <p:cNvSpPr txBox="1"/>
          <p:nvPr/>
        </p:nvSpPr>
        <p:spPr>
          <a:xfrm>
            <a:off x="0" y="2897451"/>
            <a:ext cx="16230600" cy="816612"/>
          </a:xfrm>
          <a:prstGeom prst="rect">
            <a:avLst/>
          </a:prstGeom>
        </p:spPr>
        <p:txBody>
          <a:bodyPr lIns="0" tIns="0" rIns="0" bIns="0" rtlCol="0" anchor="t">
            <a:spAutoFit/>
          </a:bodyPr>
          <a:lstStyle/>
          <a:p>
            <a:pPr algn="ctr">
              <a:lnSpc>
                <a:spcPts val="6439"/>
              </a:lnSpc>
              <a:spcBef>
                <a:spcPct val="0"/>
              </a:spcBef>
            </a:pPr>
            <a:r>
              <a:rPr lang="en-US" sz="4599" b="1" i="1">
                <a:solidFill>
                  <a:srgbClr val="000000"/>
                </a:solidFill>
                <a:latin typeface="Poppins Bold Italics"/>
                <a:ea typeface="Poppins Bold Italics"/>
                <a:cs typeface="Poppins Bold Italics"/>
                <a:sym typeface="Poppins Bold Italics"/>
              </a:rPr>
              <a:t>NATURE OF POWER OF ATTORNEY </a:t>
            </a:r>
          </a:p>
        </p:txBody>
      </p:sp>
      <p:sp>
        <p:nvSpPr>
          <p:cNvPr id="7" name="TextBox 7"/>
          <p:cNvSpPr txBox="1"/>
          <p:nvPr/>
        </p:nvSpPr>
        <p:spPr>
          <a:xfrm>
            <a:off x="14292027" y="9413945"/>
            <a:ext cx="3995973" cy="973222"/>
          </a:xfrm>
          <a:prstGeom prst="rect">
            <a:avLst/>
          </a:prstGeom>
        </p:spPr>
        <p:txBody>
          <a:bodyPr lIns="0" tIns="0" rIns="0" bIns="0" rtlCol="0" anchor="t">
            <a:spAutoFit/>
          </a:bodyPr>
          <a:lstStyle/>
          <a:p>
            <a:pPr algn="ctr">
              <a:lnSpc>
                <a:spcPts val="3955"/>
              </a:lnSpc>
            </a:pPr>
            <a:r>
              <a:rPr lang="en-US" sz="2825" b="1">
                <a:solidFill>
                  <a:srgbClr val="000000"/>
                </a:solidFill>
                <a:latin typeface="Canva Sans Bold"/>
                <a:ea typeface="Canva Sans Bold"/>
                <a:cs typeface="Canva Sans Bold"/>
                <a:sym typeface="Canva Sans Bold"/>
              </a:rPr>
              <a:t>© Pereira &amp; Associates </a:t>
            </a:r>
          </a:p>
          <a:p>
            <a:pPr algn="ctr">
              <a:lnSpc>
                <a:spcPts val="3955"/>
              </a:lnSpc>
            </a:pPr>
            <a:endParaRPr lang="en-US" sz="2825" b="1">
              <a:solidFill>
                <a:srgbClr val="000000"/>
              </a:solidFill>
              <a:latin typeface="Canva Sans Bold"/>
              <a:ea typeface="Canva Sans Bold"/>
              <a:cs typeface="Canva Sans Bold"/>
              <a:sym typeface="Canva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119610" y="22968"/>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6289874" flipH="1">
            <a:off x="-1179412" y="-1021525"/>
            <a:ext cx="6029659" cy="6306682"/>
          </a:xfrm>
          <a:custGeom>
            <a:avLst/>
            <a:gdLst/>
            <a:ahLst/>
            <a:cxnLst/>
            <a:rect l="l" t="t" r="r" b="b"/>
            <a:pathLst>
              <a:path w="6029659" h="6306682">
                <a:moveTo>
                  <a:pt x="6029659" y="0"/>
                </a:moveTo>
                <a:lnTo>
                  <a:pt x="0" y="0"/>
                </a:lnTo>
                <a:lnTo>
                  <a:pt x="0" y="6306682"/>
                </a:lnTo>
                <a:lnTo>
                  <a:pt x="6029659" y="6306682"/>
                </a:lnTo>
                <a:lnTo>
                  <a:pt x="6029659"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28518" y="6533409"/>
            <a:ext cx="5431872" cy="4511946"/>
          </a:xfrm>
          <a:custGeom>
            <a:avLst/>
            <a:gdLst/>
            <a:ahLst/>
            <a:cxnLst/>
            <a:rect l="l" t="t" r="r" b="b"/>
            <a:pathLst>
              <a:path w="5431872" h="4511946">
                <a:moveTo>
                  <a:pt x="0" y="0"/>
                </a:moveTo>
                <a:lnTo>
                  <a:pt x="5431873" y="0"/>
                </a:lnTo>
                <a:lnTo>
                  <a:pt x="5431873" y="4511946"/>
                </a:lnTo>
                <a:lnTo>
                  <a:pt x="0" y="4511946"/>
                </a:lnTo>
                <a:lnTo>
                  <a:pt x="0" y="0"/>
                </a:lnTo>
                <a:close/>
              </a:path>
            </a:pathLst>
          </a:custGeom>
          <a:blipFill>
            <a:blip r:embed="rId5"/>
            <a:stretch>
              <a:fillRect r="-158565"/>
            </a:stretch>
          </a:blipFill>
        </p:spPr>
        <p:txBody>
          <a:bodyPr/>
          <a:lstStyle/>
          <a:p>
            <a:endParaRPr lang="en-IN"/>
          </a:p>
        </p:txBody>
      </p:sp>
      <p:sp>
        <p:nvSpPr>
          <p:cNvPr id="6" name="Freeform 6"/>
          <p:cNvSpPr/>
          <p:nvPr/>
        </p:nvSpPr>
        <p:spPr>
          <a:xfrm>
            <a:off x="9683266" y="6533409"/>
            <a:ext cx="8733252" cy="4511946"/>
          </a:xfrm>
          <a:custGeom>
            <a:avLst/>
            <a:gdLst/>
            <a:ahLst/>
            <a:cxnLst/>
            <a:rect l="l" t="t" r="r" b="b"/>
            <a:pathLst>
              <a:path w="8733252" h="4511946">
                <a:moveTo>
                  <a:pt x="0" y="0"/>
                </a:moveTo>
                <a:lnTo>
                  <a:pt x="8733252" y="0"/>
                </a:lnTo>
                <a:lnTo>
                  <a:pt x="8733252" y="4511946"/>
                </a:lnTo>
                <a:lnTo>
                  <a:pt x="0" y="4511946"/>
                </a:lnTo>
                <a:lnTo>
                  <a:pt x="0" y="0"/>
                </a:lnTo>
                <a:close/>
              </a:path>
            </a:pathLst>
          </a:custGeom>
          <a:blipFill>
            <a:blip r:embed="rId5"/>
            <a:stretch>
              <a:fillRect l="-60821"/>
            </a:stretch>
          </a:blipFill>
        </p:spPr>
        <p:txBody>
          <a:bodyPr/>
          <a:lstStyle/>
          <a:p>
            <a:endParaRPr lang="en-IN"/>
          </a:p>
        </p:txBody>
      </p:sp>
      <p:sp>
        <p:nvSpPr>
          <p:cNvPr id="7" name="Freeform 7"/>
          <p:cNvSpPr/>
          <p:nvPr/>
        </p:nvSpPr>
        <p:spPr>
          <a:xfrm>
            <a:off x="14176250" y="1851328"/>
            <a:ext cx="2231377" cy="2315580"/>
          </a:xfrm>
          <a:custGeom>
            <a:avLst/>
            <a:gdLst/>
            <a:ahLst/>
            <a:cxnLst/>
            <a:rect l="l" t="t" r="r" b="b"/>
            <a:pathLst>
              <a:path w="2231377" h="2315580">
                <a:moveTo>
                  <a:pt x="0" y="0"/>
                </a:moveTo>
                <a:lnTo>
                  <a:pt x="2231378" y="0"/>
                </a:lnTo>
                <a:lnTo>
                  <a:pt x="2231378" y="2315581"/>
                </a:lnTo>
                <a:lnTo>
                  <a:pt x="0" y="2315581"/>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Freeform 8"/>
          <p:cNvSpPr/>
          <p:nvPr/>
        </p:nvSpPr>
        <p:spPr>
          <a:xfrm rot="132161">
            <a:off x="15401756" y="2181048"/>
            <a:ext cx="2984038" cy="1656141"/>
          </a:xfrm>
          <a:custGeom>
            <a:avLst/>
            <a:gdLst/>
            <a:ahLst/>
            <a:cxnLst/>
            <a:rect l="l" t="t" r="r" b="b"/>
            <a:pathLst>
              <a:path w="2984038" h="1656141">
                <a:moveTo>
                  <a:pt x="0" y="0"/>
                </a:moveTo>
                <a:lnTo>
                  <a:pt x="2984037" y="0"/>
                </a:lnTo>
                <a:lnTo>
                  <a:pt x="2984037" y="1656141"/>
                </a:lnTo>
                <a:lnTo>
                  <a:pt x="0" y="1656141"/>
                </a:lnTo>
                <a:lnTo>
                  <a:pt x="0" y="0"/>
                </a:lnTo>
                <a:close/>
              </a:path>
            </a:pathLst>
          </a:custGeom>
          <a:blipFill>
            <a:blip r:embed="rId8"/>
            <a:stretch>
              <a:fillRect/>
            </a:stretch>
          </a:blipFill>
        </p:spPr>
        <p:txBody>
          <a:bodyPr/>
          <a:lstStyle/>
          <a:p>
            <a:endParaRPr lang="en-IN"/>
          </a:p>
        </p:txBody>
      </p:sp>
      <p:sp>
        <p:nvSpPr>
          <p:cNvPr id="9" name="TextBox 9"/>
          <p:cNvSpPr txBox="1"/>
          <p:nvPr/>
        </p:nvSpPr>
        <p:spPr>
          <a:xfrm>
            <a:off x="0" y="1143000"/>
            <a:ext cx="18545035" cy="903617"/>
          </a:xfrm>
          <a:prstGeom prst="rect">
            <a:avLst/>
          </a:prstGeom>
        </p:spPr>
        <p:txBody>
          <a:bodyPr lIns="0" tIns="0" rIns="0" bIns="0" rtlCol="0" anchor="t">
            <a:spAutoFit/>
          </a:bodyPr>
          <a:lstStyle/>
          <a:p>
            <a:pPr algn="l">
              <a:lnSpc>
                <a:spcPts val="6700"/>
              </a:lnSpc>
            </a:pPr>
            <a:r>
              <a:rPr lang="en-US" sz="6700" b="1">
                <a:solidFill>
                  <a:srgbClr val="000000"/>
                </a:solidFill>
                <a:latin typeface="Montserrat Ultra-Bold"/>
                <a:ea typeface="Montserrat Ultra-Bold"/>
                <a:cs typeface="Montserrat Ultra-Bold"/>
                <a:sym typeface="Montserrat Ultra-Bold"/>
              </a:rPr>
              <a:t>LEGAL TERMINOLOGY RELATED TO POA </a:t>
            </a:r>
          </a:p>
        </p:txBody>
      </p:sp>
      <p:sp>
        <p:nvSpPr>
          <p:cNvPr id="10" name="TextBox 10"/>
          <p:cNvSpPr txBox="1"/>
          <p:nvPr/>
        </p:nvSpPr>
        <p:spPr>
          <a:xfrm>
            <a:off x="329713" y="2614334"/>
            <a:ext cx="3968317" cy="1057275"/>
          </a:xfrm>
          <a:prstGeom prst="rect">
            <a:avLst/>
          </a:prstGeom>
        </p:spPr>
        <p:txBody>
          <a:bodyPr lIns="0" tIns="0" rIns="0" bIns="0" rtlCol="0" anchor="t">
            <a:spAutoFit/>
          </a:bodyPr>
          <a:lstStyle/>
          <a:p>
            <a:pPr algn="l">
              <a:lnSpc>
                <a:spcPts val="4200"/>
              </a:lnSpc>
            </a:pPr>
            <a:r>
              <a:rPr lang="en-US" sz="3000" b="1">
                <a:solidFill>
                  <a:srgbClr val="1800AD"/>
                </a:solidFill>
                <a:latin typeface="Raleway Bold"/>
                <a:ea typeface="Raleway Bold"/>
                <a:cs typeface="Raleway Bold"/>
                <a:sym typeface="Raleway Bold"/>
              </a:rPr>
              <a:t>PRINCIPAL</a:t>
            </a:r>
          </a:p>
          <a:p>
            <a:pPr algn="l">
              <a:lnSpc>
                <a:spcPts val="4200"/>
              </a:lnSpc>
            </a:pPr>
            <a:endParaRPr lang="en-US" sz="3000" b="1">
              <a:solidFill>
                <a:srgbClr val="1800AD"/>
              </a:solidFill>
              <a:latin typeface="Raleway Bold"/>
              <a:ea typeface="Raleway Bold"/>
              <a:cs typeface="Raleway Bold"/>
              <a:sym typeface="Raleway Bold"/>
            </a:endParaRPr>
          </a:p>
        </p:txBody>
      </p:sp>
      <p:sp>
        <p:nvSpPr>
          <p:cNvPr id="11" name="TextBox 11"/>
          <p:cNvSpPr txBox="1"/>
          <p:nvPr/>
        </p:nvSpPr>
        <p:spPr>
          <a:xfrm>
            <a:off x="-257035" y="3432288"/>
            <a:ext cx="18545035" cy="3248660"/>
          </a:xfrm>
          <a:prstGeom prst="rect">
            <a:avLst/>
          </a:prstGeom>
        </p:spPr>
        <p:txBody>
          <a:bodyPr lIns="0" tIns="0" rIns="0" bIns="0" rtlCol="0" anchor="t">
            <a:spAutoFit/>
          </a:bodyPr>
          <a:lstStyle/>
          <a:p>
            <a:pPr marL="582927" lvl="1" indent="-291463" algn="l">
              <a:lnSpc>
                <a:spcPts val="3779"/>
              </a:lnSpc>
              <a:buFont typeface="Arial"/>
              <a:buChar char="•"/>
            </a:pPr>
            <a:r>
              <a:rPr lang="en-US" sz="2699" b="1">
                <a:solidFill>
                  <a:srgbClr val="000000"/>
                </a:solidFill>
                <a:latin typeface="Raleway Bold"/>
                <a:ea typeface="Raleway Bold"/>
                <a:cs typeface="Raleway Bold"/>
                <a:sym typeface="Raleway Bold"/>
              </a:rPr>
              <a:t>The person who grants the authority to another to act on their behalf.</a:t>
            </a:r>
          </a:p>
          <a:p>
            <a:pPr marL="582927" lvl="1" indent="-291463" algn="l">
              <a:lnSpc>
                <a:spcPts val="3779"/>
              </a:lnSpc>
              <a:buFont typeface="Arial"/>
              <a:buChar char="•"/>
            </a:pPr>
            <a:r>
              <a:rPr lang="en-US" sz="2699" b="1">
                <a:solidFill>
                  <a:srgbClr val="000000"/>
                </a:solidFill>
                <a:latin typeface="Raleway Bold"/>
                <a:ea typeface="Raleway Bold"/>
                <a:cs typeface="Raleway Bold"/>
                <a:sym typeface="Raleway Bold"/>
              </a:rPr>
              <a:t>Any person competent to contract can give power of attorney and appoint an agent.</a:t>
            </a:r>
          </a:p>
          <a:p>
            <a:pPr marL="582927" lvl="1" indent="-291463" algn="l">
              <a:lnSpc>
                <a:spcPts val="3779"/>
              </a:lnSpc>
              <a:buFont typeface="Arial"/>
              <a:buChar char="•"/>
            </a:pPr>
            <a:r>
              <a:rPr lang="en-US" sz="2699" b="1">
                <a:solidFill>
                  <a:srgbClr val="000000"/>
                </a:solidFill>
                <a:latin typeface="Raleway Bold"/>
                <a:ea typeface="Raleway Bold"/>
                <a:cs typeface="Raleway Bold"/>
                <a:sym typeface="Raleway Bold"/>
              </a:rPr>
              <a:t> Thus it can be said that any person above the age of 18 and of sound mind can act as a Principal and make a power of attorney. </a:t>
            </a:r>
          </a:p>
          <a:p>
            <a:pPr marL="582927" lvl="1" indent="-291463" algn="l">
              <a:lnSpc>
                <a:spcPts val="3779"/>
              </a:lnSpc>
              <a:buFont typeface="Arial"/>
              <a:buChar char="•"/>
            </a:pPr>
            <a:r>
              <a:rPr lang="en-US" sz="2699" b="1">
                <a:solidFill>
                  <a:srgbClr val="000000"/>
                </a:solidFill>
                <a:latin typeface="Raleway Bold"/>
                <a:ea typeface="Raleway Bold"/>
                <a:cs typeface="Raleway Bold"/>
                <a:sym typeface="Raleway Bold"/>
              </a:rPr>
              <a:t>Grantor" and "Principal" are frequently used interchangeably.</a:t>
            </a:r>
          </a:p>
          <a:p>
            <a:pPr algn="l">
              <a:lnSpc>
                <a:spcPts val="3499"/>
              </a:lnSpc>
            </a:pPr>
            <a:endParaRPr lang="en-US" sz="2699" b="1">
              <a:solidFill>
                <a:srgbClr val="000000"/>
              </a:solidFill>
              <a:latin typeface="Raleway Bold"/>
              <a:ea typeface="Raleway Bold"/>
              <a:cs typeface="Raleway Bold"/>
              <a:sym typeface="Raleway Bold"/>
            </a:endParaRPr>
          </a:p>
          <a:p>
            <a:pPr algn="l">
              <a:lnSpc>
                <a:spcPts val="3499"/>
              </a:lnSpc>
            </a:pPr>
            <a:endParaRPr lang="en-US" sz="2699" b="1">
              <a:solidFill>
                <a:srgbClr val="000000"/>
              </a:solidFill>
              <a:latin typeface="Raleway Bold"/>
              <a:ea typeface="Raleway Bold"/>
              <a:cs typeface="Raleway Bold"/>
              <a:sym typeface="Raleway Bold"/>
            </a:endParaRPr>
          </a:p>
        </p:txBody>
      </p:sp>
      <p:sp>
        <p:nvSpPr>
          <p:cNvPr id="12" name="TextBox 12"/>
          <p:cNvSpPr txBox="1"/>
          <p:nvPr/>
        </p:nvSpPr>
        <p:spPr>
          <a:xfrm>
            <a:off x="4298030" y="6118973"/>
            <a:ext cx="5931732" cy="1057275"/>
          </a:xfrm>
          <a:prstGeom prst="rect">
            <a:avLst/>
          </a:prstGeom>
        </p:spPr>
        <p:txBody>
          <a:bodyPr lIns="0" tIns="0" rIns="0" bIns="0" rtlCol="0" anchor="t">
            <a:spAutoFit/>
          </a:bodyPr>
          <a:lstStyle/>
          <a:p>
            <a:pPr algn="l">
              <a:lnSpc>
                <a:spcPts val="4200"/>
              </a:lnSpc>
            </a:pPr>
            <a:r>
              <a:rPr lang="en-US" sz="3000" b="1">
                <a:solidFill>
                  <a:srgbClr val="1800AD"/>
                </a:solidFill>
                <a:latin typeface="Raleway Bold"/>
                <a:ea typeface="Raleway Bold"/>
                <a:cs typeface="Raleway Bold"/>
                <a:sym typeface="Raleway Bold"/>
              </a:rPr>
              <a:t>AGENT / ATTORNEY-IN-FACT</a:t>
            </a:r>
          </a:p>
          <a:p>
            <a:pPr algn="l">
              <a:lnSpc>
                <a:spcPts val="4200"/>
              </a:lnSpc>
            </a:pPr>
            <a:endParaRPr lang="en-US" sz="3000" b="1">
              <a:solidFill>
                <a:srgbClr val="1800AD"/>
              </a:solidFill>
              <a:latin typeface="Raleway Bold"/>
              <a:ea typeface="Raleway Bold"/>
              <a:cs typeface="Raleway Bold"/>
              <a:sym typeface="Raleway Bold"/>
            </a:endParaRPr>
          </a:p>
        </p:txBody>
      </p:sp>
      <p:sp>
        <p:nvSpPr>
          <p:cNvPr id="13" name="TextBox 13"/>
          <p:cNvSpPr txBox="1"/>
          <p:nvPr/>
        </p:nvSpPr>
        <p:spPr>
          <a:xfrm>
            <a:off x="1072010" y="6623798"/>
            <a:ext cx="17344508" cy="2716530"/>
          </a:xfrm>
          <a:prstGeom prst="rect">
            <a:avLst/>
          </a:prstGeom>
        </p:spPr>
        <p:txBody>
          <a:bodyPr lIns="0" tIns="0" rIns="0" bIns="0" rtlCol="0" anchor="t">
            <a:spAutoFit/>
          </a:bodyPr>
          <a:lstStyle/>
          <a:p>
            <a:pPr marL="561337" lvl="1" indent="-280669" algn="l">
              <a:lnSpc>
                <a:spcPts val="3639"/>
              </a:lnSpc>
              <a:buFont typeface="Arial"/>
              <a:buChar char="•"/>
            </a:pPr>
            <a:r>
              <a:rPr lang="en-US" sz="2599" b="1">
                <a:solidFill>
                  <a:srgbClr val="000000"/>
                </a:solidFill>
                <a:latin typeface="Raleway Bold"/>
                <a:ea typeface="Raleway Bold"/>
                <a:cs typeface="Raleway Bold"/>
                <a:sym typeface="Raleway Bold"/>
              </a:rPr>
              <a:t>The individual given the authority to act on behalf of the principal.</a:t>
            </a:r>
          </a:p>
          <a:p>
            <a:pPr marL="561337" lvl="1" indent="-280669" algn="l">
              <a:lnSpc>
                <a:spcPts val="3639"/>
              </a:lnSpc>
              <a:buFont typeface="Arial"/>
              <a:buChar char="•"/>
            </a:pPr>
            <a:r>
              <a:rPr lang="en-US" sz="2599" b="1">
                <a:solidFill>
                  <a:srgbClr val="000000"/>
                </a:solidFill>
                <a:latin typeface="Raleway Bold"/>
                <a:ea typeface="Raleway Bold"/>
                <a:cs typeface="Raleway Bold"/>
                <a:sym typeface="Raleway Bold"/>
              </a:rPr>
              <a:t>As per section 184 of the Indian Contract Act, 1872, any person may become an agent, but no person who is not of the age of majority and of sound mind can become an agent, so as to be responsible to his principle according to the provisions in the Indian Contract Act. </a:t>
            </a:r>
          </a:p>
          <a:p>
            <a:pPr marL="561337" lvl="1" indent="-280669" algn="l">
              <a:lnSpc>
                <a:spcPts val="3639"/>
              </a:lnSpc>
              <a:buFont typeface="Arial"/>
              <a:buChar char="•"/>
            </a:pPr>
            <a:r>
              <a:rPr lang="en-US" sz="2599" b="1">
                <a:solidFill>
                  <a:srgbClr val="000000"/>
                </a:solidFill>
                <a:latin typeface="Raleway Bold"/>
                <a:ea typeface="Raleway Bold"/>
                <a:cs typeface="Raleway Bold"/>
                <a:sym typeface="Raleway Bold"/>
              </a:rPr>
              <a:t>Therefore it is evident that the conditions to become a Principal and Agent are the same.</a:t>
            </a:r>
          </a:p>
          <a:p>
            <a:pPr algn="l">
              <a:lnSpc>
                <a:spcPts val="3499"/>
              </a:lnSpc>
            </a:pPr>
            <a:endParaRPr lang="en-US" sz="2599" b="1">
              <a:solidFill>
                <a:srgbClr val="000000"/>
              </a:solidFill>
              <a:latin typeface="Raleway Bold"/>
              <a:ea typeface="Raleway Bold"/>
              <a:cs typeface="Raleway Bold"/>
              <a:sym typeface="Raleway Bold"/>
            </a:endParaRPr>
          </a:p>
        </p:txBody>
      </p:sp>
      <p:sp>
        <p:nvSpPr>
          <p:cNvPr id="14" name="TextBox 14"/>
          <p:cNvSpPr txBox="1"/>
          <p:nvPr/>
        </p:nvSpPr>
        <p:spPr>
          <a:xfrm>
            <a:off x="14383403" y="9538888"/>
            <a:ext cx="3904597" cy="948469"/>
          </a:xfrm>
          <a:prstGeom prst="rect">
            <a:avLst/>
          </a:prstGeom>
        </p:spPr>
        <p:txBody>
          <a:bodyPr lIns="0" tIns="0" rIns="0" bIns="0" rtlCol="0" anchor="t">
            <a:spAutoFit/>
          </a:bodyPr>
          <a:lstStyle/>
          <a:p>
            <a:pPr algn="ctr">
              <a:lnSpc>
                <a:spcPts val="3897"/>
              </a:lnSpc>
            </a:pPr>
            <a:r>
              <a:rPr lang="en-US" sz="2783" b="1">
                <a:solidFill>
                  <a:srgbClr val="000000"/>
                </a:solidFill>
                <a:latin typeface="Canva Sans Bold"/>
                <a:ea typeface="Canva Sans Bold"/>
                <a:cs typeface="Canva Sans Bold"/>
                <a:sym typeface="Canva Sans Bold"/>
              </a:rPr>
              <a:t>© Pereira &amp; Associates </a:t>
            </a:r>
          </a:p>
          <a:p>
            <a:pPr algn="ctr">
              <a:lnSpc>
                <a:spcPts val="3897"/>
              </a:lnSpc>
            </a:pPr>
            <a:endParaRPr lang="en-US" sz="2783" b="1">
              <a:solidFill>
                <a:srgbClr val="000000"/>
              </a:solidFill>
              <a:latin typeface="Canva Sans Bold"/>
              <a:ea typeface="Canva Sans Bold"/>
              <a:cs typeface="Canva Sans Bold"/>
              <a:sym typeface="Canva Sa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7000598" y="1940045"/>
            <a:ext cx="4286805" cy="6406910"/>
          </a:xfrm>
          <a:custGeom>
            <a:avLst/>
            <a:gdLst/>
            <a:ahLst/>
            <a:cxnLst/>
            <a:rect l="l" t="t" r="r" b="b"/>
            <a:pathLst>
              <a:path w="4286805" h="6406910">
                <a:moveTo>
                  <a:pt x="0" y="0"/>
                </a:moveTo>
                <a:lnTo>
                  <a:pt x="4286804" y="0"/>
                </a:lnTo>
                <a:lnTo>
                  <a:pt x="4286804" y="6406910"/>
                </a:lnTo>
                <a:lnTo>
                  <a:pt x="0" y="6406910"/>
                </a:lnTo>
                <a:lnTo>
                  <a:pt x="0" y="0"/>
                </a:lnTo>
                <a:close/>
              </a:path>
            </a:pathLst>
          </a:custGeom>
          <a:blipFill>
            <a:blip r:embed="rId5">
              <a:alphaModFix amt="5000"/>
              <a:extLst>
                <a:ext uri="{96DAC541-7B7A-43D3-8B79-37D633B846F1}">
                  <asvg:svgBlip xmlns:asvg="http://schemas.microsoft.com/office/drawing/2016/SVG/main" r:embed="rId6"/>
                </a:ext>
              </a:extLst>
            </a:blip>
            <a:stretch>
              <a:fillRect/>
            </a:stretch>
          </a:blipFill>
        </p:spPr>
        <p:txBody>
          <a:bodyPr/>
          <a:lstStyle/>
          <a:p>
            <a:endParaRPr lang="en-IN"/>
          </a:p>
        </p:txBody>
      </p:sp>
      <p:sp>
        <p:nvSpPr>
          <p:cNvPr id="6" name="Freeform 6"/>
          <p:cNvSpPr/>
          <p:nvPr/>
        </p:nvSpPr>
        <p:spPr>
          <a:xfrm rot="709545">
            <a:off x="13678347" y="458498"/>
            <a:ext cx="4403155" cy="2471271"/>
          </a:xfrm>
          <a:custGeom>
            <a:avLst/>
            <a:gdLst/>
            <a:ahLst/>
            <a:cxnLst/>
            <a:rect l="l" t="t" r="r" b="b"/>
            <a:pathLst>
              <a:path w="4403155" h="2471271">
                <a:moveTo>
                  <a:pt x="0" y="0"/>
                </a:moveTo>
                <a:lnTo>
                  <a:pt x="4403154" y="0"/>
                </a:lnTo>
                <a:lnTo>
                  <a:pt x="4403154" y="2471270"/>
                </a:lnTo>
                <a:lnTo>
                  <a:pt x="0" y="2471270"/>
                </a:lnTo>
                <a:lnTo>
                  <a:pt x="0" y="0"/>
                </a:lnTo>
                <a:close/>
              </a:path>
            </a:pathLst>
          </a:custGeom>
          <a:blipFill>
            <a:blip r:embed="rId7"/>
            <a:stretch>
              <a:fillRect/>
            </a:stretch>
          </a:blipFill>
        </p:spPr>
        <p:txBody>
          <a:bodyPr/>
          <a:lstStyle/>
          <a:p>
            <a:endParaRPr lang="en-IN"/>
          </a:p>
        </p:txBody>
      </p:sp>
      <p:sp>
        <p:nvSpPr>
          <p:cNvPr id="7" name="Freeform 7"/>
          <p:cNvSpPr/>
          <p:nvPr/>
        </p:nvSpPr>
        <p:spPr>
          <a:xfrm rot="-478773">
            <a:off x="165262" y="581060"/>
            <a:ext cx="4831947" cy="2717970"/>
          </a:xfrm>
          <a:custGeom>
            <a:avLst/>
            <a:gdLst/>
            <a:ahLst/>
            <a:cxnLst/>
            <a:rect l="l" t="t" r="r" b="b"/>
            <a:pathLst>
              <a:path w="4831947" h="2717970">
                <a:moveTo>
                  <a:pt x="0" y="0"/>
                </a:moveTo>
                <a:lnTo>
                  <a:pt x="4831947" y="0"/>
                </a:lnTo>
                <a:lnTo>
                  <a:pt x="4831947" y="2717970"/>
                </a:lnTo>
                <a:lnTo>
                  <a:pt x="0" y="2717970"/>
                </a:lnTo>
                <a:lnTo>
                  <a:pt x="0" y="0"/>
                </a:lnTo>
                <a:close/>
              </a:path>
            </a:pathLst>
          </a:custGeom>
          <a:blipFill>
            <a:blip r:embed="rId8"/>
            <a:stretch>
              <a:fillRect/>
            </a:stretch>
          </a:blipFill>
        </p:spPr>
        <p:txBody>
          <a:bodyPr/>
          <a:lstStyle/>
          <a:p>
            <a:endParaRPr lang="en-IN"/>
          </a:p>
        </p:txBody>
      </p:sp>
      <p:sp>
        <p:nvSpPr>
          <p:cNvPr id="8" name="TextBox 8"/>
          <p:cNvSpPr txBox="1"/>
          <p:nvPr/>
        </p:nvSpPr>
        <p:spPr>
          <a:xfrm>
            <a:off x="5552073" y="1128406"/>
            <a:ext cx="7597954" cy="2376806"/>
          </a:xfrm>
          <a:prstGeom prst="rect">
            <a:avLst/>
          </a:prstGeom>
        </p:spPr>
        <p:txBody>
          <a:bodyPr lIns="0" tIns="0" rIns="0" bIns="0" rtlCol="0" anchor="t">
            <a:spAutoFit/>
          </a:bodyPr>
          <a:lstStyle/>
          <a:p>
            <a:pPr algn="l">
              <a:lnSpc>
                <a:spcPts val="9200"/>
              </a:lnSpc>
            </a:pPr>
            <a:r>
              <a:rPr lang="en-US" sz="9200" b="1">
                <a:solidFill>
                  <a:srgbClr val="000000"/>
                </a:solidFill>
                <a:latin typeface="Montserrat Ultra-Bold"/>
                <a:ea typeface="Montserrat Ultra-Bold"/>
                <a:cs typeface="Montserrat Ultra-Bold"/>
                <a:sym typeface="Montserrat Ultra-Bold"/>
              </a:rPr>
              <a:t>PURPOSE AND USE </a:t>
            </a:r>
          </a:p>
        </p:txBody>
      </p:sp>
      <p:sp>
        <p:nvSpPr>
          <p:cNvPr id="9" name="TextBox 9"/>
          <p:cNvSpPr txBox="1"/>
          <p:nvPr/>
        </p:nvSpPr>
        <p:spPr>
          <a:xfrm>
            <a:off x="363254" y="4992343"/>
            <a:ext cx="6637344" cy="2846070"/>
          </a:xfrm>
          <a:prstGeom prst="rect">
            <a:avLst/>
          </a:prstGeom>
        </p:spPr>
        <p:txBody>
          <a:bodyPr lIns="0" tIns="0" rIns="0" bIns="0" rtlCol="0" anchor="t">
            <a:spAutoFit/>
          </a:bodyPr>
          <a:lstStyle/>
          <a:p>
            <a:pPr marL="582927" lvl="1" indent="-291463" algn="l">
              <a:lnSpc>
                <a:spcPts val="3779"/>
              </a:lnSpc>
              <a:buAutoNum type="arabicPeriod"/>
            </a:pPr>
            <a:r>
              <a:rPr lang="en-US" sz="2699" b="1">
                <a:solidFill>
                  <a:srgbClr val="000000"/>
                </a:solidFill>
                <a:latin typeface="Raleway Bold"/>
                <a:ea typeface="Raleway Bold"/>
                <a:cs typeface="Raleway Bold"/>
                <a:sym typeface="Raleway Bold"/>
              </a:rPr>
              <a:t> Most of the time, this power is given in connection to property matters. However, the person might be entrusted to perform certain other responsibilities too. </a:t>
            </a:r>
          </a:p>
          <a:p>
            <a:pPr algn="l">
              <a:lnSpc>
                <a:spcPts val="3779"/>
              </a:lnSpc>
            </a:pPr>
            <a:endParaRPr lang="en-US" sz="2699" b="1">
              <a:solidFill>
                <a:srgbClr val="000000"/>
              </a:solidFill>
              <a:latin typeface="Raleway Bold"/>
              <a:ea typeface="Raleway Bold"/>
              <a:cs typeface="Raleway Bold"/>
              <a:sym typeface="Raleway Bold"/>
            </a:endParaRPr>
          </a:p>
        </p:txBody>
      </p:sp>
      <p:sp>
        <p:nvSpPr>
          <p:cNvPr id="10" name="TextBox 10"/>
          <p:cNvSpPr txBox="1"/>
          <p:nvPr/>
        </p:nvSpPr>
        <p:spPr>
          <a:xfrm>
            <a:off x="3681926" y="7557743"/>
            <a:ext cx="5195361" cy="1417320"/>
          </a:xfrm>
          <a:prstGeom prst="rect">
            <a:avLst/>
          </a:prstGeom>
        </p:spPr>
        <p:txBody>
          <a:bodyPr lIns="0" tIns="0" rIns="0" bIns="0" rtlCol="0" anchor="t">
            <a:spAutoFit/>
          </a:bodyPr>
          <a:lstStyle/>
          <a:p>
            <a:pPr marL="582927" lvl="1" indent="-291463" algn="l">
              <a:lnSpc>
                <a:spcPts val="3779"/>
              </a:lnSpc>
              <a:buAutoNum type="arabicPeriod"/>
            </a:pPr>
            <a:r>
              <a:rPr lang="en-US" sz="2699" b="1">
                <a:solidFill>
                  <a:srgbClr val="000000"/>
                </a:solidFill>
                <a:latin typeface="Raleway Bold"/>
                <a:ea typeface="Raleway Bold"/>
                <a:cs typeface="Raleway Bold"/>
                <a:sym typeface="Raleway Bold"/>
              </a:rPr>
              <a:t> It is an authority given by a person/grantor/principal to an agent or agents.</a:t>
            </a:r>
          </a:p>
        </p:txBody>
      </p:sp>
      <p:sp>
        <p:nvSpPr>
          <p:cNvPr id="11" name="TextBox 11"/>
          <p:cNvSpPr txBox="1"/>
          <p:nvPr/>
        </p:nvSpPr>
        <p:spPr>
          <a:xfrm>
            <a:off x="9855188" y="7058660"/>
            <a:ext cx="7233320" cy="2846070"/>
          </a:xfrm>
          <a:prstGeom prst="rect">
            <a:avLst/>
          </a:prstGeom>
        </p:spPr>
        <p:txBody>
          <a:bodyPr lIns="0" tIns="0" rIns="0" bIns="0" rtlCol="0" anchor="t">
            <a:spAutoFit/>
          </a:bodyPr>
          <a:lstStyle/>
          <a:p>
            <a:pPr marL="582927" lvl="1" indent="-291463" algn="l">
              <a:lnSpc>
                <a:spcPts val="3779"/>
              </a:lnSpc>
              <a:buAutoNum type="arabicPeriod"/>
            </a:pPr>
            <a:r>
              <a:rPr lang="en-US" sz="2699" b="1">
                <a:solidFill>
                  <a:srgbClr val="000000"/>
                </a:solidFill>
                <a:latin typeface="Raleway Bold"/>
                <a:ea typeface="Raleway Bold"/>
                <a:cs typeface="Raleway Bold"/>
                <a:sym typeface="Raleway Bold"/>
              </a:rPr>
              <a:t>  This instrument allows a person to appoint another person or organization to manage his/her property, medical affairs, and finances on his behalf in his absence. </a:t>
            </a:r>
          </a:p>
          <a:p>
            <a:pPr algn="l">
              <a:lnSpc>
                <a:spcPts val="3779"/>
              </a:lnSpc>
            </a:pPr>
            <a:endParaRPr lang="en-US" sz="2699" b="1">
              <a:solidFill>
                <a:srgbClr val="000000"/>
              </a:solidFill>
              <a:latin typeface="Raleway Bold"/>
              <a:ea typeface="Raleway Bold"/>
              <a:cs typeface="Raleway Bold"/>
              <a:sym typeface="Raleway Bold"/>
            </a:endParaRPr>
          </a:p>
        </p:txBody>
      </p:sp>
      <p:sp>
        <p:nvSpPr>
          <p:cNvPr id="12" name="TextBox 12"/>
          <p:cNvSpPr txBox="1"/>
          <p:nvPr/>
        </p:nvSpPr>
        <p:spPr>
          <a:xfrm>
            <a:off x="11059273" y="4366868"/>
            <a:ext cx="5518265" cy="1417320"/>
          </a:xfrm>
          <a:prstGeom prst="rect">
            <a:avLst/>
          </a:prstGeom>
        </p:spPr>
        <p:txBody>
          <a:bodyPr lIns="0" tIns="0" rIns="0" bIns="0" rtlCol="0" anchor="t">
            <a:spAutoFit/>
          </a:bodyPr>
          <a:lstStyle/>
          <a:p>
            <a:pPr marL="582927" lvl="1" indent="-291463" algn="l">
              <a:lnSpc>
                <a:spcPts val="3779"/>
              </a:lnSpc>
              <a:buAutoNum type="arabicPeriod"/>
            </a:pPr>
            <a:r>
              <a:rPr lang="en-US" sz="2699" b="1">
                <a:solidFill>
                  <a:srgbClr val="000000"/>
                </a:solidFill>
                <a:latin typeface="Raleway Bold"/>
                <a:ea typeface="Raleway Bold"/>
                <a:cs typeface="Raleway Bold"/>
                <a:sym typeface="Raleway Bold"/>
              </a:rPr>
              <a:t> A POA holder is an agent as to Section 182 of the Indian Contract Act, 1872</a:t>
            </a:r>
          </a:p>
        </p:txBody>
      </p:sp>
      <p:sp>
        <p:nvSpPr>
          <p:cNvPr id="13" name="TextBox 13"/>
          <p:cNvSpPr txBox="1"/>
          <p:nvPr/>
        </p:nvSpPr>
        <p:spPr>
          <a:xfrm>
            <a:off x="14329375" y="9574142"/>
            <a:ext cx="3958625" cy="966541"/>
          </a:xfrm>
          <a:prstGeom prst="rect">
            <a:avLst/>
          </a:prstGeom>
        </p:spPr>
        <p:txBody>
          <a:bodyPr lIns="0" tIns="0" rIns="0" bIns="0" rtlCol="0" anchor="t">
            <a:spAutoFit/>
          </a:bodyPr>
          <a:lstStyle/>
          <a:p>
            <a:pPr algn="ctr">
              <a:lnSpc>
                <a:spcPts val="3951"/>
              </a:lnSpc>
            </a:pPr>
            <a:r>
              <a:rPr lang="en-US" sz="2822" b="1">
                <a:solidFill>
                  <a:srgbClr val="000000"/>
                </a:solidFill>
                <a:latin typeface="Canva Sans Bold"/>
                <a:ea typeface="Canva Sans Bold"/>
                <a:cs typeface="Canva Sans Bold"/>
                <a:sym typeface="Canva Sans Bold"/>
              </a:rPr>
              <a:t>© Pereira &amp; Associates </a:t>
            </a:r>
          </a:p>
          <a:p>
            <a:pPr algn="ctr">
              <a:lnSpc>
                <a:spcPts val="3951"/>
              </a:lnSpc>
            </a:pPr>
            <a:endParaRPr lang="en-US" sz="2822" b="1">
              <a:solidFill>
                <a:srgbClr val="000000"/>
              </a:solidFill>
              <a:latin typeface="Canva Sans Bold"/>
              <a:ea typeface="Canva Sans Bold"/>
              <a:cs typeface="Canva Sans Bold"/>
              <a:sym typeface="Canva Sa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5" name="Group 5"/>
          <p:cNvGrpSpPr/>
          <p:nvPr/>
        </p:nvGrpSpPr>
        <p:grpSpPr>
          <a:xfrm>
            <a:off x="38262" y="5143500"/>
            <a:ext cx="8152720" cy="4114800"/>
            <a:chOff x="0" y="0"/>
            <a:chExt cx="2147218" cy="1083733"/>
          </a:xfrm>
        </p:grpSpPr>
        <p:sp>
          <p:nvSpPr>
            <p:cNvPr id="6" name="Freeform 6"/>
            <p:cNvSpPr/>
            <p:nvPr/>
          </p:nvSpPr>
          <p:spPr>
            <a:xfrm>
              <a:off x="0" y="0"/>
              <a:ext cx="2147218" cy="1083733"/>
            </a:xfrm>
            <a:custGeom>
              <a:avLst/>
              <a:gdLst/>
              <a:ahLst/>
              <a:cxnLst/>
              <a:rect l="l" t="t" r="r" b="b"/>
              <a:pathLst>
                <a:path w="2147218" h="1083733">
                  <a:moveTo>
                    <a:pt x="18992" y="0"/>
                  </a:moveTo>
                  <a:lnTo>
                    <a:pt x="2128226" y="0"/>
                  </a:lnTo>
                  <a:cubicBezTo>
                    <a:pt x="2133263" y="0"/>
                    <a:pt x="2138094" y="2001"/>
                    <a:pt x="2141656" y="5563"/>
                  </a:cubicBezTo>
                  <a:cubicBezTo>
                    <a:pt x="2145217" y="9124"/>
                    <a:pt x="2147218" y="13955"/>
                    <a:pt x="2147218" y="18992"/>
                  </a:cubicBezTo>
                  <a:lnTo>
                    <a:pt x="2147218" y="1064741"/>
                  </a:lnTo>
                  <a:cubicBezTo>
                    <a:pt x="2147218" y="1069778"/>
                    <a:pt x="2145217" y="1074609"/>
                    <a:pt x="2141656" y="1078171"/>
                  </a:cubicBezTo>
                  <a:cubicBezTo>
                    <a:pt x="2138094" y="1081732"/>
                    <a:pt x="2133263" y="1083733"/>
                    <a:pt x="2128226" y="1083733"/>
                  </a:cubicBezTo>
                  <a:lnTo>
                    <a:pt x="18992" y="1083733"/>
                  </a:lnTo>
                  <a:cubicBezTo>
                    <a:pt x="13955" y="1083733"/>
                    <a:pt x="9124" y="1081732"/>
                    <a:pt x="5563" y="1078171"/>
                  </a:cubicBezTo>
                  <a:cubicBezTo>
                    <a:pt x="2001" y="1074609"/>
                    <a:pt x="0" y="1069778"/>
                    <a:pt x="0" y="1064741"/>
                  </a:cubicBezTo>
                  <a:lnTo>
                    <a:pt x="0" y="18992"/>
                  </a:lnTo>
                  <a:cubicBezTo>
                    <a:pt x="0" y="13955"/>
                    <a:pt x="2001" y="9124"/>
                    <a:pt x="5563" y="5563"/>
                  </a:cubicBezTo>
                  <a:cubicBezTo>
                    <a:pt x="9124" y="2001"/>
                    <a:pt x="13955" y="0"/>
                    <a:pt x="18992" y="0"/>
                  </a:cubicBezTo>
                  <a:close/>
                </a:path>
              </a:pathLst>
            </a:custGeom>
            <a:solidFill>
              <a:srgbClr val="000000">
                <a:alpha val="0"/>
              </a:srgbClr>
            </a:solidFill>
            <a:ln w="123825" cap="sq">
              <a:solidFill>
                <a:srgbClr val="000000"/>
              </a:solidFill>
              <a:prstDash val="solid"/>
              <a:miter/>
            </a:ln>
          </p:spPr>
          <p:txBody>
            <a:bodyPr/>
            <a:lstStyle/>
            <a:p>
              <a:endParaRPr lang="en-IN"/>
            </a:p>
          </p:txBody>
        </p:sp>
        <p:sp>
          <p:nvSpPr>
            <p:cNvPr id="7" name="TextBox 7"/>
            <p:cNvSpPr txBox="1"/>
            <p:nvPr/>
          </p:nvSpPr>
          <p:spPr>
            <a:xfrm>
              <a:off x="0" y="-57150"/>
              <a:ext cx="2147218" cy="1140883"/>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8474721" y="5143500"/>
            <a:ext cx="8928651" cy="4114800"/>
            <a:chOff x="0" y="0"/>
            <a:chExt cx="2351579" cy="1083733"/>
          </a:xfrm>
        </p:grpSpPr>
        <p:sp>
          <p:nvSpPr>
            <p:cNvPr id="9" name="Freeform 9"/>
            <p:cNvSpPr/>
            <p:nvPr/>
          </p:nvSpPr>
          <p:spPr>
            <a:xfrm>
              <a:off x="0" y="0"/>
              <a:ext cx="2351579" cy="1083733"/>
            </a:xfrm>
            <a:custGeom>
              <a:avLst/>
              <a:gdLst/>
              <a:ahLst/>
              <a:cxnLst/>
              <a:rect l="l" t="t" r="r" b="b"/>
              <a:pathLst>
                <a:path w="2351579" h="1083733">
                  <a:moveTo>
                    <a:pt x="17342" y="0"/>
                  </a:moveTo>
                  <a:lnTo>
                    <a:pt x="2334237" y="0"/>
                  </a:lnTo>
                  <a:cubicBezTo>
                    <a:pt x="2343814" y="0"/>
                    <a:pt x="2351579" y="7764"/>
                    <a:pt x="2351579" y="17342"/>
                  </a:cubicBezTo>
                  <a:lnTo>
                    <a:pt x="2351579" y="1066392"/>
                  </a:lnTo>
                  <a:cubicBezTo>
                    <a:pt x="2351579" y="1070991"/>
                    <a:pt x="2349752" y="1075402"/>
                    <a:pt x="2346499" y="1078654"/>
                  </a:cubicBezTo>
                  <a:cubicBezTo>
                    <a:pt x="2343247" y="1081906"/>
                    <a:pt x="2338836" y="1083733"/>
                    <a:pt x="2334237" y="1083733"/>
                  </a:cubicBezTo>
                  <a:lnTo>
                    <a:pt x="17342" y="1083733"/>
                  </a:lnTo>
                  <a:cubicBezTo>
                    <a:pt x="7764" y="1083733"/>
                    <a:pt x="0" y="1075969"/>
                    <a:pt x="0" y="1066392"/>
                  </a:cubicBezTo>
                  <a:lnTo>
                    <a:pt x="0" y="17342"/>
                  </a:lnTo>
                  <a:cubicBezTo>
                    <a:pt x="0" y="7764"/>
                    <a:pt x="7764" y="0"/>
                    <a:pt x="17342" y="0"/>
                  </a:cubicBezTo>
                  <a:close/>
                </a:path>
              </a:pathLst>
            </a:custGeom>
            <a:solidFill>
              <a:srgbClr val="000000">
                <a:alpha val="0"/>
              </a:srgbClr>
            </a:solidFill>
            <a:ln w="95250" cap="sq">
              <a:solidFill>
                <a:srgbClr val="000000"/>
              </a:solidFill>
              <a:prstDash val="solid"/>
              <a:miter/>
            </a:ln>
          </p:spPr>
          <p:txBody>
            <a:bodyPr/>
            <a:lstStyle/>
            <a:p>
              <a:endParaRPr lang="en-IN"/>
            </a:p>
          </p:txBody>
        </p:sp>
        <p:sp>
          <p:nvSpPr>
            <p:cNvPr id="10" name="TextBox 10"/>
            <p:cNvSpPr txBox="1"/>
            <p:nvPr/>
          </p:nvSpPr>
          <p:spPr>
            <a:xfrm>
              <a:off x="0" y="-57150"/>
              <a:ext cx="2351579" cy="1140883"/>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1189956" y="1028700"/>
            <a:ext cx="5774354" cy="3766975"/>
            <a:chOff x="0" y="0"/>
            <a:chExt cx="723520" cy="471998"/>
          </a:xfrm>
        </p:grpSpPr>
        <p:sp>
          <p:nvSpPr>
            <p:cNvPr id="12" name="Freeform 12"/>
            <p:cNvSpPr/>
            <p:nvPr/>
          </p:nvSpPr>
          <p:spPr>
            <a:xfrm>
              <a:off x="0" y="0"/>
              <a:ext cx="723520" cy="471998"/>
            </a:xfrm>
            <a:custGeom>
              <a:avLst/>
              <a:gdLst/>
              <a:ahLst/>
              <a:cxnLst/>
              <a:rect l="l" t="t" r="r" b="b"/>
              <a:pathLst>
                <a:path w="723520" h="471998">
                  <a:moveTo>
                    <a:pt x="26815" y="0"/>
                  </a:moveTo>
                  <a:lnTo>
                    <a:pt x="696705" y="0"/>
                  </a:lnTo>
                  <a:cubicBezTo>
                    <a:pt x="711515" y="0"/>
                    <a:pt x="723520" y="12005"/>
                    <a:pt x="723520" y="26815"/>
                  </a:cubicBezTo>
                  <a:lnTo>
                    <a:pt x="723520" y="445183"/>
                  </a:lnTo>
                  <a:cubicBezTo>
                    <a:pt x="723520" y="452295"/>
                    <a:pt x="720695" y="459115"/>
                    <a:pt x="715666" y="464144"/>
                  </a:cubicBezTo>
                  <a:cubicBezTo>
                    <a:pt x="710637" y="469173"/>
                    <a:pt x="703817" y="471998"/>
                    <a:pt x="696705" y="471998"/>
                  </a:cubicBezTo>
                  <a:lnTo>
                    <a:pt x="26815" y="471998"/>
                  </a:lnTo>
                  <a:cubicBezTo>
                    <a:pt x="12005" y="471998"/>
                    <a:pt x="0" y="459992"/>
                    <a:pt x="0" y="445183"/>
                  </a:cubicBezTo>
                  <a:lnTo>
                    <a:pt x="0" y="26815"/>
                  </a:lnTo>
                  <a:cubicBezTo>
                    <a:pt x="0" y="12005"/>
                    <a:pt x="12005" y="0"/>
                    <a:pt x="26815" y="0"/>
                  </a:cubicBezTo>
                  <a:close/>
                </a:path>
              </a:pathLst>
            </a:custGeom>
            <a:blipFill>
              <a:blip r:embed="rId5"/>
              <a:stretch>
                <a:fillRect t="-1142" b="-1142"/>
              </a:stretch>
            </a:blipFill>
          </p:spPr>
          <p:txBody>
            <a:bodyPr/>
            <a:lstStyle/>
            <a:p>
              <a:endParaRPr lang="en-IN"/>
            </a:p>
          </p:txBody>
        </p:sp>
      </p:grpSp>
      <p:sp>
        <p:nvSpPr>
          <p:cNvPr id="13" name="TextBox 13"/>
          <p:cNvSpPr txBox="1"/>
          <p:nvPr/>
        </p:nvSpPr>
        <p:spPr>
          <a:xfrm>
            <a:off x="7902753" y="2826463"/>
            <a:ext cx="8709864" cy="655955"/>
          </a:xfrm>
          <a:prstGeom prst="rect">
            <a:avLst/>
          </a:prstGeom>
        </p:spPr>
        <p:txBody>
          <a:bodyPr lIns="0" tIns="0" rIns="0" bIns="0" rtlCol="0" anchor="t">
            <a:spAutoFit/>
          </a:bodyPr>
          <a:lstStyle/>
          <a:p>
            <a:pPr algn="l">
              <a:lnSpc>
                <a:spcPts val="5319"/>
              </a:lnSpc>
            </a:pPr>
            <a:r>
              <a:rPr lang="en-US" sz="3799" b="1">
                <a:solidFill>
                  <a:srgbClr val="000000"/>
                </a:solidFill>
                <a:latin typeface="Raleway Bold"/>
                <a:ea typeface="Raleway Bold"/>
                <a:cs typeface="Raleway Bold"/>
                <a:sym typeface="Raleway Bold"/>
              </a:rPr>
              <a:t>TYPES OF POWER OF ATTORNEY </a:t>
            </a:r>
          </a:p>
        </p:txBody>
      </p:sp>
      <p:sp>
        <p:nvSpPr>
          <p:cNvPr id="14" name="TextBox 14"/>
          <p:cNvSpPr txBox="1"/>
          <p:nvPr/>
        </p:nvSpPr>
        <p:spPr>
          <a:xfrm>
            <a:off x="1028700" y="5351730"/>
            <a:ext cx="5935611" cy="869950"/>
          </a:xfrm>
          <a:prstGeom prst="rect">
            <a:avLst/>
          </a:prstGeom>
        </p:spPr>
        <p:txBody>
          <a:bodyPr lIns="0" tIns="0" rIns="0" bIns="0" rtlCol="0" anchor="t">
            <a:spAutoFit/>
          </a:bodyPr>
          <a:lstStyle/>
          <a:p>
            <a:pPr marL="539748" lvl="1" indent="-269874" algn="l">
              <a:lnSpc>
                <a:spcPts val="3499"/>
              </a:lnSpc>
              <a:buAutoNum type="arabicPeriod"/>
            </a:pPr>
            <a:r>
              <a:rPr lang="en-US" sz="2499" b="1" u="sng">
                <a:solidFill>
                  <a:srgbClr val="000000"/>
                </a:solidFill>
                <a:latin typeface="Raleway Bold"/>
                <a:ea typeface="Raleway Bold"/>
                <a:cs typeface="Raleway Bold"/>
                <a:sym typeface="Raleway Bold"/>
              </a:rPr>
              <a:t>General Power of Attorney (GPA)</a:t>
            </a:r>
          </a:p>
          <a:p>
            <a:pPr algn="l">
              <a:lnSpc>
                <a:spcPts val="3499"/>
              </a:lnSpc>
            </a:pPr>
            <a:r>
              <a:rPr lang="en-US" sz="2499">
                <a:solidFill>
                  <a:srgbClr val="000000"/>
                </a:solidFill>
                <a:latin typeface="Raleway"/>
                <a:ea typeface="Raleway"/>
                <a:cs typeface="Raleway"/>
                <a:sym typeface="Raleway"/>
              </a:rPr>
              <a:t> </a:t>
            </a:r>
          </a:p>
        </p:txBody>
      </p:sp>
      <p:sp>
        <p:nvSpPr>
          <p:cNvPr id="15" name="TextBox 15"/>
          <p:cNvSpPr txBox="1"/>
          <p:nvPr/>
        </p:nvSpPr>
        <p:spPr>
          <a:xfrm>
            <a:off x="229462" y="6164530"/>
            <a:ext cx="7673292" cy="2399030"/>
          </a:xfrm>
          <a:prstGeom prst="rect">
            <a:avLst/>
          </a:prstGeom>
        </p:spPr>
        <p:txBody>
          <a:bodyPr lIns="0" tIns="0" rIns="0" bIns="0" rtlCol="0" anchor="t">
            <a:spAutoFit/>
          </a:bodyPr>
          <a:lstStyle/>
          <a:p>
            <a:pPr algn="just">
              <a:lnSpc>
                <a:spcPts val="3219"/>
              </a:lnSpc>
            </a:pPr>
            <a:r>
              <a:rPr lang="en-US" sz="2299" b="1">
                <a:solidFill>
                  <a:srgbClr val="1C6993"/>
                </a:solidFill>
                <a:latin typeface="Raleway Bold"/>
                <a:ea typeface="Raleway Bold"/>
                <a:cs typeface="Raleway Bold"/>
                <a:sym typeface="Raleway Bold"/>
              </a:rPr>
              <a:t>A General Power of Attorney grants wide powers to the Agent, allowing the Agent to do all acts associated with a particular transaction. In General Power of Attorney, a Principal empowers the Agent to act on his behalf in general and is not restricted to a specific case</a:t>
            </a:r>
          </a:p>
        </p:txBody>
      </p:sp>
      <p:sp>
        <p:nvSpPr>
          <p:cNvPr id="16" name="TextBox 16"/>
          <p:cNvSpPr txBox="1"/>
          <p:nvPr/>
        </p:nvSpPr>
        <p:spPr>
          <a:xfrm>
            <a:off x="9606932" y="5383480"/>
            <a:ext cx="7796440" cy="431800"/>
          </a:xfrm>
          <a:prstGeom prst="rect">
            <a:avLst/>
          </a:prstGeom>
        </p:spPr>
        <p:txBody>
          <a:bodyPr lIns="0" tIns="0" rIns="0" bIns="0" rtlCol="0" anchor="t">
            <a:spAutoFit/>
          </a:bodyPr>
          <a:lstStyle/>
          <a:p>
            <a:pPr marL="539748" lvl="1" indent="-269874" algn="l">
              <a:lnSpc>
                <a:spcPts val="3499"/>
              </a:lnSpc>
              <a:buAutoNum type="arabicPeriod"/>
            </a:pPr>
            <a:r>
              <a:rPr lang="en-US" sz="2499" b="1" u="sng">
                <a:solidFill>
                  <a:srgbClr val="000000"/>
                </a:solidFill>
                <a:latin typeface="Raleway Bold"/>
                <a:ea typeface="Raleway Bold"/>
                <a:cs typeface="Raleway Bold"/>
                <a:sym typeface="Raleway Bold"/>
              </a:rPr>
              <a:t>Special Power of Attorney (SPA)</a:t>
            </a:r>
          </a:p>
        </p:txBody>
      </p:sp>
      <p:sp>
        <p:nvSpPr>
          <p:cNvPr id="17" name="TextBox 17"/>
          <p:cNvSpPr txBox="1"/>
          <p:nvPr/>
        </p:nvSpPr>
        <p:spPr>
          <a:xfrm>
            <a:off x="8778571" y="6164530"/>
            <a:ext cx="8320951" cy="1998980"/>
          </a:xfrm>
          <a:prstGeom prst="rect">
            <a:avLst/>
          </a:prstGeom>
        </p:spPr>
        <p:txBody>
          <a:bodyPr lIns="0" tIns="0" rIns="0" bIns="0" rtlCol="0" anchor="t">
            <a:spAutoFit/>
          </a:bodyPr>
          <a:lstStyle/>
          <a:p>
            <a:pPr algn="just">
              <a:lnSpc>
                <a:spcPts val="3219"/>
              </a:lnSpc>
            </a:pPr>
            <a:r>
              <a:rPr lang="en-US" sz="2299" b="1">
                <a:solidFill>
                  <a:srgbClr val="1C6993"/>
                </a:solidFill>
                <a:latin typeface="Raleway Bold"/>
                <a:ea typeface="Raleway Bold"/>
                <a:cs typeface="Raleway Bold"/>
                <a:sym typeface="Raleway Bold"/>
              </a:rPr>
              <a:t>Special Power of Attorney (SPA) is one by which authority is given to do particular and specified act. This POA type confers limited powers and should be the first choice if circumstances allow.</a:t>
            </a:r>
          </a:p>
          <a:p>
            <a:pPr algn="just">
              <a:lnSpc>
                <a:spcPts val="3219"/>
              </a:lnSpc>
            </a:pPr>
            <a:endParaRPr lang="en-US" sz="2299" b="1">
              <a:solidFill>
                <a:srgbClr val="1C6993"/>
              </a:solidFill>
              <a:latin typeface="Raleway Bold"/>
              <a:ea typeface="Raleway Bold"/>
              <a:cs typeface="Raleway Bold"/>
              <a:sym typeface="Raleway Bold"/>
            </a:endParaRPr>
          </a:p>
        </p:txBody>
      </p:sp>
      <p:sp>
        <p:nvSpPr>
          <p:cNvPr id="18" name="TextBox 18"/>
          <p:cNvSpPr txBox="1"/>
          <p:nvPr/>
        </p:nvSpPr>
        <p:spPr>
          <a:xfrm>
            <a:off x="14275346" y="9761281"/>
            <a:ext cx="4012654" cy="994137"/>
          </a:xfrm>
          <a:prstGeom prst="rect">
            <a:avLst/>
          </a:prstGeom>
        </p:spPr>
        <p:txBody>
          <a:bodyPr lIns="0" tIns="0" rIns="0" bIns="0" rtlCol="0" anchor="t">
            <a:spAutoFit/>
          </a:bodyPr>
          <a:lstStyle/>
          <a:p>
            <a:pPr algn="ctr">
              <a:lnSpc>
                <a:spcPts val="4005"/>
              </a:lnSpc>
            </a:pPr>
            <a:r>
              <a:rPr lang="en-US" sz="2860" b="1">
                <a:solidFill>
                  <a:srgbClr val="000000"/>
                </a:solidFill>
                <a:latin typeface="Canva Sans Bold"/>
                <a:ea typeface="Canva Sans Bold"/>
                <a:cs typeface="Canva Sans Bold"/>
                <a:sym typeface="Canva Sans Bold"/>
              </a:rPr>
              <a:t>© Pereira &amp; Associates </a:t>
            </a:r>
          </a:p>
          <a:p>
            <a:pPr algn="ctr">
              <a:lnSpc>
                <a:spcPts val="4005"/>
              </a:lnSpc>
            </a:pPr>
            <a:endParaRPr lang="en-US" sz="2860" b="1">
              <a:solidFill>
                <a:srgbClr val="000000"/>
              </a:solidFill>
              <a:latin typeface="Canva Sans Bold"/>
              <a:ea typeface="Canva Sans Bold"/>
              <a:cs typeface="Canva Sans Bold"/>
              <a:sym typeface="Canva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0" y="1054022"/>
            <a:ext cx="18416518" cy="908100"/>
          </a:xfrm>
          <a:prstGeom prst="rect">
            <a:avLst/>
          </a:prstGeom>
        </p:spPr>
        <p:txBody>
          <a:bodyPr lIns="0" tIns="0" rIns="0" bIns="0" rtlCol="0" anchor="t">
            <a:spAutoFit/>
          </a:bodyPr>
          <a:lstStyle/>
          <a:p>
            <a:pPr algn="ctr">
              <a:lnSpc>
                <a:spcPts val="6876"/>
              </a:lnSpc>
            </a:pPr>
            <a:r>
              <a:rPr lang="en-US" sz="6876" b="1">
                <a:solidFill>
                  <a:srgbClr val="000000"/>
                </a:solidFill>
                <a:latin typeface="Montserrat Ultra-Bold"/>
                <a:ea typeface="Montserrat Ultra-Bold"/>
                <a:cs typeface="Montserrat Ultra-Bold"/>
                <a:sym typeface="Montserrat Ultra-Bold"/>
              </a:rPr>
              <a:t>GENERAL POWER OF ATTORNEY (GPA) </a:t>
            </a:r>
          </a:p>
        </p:txBody>
      </p:sp>
      <p:sp>
        <p:nvSpPr>
          <p:cNvPr id="4" name="Freeform 4"/>
          <p:cNvSpPr/>
          <p:nvPr/>
        </p:nvSpPr>
        <p:spPr>
          <a:xfrm>
            <a:off x="-128518" y="6533409"/>
            <a:ext cx="5431872" cy="4511946"/>
          </a:xfrm>
          <a:custGeom>
            <a:avLst/>
            <a:gdLst/>
            <a:ahLst/>
            <a:cxnLst/>
            <a:rect l="l" t="t" r="r" b="b"/>
            <a:pathLst>
              <a:path w="5431872" h="4511946">
                <a:moveTo>
                  <a:pt x="0" y="0"/>
                </a:moveTo>
                <a:lnTo>
                  <a:pt x="5431873" y="0"/>
                </a:lnTo>
                <a:lnTo>
                  <a:pt x="5431873" y="4511946"/>
                </a:lnTo>
                <a:lnTo>
                  <a:pt x="0" y="4511946"/>
                </a:lnTo>
                <a:lnTo>
                  <a:pt x="0" y="0"/>
                </a:lnTo>
                <a:close/>
              </a:path>
            </a:pathLst>
          </a:custGeom>
          <a:blipFill>
            <a:blip r:embed="rId3"/>
            <a:stretch>
              <a:fillRect r="-158565"/>
            </a:stretch>
          </a:blipFill>
        </p:spPr>
        <p:txBody>
          <a:bodyPr/>
          <a:lstStyle/>
          <a:p>
            <a:endParaRPr lang="en-IN"/>
          </a:p>
        </p:txBody>
      </p:sp>
      <p:sp>
        <p:nvSpPr>
          <p:cNvPr id="5" name="Freeform 5"/>
          <p:cNvSpPr/>
          <p:nvPr/>
        </p:nvSpPr>
        <p:spPr>
          <a:xfrm>
            <a:off x="9683266" y="6533409"/>
            <a:ext cx="8733252" cy="4511946"/>
          </a:xfrm>
          <a:custGeom>
            <a:avLst/>
            <a:gdLst/>
            <a:ahLst/>
            <a:cxnLst/>
            <a:rect l="l" t="t" r="r" b="b"/>
            <a:pathLst>
              <a:path w="8733252" h="4511946">
                <a:moveTo>
                  <a:pt x="0" y="0"/>
                </a:moveTo>
                <a:lnTo>
                  <a:pt x="8733252" y="0"/>
                </a:lnTo>
                <a:lnTo>
                  <a:pt x="8733252" y="4511946"/>
                </a:lnTo>
                <a:lnTo>
                  <a:pt x="0" y="4511946"/>
                </a:lnTo>
                <a:lnTo>
                  <a:pt x="0" y="0"/>
                </a:lnTo>
                <a:close/>
              </a:path>
            </a:pathLst>
          </a:custGeom>
          <a:blipFill>
            <a:blip r:embed="rId3"/>
            <a:stretch>
              <a:fillRect l="-60821"/>
            </a:stretch>
          </a:blipFill>
        </p:spPr>
        <p:txBody>
          <a:bodyPr/>
          <a:lstStyle/>
          <a:p>
            <a:endParaRPr lang="en-IN"/>
          </a:p>
        </p:txBody>
      </p:sp>
      <p:sp>
        <p:nvSpPr>
          <p:cNvPr id="6" name="Freeform 6"/>
          <p:cNvSpPr/>
          <p:nvPr/>
        </p:nvSpPr>
        <p:spPr>
          <a:xfrm>
            <a:off x="7104129" y="2676497"/>
            <a:ext cx="2954177" cy="2970379"/>
          </a:xfrm>
          <a:custGeom>
            <a:avLst/>
            <a:gdLst/>
            <a:ahLst/>
            <a:cxnLst/>
            <a:rect l="l" t="t" r="r" b="b"/>
            <a:pathLst>
              <a:path w="2954177" h="2970379">
                <a:moveTo>
                  <a:pt x="0" y="0"/>
                </a:moveTo>
                <a:lnTo>
                  <a:pt x="2954177" y="0"/>
                </a:lnTo>
                <a:lnTo>
                  <a:pt x="2954177" y="2970379"/>
                </a:lnTo>
                <a:lnTo>
                  <a:pt x="0" y="2970379"/>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11746257" y="2244697"/>
            <a:ext cx="4718520" cy="448310"/>
          </a:xfrm>
          <a:prstGeom prst="rect">
            <a:avLst/>
          </a:prstGeom>
        </p:spPr>
        <p:txBody>
          <a:bodyPr lIns="0" tIns="0" rIns="0" bIns="0" rtlCol="0" anchor="t">
            <a:spAutoFit/>
          </a:bodyPr>
          <a:lstStyle/>
          <a:p>
            <a:pPr algn="l">
              <a:lnSpc>
                <a:spcPts val="3639"/>
              </a:lnSpc>
            </a:pPr>
            <a:r>
              <a:rPr lang="en-US" sz="2599" b="1">
                <a:solidFill>
                  <a:srgbClr val="1C6993"/>
                </a:solidFill>
                <a:latin typeface="Raleway Bold"/>
                <a:ea typeface="Raleway Bold"/>
                <a:cs typeface="Raleway Bold"/>
                <a:sym typeface="Raleway Bold"/>
              </a:rPr>
              <a:t>GPA FUNCTIONS </a:t>
            </a:r>
          </a:p>
        </p:txBody>
      </p:sp>
      <p:sp>
        <p:nvSpPr>
          <p:cNvPr id="8" name="TextBox 8"/>
          <p:cNvSpPr txBox="1"/>
          <p:nvPr/>
        </p:nvSpPr>
        <p:spPr>
          <a:xfrm>
            <a:off x="11339613" y="2971772"/>
            <a:ext cx="5385386" cy="3861435"/>
          </a:xfrm>
          <a:prstGeom prst="rect">
            <a:avLst/>
          </a:prstGeom>
        </p:spPr>
        <p:txBody>
          <a:bodyPr lIns="0" tIns="0" rIns="0" bIns="0" rtlCol="0" anchor="t">
            <a:spAutoFit/>
          </a:bodyPr>
          <a:lstStyle/>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Grants the agent broad powers to handle the principal’s affairs, such as managing assets, conducting financial transactions, and making legal decisions.</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 It is often used where the principal needs someone to manage all aspects of their life for an extended period.</a:t>
            </a:r>
          </a:p>
          <a:p>
            <a:pPr algn="l">
              <a:lnSpc>
                <a:spcPts val="2800"/>
              </a:lnSpc>
            </a:pPr>
            <a:endParaRPr lang="en-US" sz="2199" b="1">
              <a:solidFill>
                <a:srgbClr val="000000"/>
              </a:solidFill>
              <a:latin typeface="Raleway Bold"/>
              <a:ea typeface="Raleway Bold"/>
              <a:cs typeface="Raleway Bold"/>
              <a:sym typeface="Raleway Bold"/>
            </a:endParaRPr>
          </a:p>
        </p:txBody>
      </p:sp>
      <p:sp>
        <p:nvSpPr>
          <p:cNvPr id="9" name="Freeform 9"/>
          <p:cNvSpPr/>
          <p:nvPr/>
        </p:nvSpPr>
        <p:spPr>
          <a:xfrm rot="-6270082">
            <a:off x="13449948" y="-1008356"/>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0" name="Freeform 10"/>
          <p:cNvSpPr/>
          <p:nvPr/>
        </p:nvSpPr>
        <p:spPr>
          <a:xfrm rot="6289874" flipH="1">
            <a:off x="7043477" y="8478896"/>
            <a:ext cx="6029659" cy="6306682"/>
          </a:xfrm>
          <a:custGeom>
            <a:avLst/>
            <a:gdLst/>
            <a:ahLst/>
            <a:cxnLst/>
            <a:rect l="l" t="t" r="r" b="b"/>
            <a:pathLst>
              <a:path w="6029659" h="6306682">
                <a:moveTo>
                  <a:pt x="6029658" y="0"/>
                </a:moveTo>
                <a:lnTo>
                  <a:pt x="0" y="0"/>
                </a:lnTo>
                <a:lnTo>
                  <a:pt x="0" y="6306681"/>
                </a:lnTo>
                <a:lnTo>
                  <a:pt x="6029658" y="6306681"/>
                </a:lnTo>
                <a:lnTo>
                  <a:pt x="6029658"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7350019" y="2190366"/>
            <a:ext cx="2708287" cy="4114800"/>
          </a:xfrm>
          <a:custGeom>
            <a:avLst/>
            <a:gdLst/>
            <a:ahLst/>
            <a:cxnLst/>
            <a:rect l="l" t="t" r="r" b="b"/>
            <a:pathLst>
              <a:path w="2708287" h="4114800">
                <a:moveTo>
                  <a:pt x="0" y="0"/>
                </a:moveTo>
                <a:lnTo>
                  <a:pt x="2708287" y="0"/>
                </a:lnTo>
                <a:lnTo>
                  <a:pt x="270828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11012177" y="6832216"/>
            <a:ext cx="6075429" cy="869950"/>
          </a:xfrm>
          <a:prstGeom prst="rect">
            <a:avLst/>
          </a:prstGeom>
        </p:spPr>
        <p:txBody>
          <a:bodyPr lIns="0" tIns="0" rIns="0" bIns="0" rtlCol="0" anchor="t">
            <a:spAutoFit/>
          </a:bodyPr>
          <a:lstStyle/>
          <a:p>
            <a:pPr algn="l">
              <a:lnSpc>
                <a:spcPts val="3499"/>
              </a:lnSpc>
            </a:pPr>
            <a:r>
              <a:rPr lang="en-US" sz="2499" b="1">
                <a:solidFill>
                  <a:srgbClr val="1C6993"/>
                </a:solidFill>
                <a:latin typeface="Raleway Bold"/>
                <a:ea typeface="Raleway Bold"/>
                <a:cs typeface="Raleway Bold"/>
                <a:sym typeface="Raleway Bold"/>
              </a:rPr>
              <a:t>GPA – FREQUENTLY USED CASES</a:t>
            </a:r>
          </a:p>
          <a:p>
            <a:pPr algn="l">
              <a:lnSpc>
                <a:spcPts val="3499"/>
              </a:lnSpc>
            </a:pPr>
            <a:endParaRPr lang="en-US" sz="2499" b="1">
              <a:solidFill>
                <a:srgbClr val="1C6993"/>
              </a:solidFill>
              <a:latin typeface="Raleway Bold"/>
              <a:ea typeface="Raleway Bold"/>
              <a:cs typeface="Raleway Bold"/>
              <a:sym typeface="Raleway Bold"/>
            </a:endParaRPr>
          </a:p>
        </p:txBody>
      </p:sp>
      <p:sp>
        <p:nvSpPr>
          <p:cNvPr id="13" name="TextBox 13"/>
          <p:cNvSpPr txBox="1"/>
          <p:nvPr/>
        </p:nvSpPr>
        <p:spPr>
          <a:xfrm>
            <a:off x="-1138717" y="2432022"/>
            <a:ext cx="4718520" cy="431800"/>
          </a:xfrm>
          <a:prstGeom prst="rect">
            <a:avLst/>
          </a:prstGeom>
        </p:spPr>
        <p:txBody>
          <a:bodyPr lIns="0" tIns="0" rIns="0" bIns="0" rtlCol="0" anchor="t">
            <a:spAutoFit/>
          </a:bodyPr>
          <a:lstStyle/>
          <a:p>
            <a:pPr algn="r">
              <a:lnSpc>
                <a:spcPts val="3499"/>
              </a:lnSpc>
            </a:pPr>
            <a:r>
              <a:rPr lang="en-US" sz="2499" b="1">
                <a:solidFill>
                  <a:srgbClr val="1C6993"/>
                </a:solidFill>
                <a:latin typeface="Raleway Bold"/>
                <a:ea typeface="Raleway Bold"/>
                <a:cs typeface="Raleway Bold"/>
                <a:sym typeface="Raleway Bold"/>
              </a:rPr>
              <a:t>GPA EXAMPLES </a:t>
            </a:r>
          </a:p>
        </p:txBody>
      </p:sp>
      <p:sp>
        <p:nvSpPr>
          <p:cNvPr id="14" name="TextBox 14"/>
          <p:cNvSpPr txBox="1"/>
          <p:nvPr/>
        </p:nvSpPr>
        <p:spPr>
          <a:xfrm>
            <a:off x="0" y="2912639"/>
            <a:ext cx="5385386" cy="3506470"/>
          </a:xfrm>
          <a:prstGeom prst="rect">
            <a:avLst/>
          </a:prstGeom>
        </p:spPr>
        <p:txBody>
          <a:bodyPr lIns="0" tIns="0" rIns="0" bIns="0" rtlCol="0" anchor="t">
            <a:spAutoFit/>
          </a:bodyPr>
          <a:lstStyle/>
          <a:p>
            <a:pPr algn="just">
              <a:lnSpc>
                <a:spcPts val="3079"/>
              </a:lnSpc>
            </a:pPr>
            <a:r>
              <a:rPr lang="en-US" sz="2199" b="1">
                <a:solidFill>
                  <a:srgbClr val="000000"/>
                </a:solidFill>
                <a:latin typeface="Raleway Bold"/>
                <a:ea typeface="Raleway Bold"/>
                <a:cs typeface="Raleway Bold"/>
                <a:sym typeface="Raleway Bold"/>
              </a:rPr>
              <a:t>For example, the Principal can execute a General Power of Attorney and give the Agent vast powers for several purposes like renting, entering into an agreement to sell, raising a loan, paying for and discharging debts, executing or registering any document, etc. in relation to a particular property.</a:t>
            </a:r>
          </a:p>
          <a:p>
            <a:pPr algn="just">
              <a:lnSpc>
                <a:spcPts val="3079"/>
              </a:lnSpc>
            </a:pPr>
            <a:endParaRPr lang="en-US" sz="2199" b="1">
              <a:solidFill>
                <a:srgbClr val="000000"/>
              </a:solidFill>
              <a:latin typeface="Raleway Bold"/>
              <a:ea typeface="Raleway Bold"/>
              <a:cs typeface="Raleway Bold"/>
              <a:sym typeface="Raleway Bold"/>
            </a:endParaRPr>
          </a:p>
        </p:txBody>
      </p:sp>
      <p:sp>
        <p:nvSpPr>
          <p:cNvPr id="15" name="TextBox 15"/>
          <p:cNvSpPr txBox="1"/>
          <p:nvPr/>
        </p:nvSpPr>
        <p:spPr>
          <a:xfrm>
            <a:off x="1220543" y="6476259"/>
            <a:ext cx="4718520" cy="431800"/>
          </a:xfrm>
          <a:prstGeom prst="rect">
            <a:avLst/>
          </a:prstGeom>
        </p:spPr>
        <p:txBody>
          <a:bodyPr lIns="0" tIns="0" rIns="0" bIns="0" rtlCol="0" anchor="t">
            <a:spAutoFit/>
          </a:bodyPr>
          <a:lstStyle/>
          <a:p>
            <a:pPr algn="r">
              <a:lnSpc>
                <a:spcPts val="3499"/>
              </a:lnSpc>
            </a:pPr>
            <a:r>
              <a:rPr lang="en-US" sz="2499" b="1">
                <a:solidFill>
                  <a:srgbClr val="1C6993"/>
                </a:solidFill>
                <a:latin typeface="Raleway Bold"/>
                <a:ea typeface="Raleway Bold"/>
                <a:cs typeface="Raleway Bold"/>
                <a:sym typeface="Raleway Bold"/>
              </a:rPr>
              <a:t>GPA NATURE OF POWERS  </a:t>
            </a:r>
          </a:p>
        </p:txBody>
      </p:sp>
      <p:sp>
        <p:nvSpPr>
          <p:cNvPr id="16" name="TextBox 16"/>
          <p:cNvSpPr txBox="1"/>
          <p:nvPr/>
        </p:nvSpPr>
        <p:spPr>
          <a:xfrm>
            <a:off x="1718743" y="6961216"/>
            <a:ext cx="5715361" cy="2865182"/>
          </a:xfrm>
          <a:prstGeom prst="rect">
            <a:avLst/>
          </a:prstGeom>
        </p:spPr>
        <p:txBody>
          <a:bodyPr lIns="0" tIns="0" rIns="0" bIns="0" rtlCol="0" anchor="t">
            <a:spAutoFit/>
          </a:bodyPr>
          <a:lstStyle/>
          <a:p>
            <a:pPr algn="just">
              <a:lnSpc>
                <a:spcPts val="3251"/>
              </a:lnSpc>
            </a:pPr>
            <a:r>
              <a:rPr lang="en-US" sz="2322" b="1">
                <a:solidFill>
                  <a:srgbClr val="000000"/>
                </a:solidFill>
                <a:latin typeface="Raleway Bold"/>
                <a:ea typeface="Raleway Bold"/>
                <a:cs typeface="Raleway Bold"/>
                <a:sym typeface="Raleway Bold"/>
              </a:rPr>
              <a:t>This clearly demonstrates that the word ‘general’ is used in the context of the subject matter not in terms of power. The powers are not general, but tasks delegated to the Agent in relation to a particular estate are.</a:t>
            </a:r>
          </a:p>
          <a:p>
            <a:pPr algn="just">
              <a:lnSpc>
                <a:spcPts val="3251"/>
              </a:lnSpc>
            </a:pPr>
            <a:endParaRPr lang="en-US" sz="2322" b="1">
              <a:solidFill>
                <a:srgbClr val="000000"/>
              </a:solidFill>
              <a:latin typeface="Raleway Bold"/>
              <a:ea typeface="Raleway Bold"/>
              <a:cs typeface="Raleway Bold"/>
              <a:sym typeface="Raleway Bold"/>
            </a:endParaRPr>
          </a:p>
        </p:txBody>
      </p:sp>
      <p:sp>
        <p:nvSpPr>
          <p:cNvPr id="17" name="TextBox 17"/>
          <p:cNvSpPr txBox="1"/>
          <p:nvPr/>
        </p:nvSpPr>
        <p:spPr>
          <a:xfrm>
            <a:off x="10467216" y="7238616"/>
            <a:ext cx="7949302" cy="1998980"/>
          </a:xfrm>
          <a:prstGeom prst="rect">
            <a:avLst/>
          </a:prstGeom>
        </p:spPr>
        <p:txBody>
          <a:bodyPr lIns="0" tIns="0" rIns="0" bIns="0" rtlCol="0" anchor="t">
            <a:spAutoFit/>
          </a:bodyPr>
          <a:lstStyle/>
          <a:p>
            <a:pPr marL="496569" lvl="1" indent="-248284" algn="l">
              <a:lnSpc>
                <a:spcPts val="3219"/>
              </a:lnSpc>
              <a:buFont typeface="Arial"/>
              <a:buChar char="•"/>
            </a:pPr>
            <a:r>
              <a:rPr lang="en-US" sz="2299" b="1">
                <a:solidFill>
                  <a:srgbClr val="000000"/>
                </a:solidFill>
                <a:latin typeface="Raleway Bold"/>
                <a:ea typeface="Raleway Bold"/>
                <a:cs typeface="Raleway Bold"/>
                <a:sym typeface="Raleway Bold"/>
              </a:rPr>
              <a:t>Managing financial transactions</a:t>
            </a:r>
          </a:p>
          <a:p>
            <a:pPr marL="496569" lvl="1" indent="-248284" algn="l">
              <a:lnSpc>
                <a:spcPts val="3219"/>
              </a:lnSpc>
              <a:buFont typeface="Arial"/>
              <a:buChar char="•"/>
            </a:pPr>
            <a:r>
              <a:rPr lang="en-US" sz="2299" b="1">
                <a:solidFill>
                  <a:srgbClr val="000000"/>
                </a:solidFill>
                <a:latin typeface="Raleway Bold"/>
                <a:ea typeface="Raleway Bold"/>
                <a:cs typeface="Raleway Bold"/>
                <a:sym typeface="Raleway Bold"/>
              </a:rPr>
              <a:t> Real estate management</a:t>
            </a:r>
          </a:p>
          <a:p>
            <a:pPr marL="496569" lvl="1" indent="-248284" algn="l">
              <a:lnSpc>
                <a:spcPts val="3219"/>
              </a:lnSpc>
              <a:buFont typeface="Arial"/>
              <a:buChar char="•"/>
            </a:pPr>
            <a:r>
              <a:rPr lang="en-US" sz="2299" b="1">
                <a:solidFill>
                  <a:srgbClr val="000000"/>
                </a:solidFill>
                <a:latin typeface="Raleway Bold"/>
                <a:ea typeface="Raleway Bold"/>
                <a:cs typeface="Raleway Bold"/>
                <a:sym typeface="Raleway Bold"/>
              </a:rPr>
              <a:t> Supervising the activities of the business</a:t>
            </a:r>
          </a:p>
          <a:p>
            <a:pPr marL="496569" lvl="1" indent="-248284" algn="l">
              <a:lnSpc>
                <a:spcPts val="3219"/>
              </a:lnSpc>
              <a:buFont typeface="Arial"/>
              <a:buChar char="•"/>
            </a:pPr>
            <a:r>
              <a:rPr lang="en-US" sz="2299" b="1">
                <a:solidFill>
                  <a:srgbClr val="000000"/>
                </a:solidFill>
                <a:latin typeface="Raleway Bold"/>
                <a:ea typeface="Raleway Bold"/>
                <a:cs typeface="Raleway Bold"/>
                <a:sym typeface="Raleway Bold"/>
              </a:rPr>
              <a:t> Legal representation</a:t>
            </a:r>
          </a:p>
          <a:p>
            <a:pPr algn="l">
              <a:lnSpc>
                <a:spcPts val="3219"/>
              </a:lnSpc>
            </a:pPr>
            <a:endParaRPr lang="en-US" sz="2299" b="1">
              <a:solidFill>
                <a:srgbClr val="000000"/>
              </a:solidFill>
              <a:latin typeface="Raleway Bold"/>
              <a:ea typeface="Raleway Bold"/>
              <a:cs typeface="Raleway Bold"/>
              <a:sym typeface="Raleway Bold"/>
            </a:endParaRPr>
          </a:p>
        </p:txBody>
      </p:sp>
      <p:sp>
        <p:nvSpPr>
          <p:cNvPr id="18" name="TextBox 18"/>
          <p:cNvSpPr txBox="1"/>
          <p:nvPr/>
        </p:nvSpPr>
        <p:spPr>
          <a:xfrm>
            <a:off x="14032306" y="9507629"/>
            <a:ext cx="4232771" cy="1028888"/>
          </a:xfrm>
          <a:prstGeom prst="rect">
            <a:avLst/>
          </a:prstGeom>
        </p:spPr>
        <p:txBody>
          <a:bodyPr lIns="0" tIns="0" rIns="0" bIns="0" rtlCol="0" anchor="t">
            <a:spAutoFit/>
          </a:bodyPr>
          <a:lstStyle/>
          <a:p>
            <a:pPr algn="ctr">
              <a:lnSpc>
                <a:spcPts val="4189"/>
              </a:lnSpc>
            </a:pPr>
            <a:r>
              <a:rPr lang="en-US" sz="2992" b="1">
                <a:solidFill>
                  <a:srgbClr val="000000"/>
                </a:solidFill>
                <a:latin typeface="Canva Sans Bold"/>
                <a:ea typeface="Canva Sans Bold"/>
                <a:cs typeface="Canva Sans Bold"/>
                <a:sym typeface="Canva Sans Bold"/>
              </a:rPr>
              <a:t>© Pereira &amp; Associates </a:t>
            </a:r>
          </a:p>
          <a:p>
            <a:pPr algn="ctr">
              <a:lnSpc>
                <a:spcPts val="4189"/>
              </a:lnSpc>
            </a:pPr>
            <a:endParaRPr lang="en-US" sz="2992" b="1">
              <a:solidFill>
                <a:srgbClr val="000000"/>
              </a:solidFill>
              <a:latin typeface="Canva Sans Bold"/>
              <a:ea typeface="Canva Sans Bold"/>
              <a:cs typeface="Canva Sans Bold"/>
              <a:sym typeface="Canva Sa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0" y="1054022"/>
            <a:ext cx="18416518" cy="908100"/>
          </a:xfrm>
          <a:prstGeom prst="rect">
            <a:avLst/>
          </a:prstGeom>
        </p:spPr>
        <p:txBody>
          <a:bodyPr lIns="0" tIns="0" rIns="0" bIns="0" rtlCol="0" anchor="t">
            <a:spAutoFit/>
          </a:bodyPr>
          <a:lstStyle/>
          <a:p>
            <a:pPr algn="ctr">
              <a:lnSpc>
                <a:spcPts val="6876"/>
              </a:lnSpc>
            </a:pPr>
            <a:r>
              <a:rPr lang="en-US" sz="6876" b="1">
                <a:solidFill>
                  <a:srgbClr val="000000"/>
                </a:solidFill>
                <a:latin typeface="Montserrat Ultra-Bold"/>
                <a:ea typeface="Montserrat Ultra-Bold"/>
                <a:cs typeface="Montserrat Ultra-Bold"/>
                <a:sym typeface="Montserrat Ultra-Bold"/>
              </a:rPr>
              <a:t>SPECIAL POWER OF ATTORNEY (SPA) </a:t>
            </a:r>
          </a:p>
        </p:txBody>
      </p:sp>
      <p:sp>
        <p:nvSpPr>
          <p:cNvPr id="4" name="Freeform 4"/>
          <p:cNvSpPr/>
          <p:nvPr/>
        </p:nvSpPr>
        <p:spPr>
          <a:xfrm>
            <a:off x="-128518" y="6533409"/>
            <a:ext cx="5431872" cy="4511946"/>
          </a:xfrm>
          <a:custGeom>
            <a:avLst/>
            <a:gdLst/>
            <a:ahLst/>
            <a:cxnLst/>
            <a:rect l="l" t="t" r="r" b="b"/>
            <a:pathLst>
              <a:path w="5431872" h="4511946">
                <a:moveTo>
                  <a:pt x="0" y="0"/>
                </a:moveTo>
                <a:lnTo>
                  <a:pt x="5431873" y="0"/>
                </a:lnTo>
                <a:lnTo>
                  <a:pt x="5431873" y="4511946"/>
                </a:lnTo>
                <a:lnTo>
                  <a:pt x="0" y="4511946"/>
                </a:lnTo>
                <a:lnTo>
                  <a:pt x="0" y="0"/>
                </a:lnTo>
                <a:close/>
              </a:path>
            </a:pathLst>
          </a:custGeom>
          <a:blipFill>
            <a:blip r:embed="rId3"/>
            <a:stretch>
              <a:fillRect r="-158565"/>
            </a:stretch>
          </a:blipFill>
        </p:spPr>
        <p:txBody>
          <a:bodyPr/>
          <a:lstStyle/>
          <a:p>
            <a:endParaRPr lang="en-IN"/>
          </a:p>
        </p:txBody>
      </p:sp>
      <p:sp>
        <p:nvSpPr>
          <p:cNvPr id="5" name="Freeform 5"/>
          <p:cNvSpPr/>
          <p:nvPr/>
        </p:nvSpPr>
        <p:spPr>
          <a:xfrm>
            <a:off x="9683266" y="6533409"/>
            <a:ext cx="8733252" cy="4511946"/>
          </a:xfrm>
          <a:custGeom>
            <a:avLst/>
            <a:gdLst/>
            <a:ahLst/>
            <a:cxnLst/>
            <a:rect l="l" t="t" r="r" b="b"/>
            <a:pathLst>
              <a:path w="8733252" h="4511946">
                <a:moveTo>
                  <a:pt x="0" y="0"/>
                </a:moveTo>
                <a:lnTo>
                  <a:pt x="8733252" y="0"/>
                </a:lnTo>
                <a:lnTo>
                  <a:pt x="8733252" y="4511946"/>
                </a:lnTo>
                <a:lnTo>
                  <a:pt x="0" y="4511946"/>
                </a:lnTo>
                <a:lnTo>
                  <a:pt x="0" y="0"/>
                </a:lnTo>
                <a:close/>
              </a:path>
            </a:pathLst>
          </a:custGeom>
          <a:blipFill>
            <a:blip r:embed="rId3"/>
            <a:stretch>
              <a:fillRect l="-60821"/>
            </a:stretch>
          </a:blipFill>
        </p:spPr>
        <p:txBody>
          <a:bodyPr/>
          <a:lstStyle/>
          <a:p>
            <a:endParaRPr lang="en-IN"/>
          </a:p>
        </p:txBody>
      </p:sp>
      <p:sp>
        <p:nvSpPr>
          <p:cNvPr id="6" name="Freeform 6"/>
          <p:cNvSpPr/>
          <p:nvPr/>
        </p:nvSpPr>
        <p:spPr>
          <a:xfrm>
            <a:off x="7104129" y="2676497"/>
            <a:ext cx="2954177" cy="2970379"/>
          </a:xfrm>
          <a:custGeom>
            <a:avLst/>
            <a:gdLst/>
            <a:ahLst/>
            <a:cxnLst/>
            <a:rect l="l" t="t" r="r" b="b"/>
            <a:pathLst>
              <a:path w="2954177" h="2970379">
                <a:moveTo>
                  <a:pt x="0" y="0"/>
                </a:moveTo>
                <a:lnTo>
                  <a:pt x="2954177" y="0"/>
                </a:lnTo>
                <a:lnTo>
                  <a:pt x="2954177" y="2970379"/>
                </a:lnTo>
                <a:lnTo>
                  <a:pt x="0" y="2970379"/>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p:cNvSpPr txBox="1"/>
          <p:nvPr/>
        </p:nvSpPr>
        <p:spPr>
          <a:xfrm>
            <a:off x="11519045" y="2244697"/>
            <a:ext cx="6768955" cy="431800"/>
          </a:xfrm>
          <a:prstGeom prst="rect">
            <a:avLst/>
          </a:prstGeom>
        </p:spPr>
        <p:txBody>
          <a:bodyPr lIns="0" tIns="0" rIns="0" bIns="0" rtlCol="0" anchor="t">
            <a:spAutoFit/>
          </a:bodyPr>
          <a:lstStyle/>
          <a:p>
            <a:pPr algn="l">
              <a:lnSpc>
                <a:spcPts val="3499"/>
              </a:lnSpc>
            </a:pPr>
            <a:r>
              <a:rPr lang="en-US" sz="2499" b="1">
                <a:solidFill>
                  <a:srgbClr val="1C6993"/>
                </a:solidFill>
                <a:latin typeface="Raleway Bold"/>
                <a:ea typeface="Raleway Bold"/>
                <a:cs typeface="Raleway Bold"/>
                <a:sym typeface="Raleway Bold"/>
              </a:rPr>
              <a:t>SPA REQUIREMENT OF SPECIFICITY </a:t>
            </a:r>
          </a:p>
        </p:txBody>
      </p:sp>
      <p:sp>
        <p:nvSpPr>
          <p:cNvPr id="8" name="TextBox 8"/>
          <p:cNvSpPr txBox="1"/>
          <p:nvPr/>
        </p:nvSpPr>
        <p:spPr>
          <a:xfrm>
            <a:off x="11468006" y="2962247"/>
            <a:ext cx="5385386" cy="2604135"/>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000000"/>
                </a:solidFill>
                <a:latin typeface="Raleway Bold"/>
                <a:ea typeface="Raleway Bold"/>
                <a:cs typeface="Raleway Bold"/>
                <a:sym typeface="Raleway Bold"/>
              </a:rPr>
              <a:t>The Special Power of Attorney must be very specific and there should not be any generalization of powers granted. </a:t>
            </a:r>
          </a:p>
          <a:p>
            <a:pPr marL="453390" lvl="1" indent="-226695" algn="l">
              <a:lnSpc>
                <a:spcPts val="2940"/>
              </a:lnSpc>
              <a:buFont typeface="Arial"/>
              <a:buChar char="•"/>
            </a:pPr>
            <a:r>
              <a:rPr lang="en-US" sz="2100" b="1">
                <a:solidFill>
                  <a:srgbClr val="000000"/>
                </a:solidFill>
                <a:latin typeface="Raleway Bold"/>
                <a:ea typeface="Raleway Bold"/>
                <a:cs typeface="Raleway Bold"/>
                <a:sym typeface="Raleway Bold"/>
              </a:rPr>
              <a:t>The nature of work assigned to the Agent must be clearly stated</a:t>
            </a:r>
          </a:p>
          <a:p>
            <a:pPr algn="l">
              <a:lnSpc>
                <a:spcPts val="2940"/>
              </a:lnSpc>
            </a:pPr>
            <a:endParaRPr lang="en-US" sz="2100" b="1">
              <a:solidFill>
                <a:srgbClr val="000000"/>
              </a:solidFill>
              <a:latin typeface="Raleway Bold"/>
              <a:ea typeface="Raleway Bold"/>
              <a:cs typeface="Raleway Bold"/>
              <a:sym typeface="Raleway Bold"/>
            </a:endParaRPr>
          </a:p>
        </p:txBody>
      </p:sp>
      <p:sp>
        <p:nvSpPr>
          <p:cNvPr id="9" name="Freeform 9"/>
          <p:cNvSpPr/>
          <p:nvPr/>
        </p:nvSpPr>
        <p:spPr>
          <a:xfrm rot="-6270082">
            <a:off x="13449948" y="-1008356"/>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0" name="Freeform 10"/>
          <p:cNvSpPr/>
          <p:nvPr/>
        </p:nvSpPr>
        <p:spPr>
          <a:xfrm rot="6289874" flipH="1">
            <a:off x="7043477" y="8478896"/>
            <a:ext cx="6029659" cy="6306682"/>
          </a:xfrm>
          <a:custGeom>
            <a:avLst/>
            <a:gdLst/>
            <a:ahLst/>
            <a:cxnLst/>
            <a:rect l="l" t="t" r="r" b="b"/>
            <a:pathLst>
              <a:path w="6029659" h="6306682">
                <a:moveTo>
                  <a:pt x="6029658" y="0"/>
                </a:moveTo>
                <a:lnTo>
                  <a:pt x="0" y="0"/>
                </a:lnTo>
                <a:lnTo>
                  <a:pt x="0" y="6306681"/>
                </a:lnTo>
                <a:lnTo>
                  <a:pt x="6029658" y="6306681"/>
                </a:lnTo>
                <a:lnTo>
                  <a:pt x="6029658"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7350019" y="2190366"/>
            <a:ext cx="2708287" cy="4114800"/>
          </a:xfrm>
          <a:custGeom>
            <a:avLst/>
            <a:gdLst/>
            <a:ahLst/>
            <a:cxnLst/>
            <a:rect l="l" t="t" r="r" b="b"/>
            <a:pathLst>
              <a:path w="2708287" h="4114800">
                <a:moveTo>
                  <a:pt x="0" y="0"/>
                </a:moveTo>
                <a:lnTo>
                  <a:pt x="2708287" y="0"/>
                </a:lnTo>
                <a:lnTo>
                  <a:pt x="270828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11012177" y="5589726"/>
            <a:ext cx="6075429" cy="869950"/>
          </a:xfrm>
          <a:prstGeom prst="rect">
            <a:avLst/>
          </a:prstGeom>
        </p:spPr>
        <p:txBody>
          <a:bodyPr lIns="0" tIns="0" rIns="0" bIns="0" rtlCol="0" anchor="t">
            <a:spAutoFit/>
          </a:bodyPr>
          <a:lstStyle/>
          <a:p>
            <a:pPr algn="l">
              <a:lnSpc>
                <a:spcPts val="3499"/>
              </a:lnSpc>
            </a:pPr>
            <a:r>
              <a:rPr lang="en-US" sz="2499" b="1">
                <a:solidFill>
                  <a:srgbClr val="1C6993"/>
                </a:solidFill>
                <a:latin typeface="Raleway Bold"/>
                <a:ea typeface="Raleway Bold"/>
                <a:cs typeface="Raleway Bold"/>
                <a:sym typeface="Raleway Bold"/>
              </a:rPr>
              <a:t>SPA – FREQUENTLY USED CASES</a:t>
            </a:r>
          </a:p>
          <a:p>
            <a:pPr algn="l">
              <a:lnSpc>
                <a:spcPts val="3499"/>
              </a:lnSpc>
            </a:pPr>
            <a:endParaRPr lang="en-US" sz="2499" b="1">
              <a:solidFill>
                <a:srgbClr val="1C6993"/>
              </a:solidFill>
              <a:latin typeface="Raleway Bold"/>
              <a:ea typeface="Raleway Bold"/>
              <a:cs typeface="Raleway Bold"/>
              <a:sym typeface="Raleway Bold"/>
            </a:endParaRPr>
          </a:p>
        </p:txBody>
      </p:sp>
      <p:sp>
        <p:nvSpPr>
          <p:cNvPr id="13" name="TextBox 13"/>
          <p:cNvSpPr txBox="1"/>
          <p:nvPr/>
        </p:nvSpPr>
        <p:spPr>
          <a:xfrm>
            <a:off x="-640517" y="2619347"/>
            <a:ext cx="4718520" cy="448310"/>
          </a:xfrm>
          <a:prstGeom prst="rect">
            <a:avLst/>
          </a:prstGeom>
        </p:spPr>
        <p:txBody>
          <a:bodyPr lIns="0" tIns="0" rIns="0" bIns="0" rtlCol="0" anchor="t">
            <a:spAutoFit/>
          </a:bodyPr>
          <a:lstStyle/>
          <a:p>
            <a:pPr algn="r">
              <a:lnSpc>
                <a:spcPts val="3639"/>
              </a:lnSpc>
            </a:pPr>
            <a:r>
              <a:rPr lang="en-US" sz="2599" b="1">
                <a:solidFill>
                  <a:srgbClr val="1C6993"/>
                </a:solidFill>
                <a:latin typeface="Raleway Bold"/>
                <a:ea typeface="Raleway Bold"/>
                <a:cs typeface="Raleway Bold"/>
                <a:sym typeface="Raleway Bold"/>
              </a:rPr>
              <a:t>SPA SCOPE  </a:t>
            </a:r>
          </a:p>
        </p:txBody>
      </p:sp>
      <p:sp>
        <p:nvSpPr>
          <p:cNvPr id="14" name="TextBox 14"/>
          <p:cNvSpPr txBox="1"/>
          <p:nvPr/>
        </p:nvSpPr>
        <p:spPr>
          <a:xfrm>
            <a:off x="553677" y="3234532"/>
            <a:ext cx="5385386" cy="3115945"/>
          </a:xfrm>
          <a:prstGeom prst="rect">
            <a:avLst/>
          </a:prstGeom>
        </p:spPr>
        <p:txBody>
          <a:bodyPr lIns="0" tIns="0" rIns="0" bIns="0" rtlCol="0" anchor="t">
            <a:spAutoFit/>
          </a:bodyPr>
          <a:lstStyle/>
          <a:p>
            <a:pPr algn="just">
              <a:lnSpc>
                <a:spcPts val="3079"/>
              </a:lnSpc>
            </a:pPr>
            <a:r>
              <a:rPr lang="en-US" sz="2199" b="1">
                <a:solidFill>
                  <a:srgbClr val="000000"/>
                </a:solidFill>
                <a:latin typeface="Raleway Bold"/>
                <a:ea typeface="Raleway Bold"/>
                <a:cs typeface="Raleway Bold"/>
                <a:sym typeface="Raleway Bold"/>
              </a:rPr>
              <a:t>In  this PoA, a specific task or transaction is limited to the agent's authority. For example, an SPA might allow the agent to sell a particular piece of property on the principal’s behalf but not to make any other financial decisions. </a:t>
            </a:r>
          </a:p>
          <a:p>
            <a:pPr algn="just">
              <a:lnSpc>
                <a:spcPts val="3079"/>
              </a:lnSpc>
            </a:pPr>
            <a:endParaRPr lang="en-US" sz="2199" b="1">
              <a:solidFill>
                <a:srgbClr val="000000"/>
              </a:solidFill>
              <a:latin typeface="Raleway Bold"/>
              <a:ea typeface="Raleway Bold"/>
              <a:cs typeface="Raleway Bold"/>
              <a:sym typeface="Raleway Bold"/>
            </a:endParaRPr>
          </a:p>
        </p:txBody>
      </p:sp>
      <p:sp>
        <p:nvSpPr>
          <p:cNvPr id="15" name="TextBox 15"/>
          <p:cNvSpPr txBox="1"/>
          <p:nvPr/>
        </p:nvSpPr>
        <p:spPr>
          <a:xfrm>
            <a:off x="584835" y="6113874"/>
            <a:ext cx="4718520" cy="431800"/>
          </a:xfrm>
          <a:prstGeom prst="rect">
            <a:avLst/>
          </a:prstGeom>
        </p:spPr>
        <p:txBody>
          <a:bodyPr lIns="0" tIns="0" rIns="0" bIns="0" rtlCol="0" anchor="t">
            <a:spAutoFit/>
          </a:bodyPr>
          <a:lstStyle/>
          <a:p>
            <a:pPr algn="r">
              <a:lnSpc>
                <a:spcPts val="3499"/>
              </a:lnSpc>
            </a:pPr>
            <a:r>
              <a:rPr lang="en-US" sz="2499" b="1">
                <a:solidFill>
                  <a:srgbClr val="1C6993"/>
                </a:solidFill>
                <a:latin typeface="Raleway Bold"/>
                <a:ea typeface="Raleway Bold"/>
                <a:cs typeface="Raleway Bold"/>
                <a:sym typeface="Raleway Bold"/>
              </a:rPr>
              <a:t>SPA NATURE OF POWERS  </a:t>
            </a:r>
          </a:p>
        </p:txBody>
      </p:sp>
      <p:sp>
        <p:nvSpPr>
          <p:cNvPr id="16" name="TextBox 16"/>
          <p:cNvSpPr txBox="1"/>
          <p:nvPr/>
        </p:nvSpPr>
        <p:spPr>
          <a:xfrm>
            <a:off x="584835" y="6640771"/>
            <a:ext cx="6880426" cy="1636457"/>
          </a:xfrm>
          <a:prstGeom prst="rect">
            <a:avLst/>
          </a:prstGeom>
        </p:spPr>
        <p:txBody>
          <a:bodyPr lIns="0" tIns="0" rIns="0" bIns="0" rtlCol="0" anchor="t">
            <a:spAutoFit/>
          </a:bodyPr>
          <a:lstStyle/>
          <a:p>
            <a:pPr algn="just">
              <a:lnSpc>
                <a:spcPts val="3251"/>
              </a:lnSpc>
            </a:pPr>
            <a:r>
              <a:rPr lang="en-US" sz="2322" b="1">
                <a:solidFill>
                  <a:srgbClr val="000000"/>
                </a:solidFill>
                <a:latin typeface="Raleway Bold"/>
                <a:ea typeface="Raleway Bold"/>
                <a:cs typeface="Raleway Bold"/>
                <a:sym typeface="Raleway Bold"/>
              </a:rPr>
              <a:t>As is apparent from the name it bestows specific or limited powers to the attorney generally restricted to a limited number of tasks or purposes </a:t>
            </a:r>
          </a:p>
        </p:txBody>
      </p:sp>
      <p:sp>
        <p:nvSpPr>
          <p:cNvPr id="17" name="TextBox 17"/>
          <p:cNvSpPr txBox="1"/>
          <p:nvPr/>
        </p:nvSpPr>
        <p:spPr>
          <a:xfrm>
            <a:off x="10928872" y="6248016"/>
            <a:ext cx="7949302" cy="1646555"/>
          </a:xfrm>
          <a:prstGeom prst="rect">
            <a:avLst/>
          </a:prstGeom>
        </p:spPr>
        <p:txBody>
          <a:bodyPr lIns="0" tIns="0" rIns="0" bIns="0" rtlCol="0" anchor="t">
            <a:spAutoFit/>
          </a:bodyPr>
          <a:lstStyle/>
          <a:p>
            <a:pPr algn="l">
              <a:lnSpc>
                <a:spcPts val="3359"/>
              </a:lnSpc>
            </a:pPr>
            <a:r>
              <a:rPr lang="en-US" sz="2399" b="1">
                <a:solidFill>
                  <a:srgbClr val="000000"/>
                </a:solidFill>
                <a:latin typeface="Raleway Bold"/>
                <a:ea typeface="Raleway Bold"/>
                <a:cs typeface="Raleway Bold"/>
                <a:sym typeface="Raleway Bold"/>
              </a:rPr>
              <a:t> • Selling a specific asset</a:t>
            </a:r>
          </a:p>
          <a:p>
            <a:pPr algn="l">
              <a:lnSpc>
                <a:spcPts val="3359"/>
              </a:lnSpc>
            </a:pPr>
            <a:r>
              <a:rPr lang="en-US" sz="2399" b="1">
                <a:solidFill>
                  <a:srgbClr val="000000"/>
                </a:solidFill>
                <a:latin typeface="Raleway Bold"/>
                <a:ea typeface="Raleway Bold"/>
                <a:cs typeface="Raleway Bold"/>
                <a:sym typeface="Raleway Bold"/>
              </a:rPr>
              <a:t> • Defending you in a particular court matter</a:t>
            </a:r>
          </a:p>
          <a:p>
            <a:pPr algn="l">
              <a:lnSpc>
                <a:spcPts val="3359"/>
              </a:lnSpc>
            </a:pPr>
            <a:r>
              <a:rPr lang="en-US" sz="2399" b="1">
                <a:solidFill>
                  <a:srgbClr val="000000"/>
                </a:solidFill>
                <a:latin typeface="Raleway Bold"/>
                <a:ea typeface="Raleway Bold"/>
                <a:cs typeface="Raleway Bold"/>
                <a:sym typeface="Raleway Bold"/>
              </a:rPr>
              <a:t> • Overseeing only one bank account</a:t>
            </a:r>
          </a:p>
          <a:p>
            <a:pPr algn="l">
              <a:lnSpc>
                <a:spcPts val="3079"/>
              </a:lnSpc>
            </a:pPr>
            <a:endParaRPr lang="en-US" sz="2399" b="1">
              <a:solidFill>
                <a:srgbClr val="000000"/>
              </a:solidFill>
              <a:latin typeface="Raleway Bold"/>
              <a:ea typeface="Raleway Bold"/>
              <a:cs typeface="Raleway Bold"/>
              <a:sym typeface="Raleway Bold"/>
            </a:endParaRPr>
          </a:p>
        </p:txBody>
      </p:sp>
      <p:sp>
        <p:nvSpPr>
          <p:cNvPr id="18" name="TextBox 18"/>
          <p:cNvSpPr txBox="1"/>
          <p:nvPr/>
        </p:nvSpPr>
        <p:spPr>
          <a:xfrm>
            <a:off x="14160699" y="9515107"/>
            <a:ext cx="4220667" cy="1029094"/>
          </a:xfrm>
          <a:prstGeom prst="rect">
            <a:avLst/>
          </a:prstGeom>
        </p:spPr>
        <p:txBody>
          <a:bodyPr lIns="0" tIns="0" rIns="0" bIns="0" rtlCol="0" anchor="t">
            <a:spAutoFit/>
          </a:bodyPr>
          <a:lstStyle/>
          <a:p>
            <a:pPr algn="ctr">
              <a:lnSpc>
                <a:spcPts val="4178"/>
              </a:lnSpc>
            </a:pPr>
            <a:r>
              <a:rPr lang="en-US" sz="2984" b="1">
                <a:solidFill>
                  <a:srgbClr val="000000"/>
                </a:solidFill>
                <a:latin typeface="Canva Sans Bold"/>
                <a:ea typeface="Canva Sans Bold"/>
                <a:cs typeface="Canva Sans Bold"/>
                <a:sym typeface="Canva Sans Bold"/>
              </a:rPr>
              <a:t>© Pereira &amp; Associates </a:t>
            </a:r>
          </a:p>
          <a:p>
            <a:pPr algn="ctr">
              <a:lnSpc>
                <a:spcPts val="4178"/>
              </a:lnSpc>
            </a:pPr>
            <a:endParaRPr lang="en-US" sz="2984" b="1">
              <a:solidFill>
                <a:srgbClr val="000000"/>
              </a:solidFill>
              <a:latin typeface="Canva Sans Bold"/>
              <a:ea typeface="Canva Sans Bold"/>
              <a:cs typeface="Canva Sans Bold"/>
              <a:sym typeface="Canva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028700" y="4129133"/>
            <a:ext cx="2244305" cy="2244305"/>
          </a:xfrm>
          <a:custGeom>
            <a:avLst/>
            <a:gdLst/>
            <a:ahLst/>
            <a:cxnLst/>
            <a:rect l="l" t="t" r="r" b="b"/>
            <a:pathLst>
              <a:path w="2244305" h="2244305">
                <a:moveTo>
                  <a:pt x="0" y="0"/>
                </a:moveTo>
                <a:lnTo>
                  <a:pt x="2244305" y="0"/>
                </a:lnTo>
                <a:lnTo>
                  <a:pt x="2244305" y="2244305"/>
                </a:lnTo>
                <a:lnTo>
                  <a:pt x="0" y="22443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6" name="TextBox 6"/>
          <p:cNvSpPr txBox="1"/>
          <p:nvPr/>
        </p:nvSpPr>
        <p:spPr>
          <a:xfrm>
            <a:off x="3780973" y="3484884"/>
            <a:ext cx="10151470" cy="3872678"/>
          </a:xfrm>
          <a:prstGeom prst="rect">
            <a:avLst/>
          </a:prstGeom>
        </p:spPr>
        <p:txBody>
          <a:bodyPr lIns="0" tIns="0" rIns="0" bIns="0" rtlCol="0" anchor="t">
            <a:spAutoFit/>
          </a:bodyPr>
          <a:lstStyle/>
          <a:p>
            <a:pPr marL="600714" lvl="1" indent="-300357" algn="l">
              <a:lnSpc>
                <a:spcPts val="3895"/>
              </a:lnSpc>
              <a:buFont typeface="Arial"/>
              <a:buChar char="•"/>
            </a:pPr>
            <a:r>
              <a:rPr lang="en-US" sz="2782" b="1">
                <a:solidFill>
                  <a:srgbClr val="000000"/>
                </a:solidFill>
                <a:latin typeface="Raleway Bold"/>
                <a:ea typeface="Raleway Bold"/>
                <a:cs typeface="Raleway Bold"/>
                <a:sym typeface="Raleway Bold"/>
              </a:rPr>
              <a:t>In case a property is in the name of more than one person and now the persons want to sell the property but all of them are not able to collectively complete the transaction.</a:t>
            </a:r>
          </a:p>
          <a:p>
            <a:pPr marL="600714" lvl="1" indent="-300357" algn="l">
              <a:lnSpc>
                <a:spcPts val="3895"/>
              </a:lnSpc>
              <a:buFont typeface="Arial"/>
              <a:buChar char="•"/>
            </a:pPr>
            <a:r>
              <a:rPr lang="en-US" sz="2782" b="1">
                <a:solidFill>
                  <a:srgbClr val="000000"/>
                </a:solidFill>
                <a:latin typeface="Raleway Bold"/>
                <a:ea typeface="Raleway Bold"/>
                <a:cs typeface="Raleway Bold"/>
                <a:sym typeface="Raleway Bold"/>
              </a:rPr>
              <a:t> In such a case, all the persons can grant the POA to one person and the person will be able to act on all the owners collectively and complete the transaction</a:t>
            </a:r>
            <a:r>
              <a:rPr lang="en-US" sz="2782">
                <a:solidFill>
                  <a:srgbClr val="000000"/>
                </a:solidFill>
                <a:latin typeface="Raleway"/>
                <a:ea typeface="Raleway"/>
                <a:cs typeface="Raleway"/>
                <a:sym typeface="Raleway"/>
              </a:rPr>
              <a:t>.</a:t>
            </a:r>
          </a:p>
          <a:p>
            <a:pPr algn="l">
              <a:lnSpc>
                <a:spcPts val="3895"/>
              </a:lnSpc>
            </a:pPr>
            <a:endParaRPr lang="en-US" sz="2782">
              <a:solidFill>
                <a:srgbClr val="000000"/>
              </a:solidFill>
              <a:latin typeface="Raleway"/>
              <a:ea typeface="Raleway"/>
              <a:cs typeface="Raleway"/>
              <a:sym typeface="Raleway"/>
            </a:endParaRPr>
          </a:p>
        </p:txBody>
      </p:sp>
      <p:sp>
        <p:nvSpPr>
          <p:cNvPr id="7" name="Freeform 7"/>
          <p:cNvSpPr/>
          <p:nvPr/>
        </p:nvSpPr>
        <p:spPr>
          <a:xfrm>
            <a:off x="15248905" y="3690177"/>
            <a:ext cx="2657266" cy="2464010"/>
          </a:xfrm>
          <a:custGeom>
            <a:avLst/>
            <a:gdLst/>
            <a:ahLst/>
            <a:cxnLst/>
            <a:rect l="l" t="t" r="r" b="b"/>
            <a:pathLst>
              <a:path w="2657266" h="2464010">
                <a:moveTo>
                  <a:pt x="0" y="0"/>
                </a:moveTo>
                <a:lnTo>
                  <a:pt x="2657266" y="0"/>
                </a:lnTo>
                <a:lnTo>
                  <a:pt x="2657266" y="2464010"/>
                </a:lnTo>
                <a:lnTo>
                  <a:pt x="0" y="24640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8" name="TextBox 8"/>
          <p:cNvSpPr txBox="1"/>
          <p:nvPr/>
        </p:nvSpPr>
        <p:spPr>
          <a:xfrm>
            <a:off x="-739226" y="1498599"/>
            <a:ext cx="19766453" cy="727723"/>
          </a:xfrm>
          <a:prstGeom prst="rect">
            <a:avLst/>
          </a:prstGeom>
        </p:spPr>
        <p:txBody>
          <a:bodyPr lIns="0" tIns="0" rIns="0" bIns="0" rtlCol="0" anchor="t">
            <a:spAutoFit/>
          </a:bodyPr>
          <a:lstStyle/>
          <a:p>
            <a:pPr algn="ctr">
              <a:lnSpc>
                <a:spcPts val="5400"/>
              </a:lnSpc>
            </a:pPr>
            <a:r>
              <a:rPr lang="en-US" sz="5400" b="1">
                <a:solidFill>
                  <a:srgbClr val="000000"/>
                </a:solidFill>
                <a:latin typeface="Montserrat Ultra-Bold"/>
                <a:ea typeface="Montserrat Ultra-Bold"/>
                <a:cs typeface="Montserrat Ultra-Bold"/>
                <a:sym typeface="Montserrat Ultra-Bold"/>
              </a:rPr>
              <a:t> POWER OF ATTORNEY BY MORE THAN PERSON </a:t>
            </a:r>
          </a:p>
        </p:txBody>
      </p:sp>
      <p:sp>
        <p:nvSpPr>
          <p:cNvPr id="9" name="TextBox 9"/>
          <p:cNvSpPr txBox="1"/>
          <p:nvPr/>
        </p:nvSpPr>
        <p:spPr>
          <a:xfrm>
            <a:off x="13518952" y="9663430"/>
            <a:ext cx="476904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p:spPr>
        <p:txBody>
          <a:bodyPr/>
          <a:lstStyle/>
          <a:p>
            <a:endParaRPr lang="en-IN"/>
          </a:p>
        </p:txBody>
      </p:sp>
      <p:sp>
        <p:nvSpPr>
          <p:cNvPr id="3" name="Freeform 3"/>
          <p:cNvSpPr/>
          <p:nvPr/>
        </p:nvSpPr>
        <p:spPr>
          <a:xfrm rot="-6270082">
            <a:off x="13449948" y="-1008356"/>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rot="6289874" flipH="1">
            <a:off x="-1179412" y="-1021525"/>
            <a:ext cx="6029659" cy="6306682"/>
          </a:xfrm>
          <a:custGeom>
            <a:avLst/>
            <a:gdLst/>
            <a:ahLst/>
            <a:cxnLst/>
            <a:rect l="l" t="t" r="r" b="b"/>
            <a:pathLst>
              <a:path w="6029659" h="6306682">
                <a:moveTo>
                  <a:pt x="6029659" y="0"/>
                </a:moveTo>
                <a:lnTo>
                  <a:pt x="0" y="0"/>
                </a:lnTo>
                <a:lnTo>
                  <a:pt x="0" y="6306682"/>
                </a:lnTo>
                <a:lnTo>
                  <a:pt x="6029659" y="6306682"/>
                </a:lnTo>
                <a:lnTo>
                  <a:pt x="6029659"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5" name="Group 5"/>
          <p:cNvGrpSpPr/>
          <p:nvPr/>
        </p:nvGrpSpPr>
        <p:grpSpPr>
          <a:xfrm>
            <a:off x="14854323" y="1537198"/>
            <a:ext cx="2404977" cy="7136403"/>
            <a:chOff x="0" y="0"/>
            <a:chExt cx="372594" cy="1105616"/>
          </a:xfrm>
        </p:grpSpPr>
        <p:sp>
          <p:nvSpPr>
            <p:cNvPr id="6" name="Freeform 6"/>
            <p:cNvSpPr/>
            <p:nvPr/>
          </p:nvSpPr>
          <p:spPr>
            <a:xfrm>
              <a:off x="0" y="0"/>
              <a:ext cx="372594" cy="1105616"/>
            </a:xfrm>
            <a:custGeom>
              <a:avLst/>
              <a:gdLst/>
              <a:ahLst/>
              <a:cxnLst/>
              <a:rect l="l" t="t" r="r" b="b"/>
              <a:pathLst>
                <a:path w="372594" h="1105616">
                  <a:moveTo>
                    <a:pt x="64382" y="0"/>
                  </a:moveTo>
                  <a:lnTo>
                    <a:pt x="308211" y="0"/>
                  </a:lnTo>
                  <a:cubicBezTo>
                    <a:pt x="343769" y="0"/>
                    <a:pt x="372594" y="28825"/>
                    <a:pt x="372594" y="64382"/>
                  </a:cubicBezTo>
                  <a:lnTo>
                    <a:pt x="372594" y="1041233"/>
                  </a:lnTo>
                  <a:cubicBezTo>
                    <a:pt x="372594" y="1076791"/>
                    <a:pt x="343769" y="1105616"/>
                    <a:pt x="308211" y="1105616"/>
                  </a:cubicBezTo>
                  <a:lnTo>
                    <a:pt x="64382" y="1105616"/>
                  </a:lnTo>
                  <a:cubicBezTo>
                    <a:pt x="28825" y="1105616"/>
                    <a:pt x="0" y="1076791"/>
                    <a:pt x="0" y="1041233"/>
                  </a:cubicBezTo>
                  <a:lnTo>
                    <a:pt x="0" y="64382"/>
                  </a:lnTo>
                  <a:cubicBezTo>
                    <a:pt x="0" y="28825"/>
                    <a:pt x="28825" y="0"/>
                    <a:pt x="64382" y="0"/>
                  </a:cubicBezTo>
                  <a:close/>
                </a:path>
              </a:pathLst>
            </a:custGeom>
            <a:blipFill>
              <a:blip r:embed="rId6"/>
              <a:stretch>
                <a:fillRect l="-73620" r="-26000"/>
              </a:stretch>
            </a:blipFill>
          </p:spPr>
          <p:txBody>
            <a:bodyPr/>
            <a:lstStyle/>
            <a:p>
              <a:endParaRPr lang="en-IN"/>
            </a:p>
          </p:txBody>
        </p:sp>
      </p:grpSp>
      <p:sp>
        <p:nvSpPr>
          <p:cNvPr id="7" name="Freeform 7"/>
          <p:cNvSpPr/>
          <p:nvPr/>
        </p:nvSpPr>
        <p:spPr>
          <a:xfrm>
            <a:off x="0" y="5713260"/>
            <a:ext cx="5431872" cy="4511946"/>
          </a:xfrm>
          <a:custGeom>
            <a:avLst/>
            <a:gdLst/>
            <a:ahLst/>
            <a:cxnLst/>
            <a:rect l="l" t="t" r="r" b="b"/>
            <a:pathLst>
              <a:path w="5431872" h="4511946">
                <a:moveTo>
                  <a:pt x="0" y="0"/>
                </a:moveTo>
                <a:lnTo>
                  <a:pt x="5431872" y="0"/>
                </a:lnTo>
                <a:lnTo>
                  <a:pt x="5431872" y="4511945"/>
                </a:lnTo>
                <a:lnTo>
                  <a:pt x="0" y="4511945"/>
                </a:lnTo>
                <a:lnTo>
                  <a:pt x="0" y="0"/>
                </a:lnTo>
                <a:close/>
              </a:path>
            </a:pathLst>
          </a:custGeom>
          <a:blipFill>
            <a:blip r:embed="rId7"/>
            <a:stretch>
              <a:fillRect r="-158565"/>
            </a:stretch>
          </a:blipFill>
        </p:spPr>
        <p:txBody>
          <a:bodyPr/>
          <a:lstStyle/>
          <a:p>
            <a:endParaRPr lang="en-IN"/>
          </a:p>
        </p:txBody>
      </p:sp>
      <p:sp>
        <p:nvSpPr>
          <p:cNvPr id="8" name="Freeform 8"/>
          <p:cNvSpPr/>
          <p:nvPr/>
        </p:nvSpPr>
        <p:spPr>
          <a:xfrm>
            <a:off x="9570464" y="5751396"/>
            <a:ext cx="8733252" cy="4511946"/>
          </a:xfrm>
          <a:custGeom>
            <a:avLst/>
            <a:gdLst/>
            <a:ahLst/>
            <a:cxnLst/>
            <a:rect l="l" t="t" r="r" b="b"/>
            <a:pathLst>
              <a:path w="8733252" h="4511946">
                <a:moveTo>
                  <a:pt x="0" y="0"/>
                </a:moveTo>
                <a:lnTo>
                  <a:pt x="8733252" y="0"/>
                </a:lnTo>
                <a:lnTo>
                  <a:pt x="8733252" y="4511946"/>
                </a:lnTo>
                <a:lnTo>
                  <a:pt x="0" y="4511946"/>
                </a:lnTo>
                <a:lnTo>
                  <a:pt x="0" y="0"/>
                </a:lnTo>
                <a:close/>
              </a:path>
            </a:pathLst>
          </a:custGeom>
          <a:blipFill>
            <a:blip r:embed="rId7"/>
            <a:stretch>
              <a:fillRect l="-60821"/>
            </a:stretch>
          </a:blipFill>
        </p:spPr>
        <p:txBody>
          <a:bodyPr/>
          <a:lstStyle/>
          <a:p>
            <a:endParaRPr lang="en-IN"/>
          </a:p>
        </p:txBody>
      </p:sp>
      <p:sp>
        <p:nvSpPr>
          <p:cNvPr id="9" name="AutoShape 9"/>
          <p:cNvSpPr/>
          <p:nvPr/>
        </p:nvSpPr>
        <p:spPr>
          <a:xfrm>
            <a:off x="1751460" y="6722929"/>
            <a:ext cx="12034783" cy="0"/>
          </a:xfrm>
          <a:prstGeom prst="line">
            <a:avLst/>
          </a:prstGeom>
          <a:ln w="19050" cap="rnd">
            <a:solidFill>
              <a:srgbClr val="000000"/>
            </a:solidFill>
            <a:prstDash val="solid"/>
            <a:headEnd type="none" w="sm" len="sm"/>
            <a:tailEnd type="none" w="sm" len="sm"/>
          </a:ln>
        </p:spPr>
        <p:txBody>
          <a:bodyPr/>
          <a:lstStyle/>
          <a:p>
            <a:endParaRPr lang="en-IN"/>
          </a:p>
        </p:txBody>
      </p:sp>
      <p:grpSp>
        <p:nvGrpSpPr>
          <p:cNvPr id="10" name="Group 10"/>
          <p:cNvGrpSpPr/>
          <p:nvPr/>
        </p:nvGrpSpPr>
        <p:grpSpPr>
          <a:xfrm>
            <a:off x="1683318" y="6654787"/>
            <a:ext cx="136285" cy="13628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IN"/>
            </a:p>
          </p:txBody>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13" name="Group 13"/>
          <p:cNvGrpSpPr/>
          <p:nvPr/>
        </p:nvGrpSpPr>
        <p:grpSpPr>
          <a:xfrm>
            <a:off x="4692014" y="6654787"/>
            <a:ext cx="136285" cy="13628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16" name="Group 16"/>
          <p:cNvGrpSpPr/>
          <p:nvPr/>
        </p:nvGrpSpPr>
        <p:grpSpPr>
          <a:xfrm>
            <a:off x="7700709" y="6654787"/>
            <a:ext cx="136285" cy="13628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IN"/>
            </a:p>
          </p:txBody>
        </p:sp>
        <p:sp>
          <p:nvSpPr>
            <p:cNvPr id="18" name="TextBox 18"/>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19" name="Group 19"/>
          <p:cNvGrpSpPr/>
          <p:nvPr/>
        </p:nvGrpSpPr>
        <p:grpSpPr>
          <a:xfrm>
            <a:off x="10709405" y="6654787"/>
            <a:ext cx="136285" cy="13628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22" name="Group 22"/>
          <p:cNvGrpSpPr/>
          <p:nvPr/>
        </p:nvGrpSpPr>
        <p:grpSpPr>
          <a:xfrm>
            <a:off x="13718101" y="6654787"/>
            <a:ext cx="136285" cy="13628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IN"/>
            </a:p>
          </p:txBody>
        </p:sp>
        <p:sp>
          <p:nvSpPr>
            <p:cNvPr id="24" name="TextBox 24"/>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25" name="Group 25"/>
          <p:cNvGrpSpPr/>
          <p:nvPr/>
        </p:nvGrpSpPr>
        <p:grpSpPr>
          <a:xfrm>
            <a:off x="1605914" y="6791072"/>
            <a:ext cx="3776702" cy="3245603"/>
            <a:chOff x="0" y="0"/>
            <a:chExt cx="812800" cy="698500"/>
          </a:xfrm>
        </p:grpSpPr>
        <p:sp>
          <p:nvSpPr>
            <p:cNvPr id="26" name="Freeform 2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4571FF"/>
            </a:solidFill>
          </p:spPr>
          <p:txBody>
            <a:bodyPr/>
            <a:lstStyle/>
            <a:p>
              <a:endParaRPr lang="en-IN"/>
            </a:p>
          </p:txBody>
        </p:sp>
        <p:sp>
          <p:nvSpPr>
            <p:cNvPr id="27" name="TextBox 27"/>
            <p:cNvSpPr txBox="1"/>
            <p:nvPr/>
          </p:nvSpPr>
          <p:spPr>
            <a:xfrm>
              <a:off x="114300" y="-57150"/>
              <a:ext cx="584200" cy="755650"/>
            </a:xfrm>
            <a:prstGeom prst="rect">
              <a:avLst/>
            </a:prstGeom>
          </p:spPr>
          <p:txBody>
            <a:bodyPr lIns="50800" tIns="50800" rIns="50800" bIns="50800" rtlCol="0" anchor="ctr"/>
            <a:lstStyle/>
            <a:p>
              <a:pPr algn="ctr">
                <a:lnSpc>
                  <a:spcPts val="2800"/>
                </a:lnSpc>
              </a:pPr>
              <a:endParaRPr/>
            </a:p>
          </p:txBody>
        </p:sp>
      </p:grpSp>
      <p:sp>
        <p:nvSpPr>
          <p:cNvPr id="28" name="TextBox 28"/>
          <p:cNvSpPr txBox="1"/>
          <p:nvPr/>
        </p:nvSpPr>
        <p:spPr>
          <a:xfrm>
            <a:off x="385501" y="2061832"/>
            <a:ext cx="14630416" cy="684543"/>
          </a:xfrm>
          <a:prstGeom prst="rect">
            <a:avLst/>
          </a:prstGeom>
        </p:spPr>
        <p:txBody>
          <a:bodyPr lIns="0" tIns="0" rIns="0" bIns="0" rtlCol="0" anchor="t">
            <a:spAutoFit/>
          </a:bodyPr>
          <a:lstStyle/>
          <a:p>
            <a:pPr algn="l">
              <a:lnSpc>
                <a:spcPts val="5200"/>
              </a:lnSpc>
            </a:pPr>
            <a:r>
              <a:rPr lang="en-US" sz="5200" b="1">
                <a:solidFill>
                  <a:srgbClr val="000000"/>
                </a:solidFill>
                <a:latin typeface="Montserrat Ultra-Bold"/>
                <a:ea typeface="Montserrat Ultra-Bold"/>
                <a:cs typeface="Montserrat Ultra-Bold"/>
                <a:sym typeface="Montserrat Ultra-Bold"/>
              </a:rPr>
              <a:t>CONTENTS OF POWER OF ATTORNEY </a:t>
            </a:r>
          </a:p>
        </p:txBody>
      </p:sp>
      <p:sp>
        <p:nvSpPr>
          <p:cNvPr id="29" name="TextBox 29"/>
          <p:cNvSpPr txBox="1"/>
          <p:nvPr/>
        </p:nvSpPr>
        <p:spPr>
          <a:xfrm>
            <a:off x="2640425" y="6953537"/>
            <a:ext cx="2440497" cy="3333463"/>
          </a:xfrm>
          <a:prstGeom prst="rect">
            <a:avLst/>
          </a:prstGeom>
        </p:spPr>
        <p:txBody>
          <a:bodyPr lIns="0" tIns="0" rIns="0" bIns="0" rtlCol="0" anchor="t">
            <a:spAutoFit/>
          </a:bodyPr>
          <a:lstStyle/>
          <a:p>
            <a:pPr algn="l">
              <a:lnSpc>
                <a:spcPts val="2640"/>
              </a:lnSpc>
            </a:pPr>
            <a:r>
              <a:rPr lang="en-US" sz="1886" b="1">
                <a:solidFill>
                  <a:srgbClr val="FFFFFF"/>
                </a:solidFill>
                <a:latin typeface="Raleway Bold"/>
                <a:ea typeface="Raleway Bold"/>
                <a:cs typeface="Raleway Bold"/>
                <a:sym typeface="Raleway Bold"/>
              </a:rPr>
              <a:t>1.A clear identification of persons who would be Executor and Attorney, respectively, with their addresses and identity clearly defined.</a:t>
            </a:r>
          </a:p>
          <a:p>
            <a:pPr algn="l">
              <a:lnSpc>
                <a:spcPts val="2640"/>
              </a:lnSpc>
            </a:pPr>
            <a:endParaRPr lang="en-US" sz="1886" b="1">
              <a:solidFill>
                <a:srgbClr val="FFFFFF"/>
              </a:solidFill>
              <a:latin typeface="Raleway Bold"/>
              <a:ea typeface="Raleway Bold"/>
              <a:cs typeface="Raleway Bold"/>
              <a:sym typeface="Raleway Bold"/>
            </a:endParaRPr>
          </a:p>
        </p:txBody>
      </p:sp>
      <p:sp>
        <p:nvSpPr>
          <p:cNvPr id="30" name="TextBox 30"/>
          <p:cNvSpPr txBox="1"/>
          <p:nvPr/>
        </p:nvSpPr>
        <p:spPr>
          <a:xfrm>
            <a:off x="412337" y="3679825"/>
            <a:ext cx="13637555" cy="1976755"/>
          </a:xfrm>
          <a:prstGeom prst="rect">
            <a:avLst/>
          </a:prstGeom>
        </p:spPr>
        <p:txBody>
          <a:bodyPr lIns="0" tIns="0" rIns="0" bIns="0" rtlCol="0" anchor="t">
            <a:spAutoFit/>
          </a:bodyPr>
          <a:lstStyle/>
          <a:p>
            <a:pPr algn="l">
              <a:lnSpc>
                <a:spcPts val="3919"/>
              </a:lnSpc>
            </a:pPr>
            <a:r>
              <a:rPr lang="en-US" sz="2799" b="1">
                <a:solidFill>
                  <a:srgbClr val="000000"/>
                </a:solidFill>
                <a:latin typeface="Raleway Bold"/>
                <a:ea typeface="Raleway Bold"/>
                <a:cs typeface="Raleway Bold"/>
                <a:sym typeface="Raleway Bold"/>
              </a:rPr>
              <a:t>A Power of Attorney document, whether GPA or SPA, is drafted on behalf of the person (Executor) who wishes to appoint a person to conduct tasks on his / her behalf (Attorney).</a:t>
            </a:r>
          </a:p>
          <a:p>
            <a:pPr algn="l">
              <a:lnSpc>
                <a:spcPts val="3919"/>
              </a:lnSpc>
            </a:pPr>
            <a:endParaRPr lang="en-US" sz="2799" b="1">
              <a:solidFill>
                <a:srgbClr val="000000"/>
              </a:solidFill>
              <a:latin typeface="Raleway Bold"/>
              <a:ea typeface="Raleway Bold"/>
              <a:cs typeface="Raleway Bold"/>
              <a:sym typeface="Raleway Bold"/>
            </a:endParaRPr>
          </a:p>
        </p:txBody>
      </p:sp>
      <p:grpSp>
        <p:nvGrpSpPr>
          <p:cNvPr id="31" name="Group 31"/>
          <p:cNvGrpSpPr/>
          <p:nvPr/>
        </p:nvGrpSpPr>
        <p:grpSpPr>
          <a:xfrm>
            <a:off x="5828236" y="6773596"/>
            <a:ext cx="3776702" cy="3245603"/>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4571FF"/>
            </a:solidFill>
          </p:spPr>
          <p:txBody>
            <a:bodyPr/>
            <a:lstStyle/>
            <a:p>
              <a:endParaRPr lang="en-IN"/>
            </a:p>
          </p:txBody>
        </p:sp>
        <p:sp>
          <p:nvSpPr>
            <p:cNvPr id="33" name="TextBox 33"/>
            <p:cNvSpPr txBox="1"/>
            <p:nvPr/>
          </p:nvSpPr>
          <p:spPr>
            <a:xfrm>
              <a:off x="114300" y="-57150"/>
              <a:ext cx="584200" cy="755650"/>
            </a:xfrm>
            <a:prstGeom prst="rect">
              <a:avLst/>
            </a:prstGeom>
          </p:spPr>
          <p:txBody>
            <a:bodyPr lIns="50800" tIns="50800" rIns="50800" bIns="50800" rtlCol="0" anchor="ctr"/>
            <a:lstStyle/>
            <a:p>
              <a:pPr marL="453390" lvl="1" indent="-226695" algn="ctr">
                <a:lnSpc>
                  <a:spcPts val="2940"/>
                </a:lnSpc>
                <a:buAutoNum type="arabicPeriod"/>
              </a:pPr>
              <a:r>
                <a:rPr lang="en-US" sz="2100" b="1">
                  <a:solidFill>
                    <a:srgbClr val="FFFFFF"/>
                  </a:solidFill>
                  <a:latin typeface="Raleway Bold"/>
                  <a:ea typeface="Raleway Bold"/>
                  <a:cs typeface="Raleway Bold"/>
                  <a:sym typeface="Raleway Bold"/>
                </a:rPr>
                <a:t>Registration/authentication of the POA document.</a:t>
              </a:r>
            </a:p>
          </p:txBody>
        </p:sp>
      </p:grpSp>
      <p:grpSp>
        <p:nvGrpSpPr>
          <p:cNvPr id="34" name="Group 34"/>
          <p:cNvGrpSpPr/>
          <p:nvPr/>
        </p:nvGrpSpPr>
        <p:grpSpPr>
          <a:xfrm>
            <a:off x="9338133" y="6740748"/>
            <a:ext cx="3776702" cy="3245603"/>
            <a:chOff x="0" y="0"/>
            <a:chExt cx="812800" cy="698500"/>
          </a:xfrm>
        </p:grpSpPr>
        <p:sp>
          <p:nvSpPr>
            <p:cNvPr id="35" name="Freeform 3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4571FF"/>
            </a:solidFill>
          </p:spPr>
          <p:txBody>
            <a:bodyPr/>
            <a:lstStyle/>
            <a:p>
              <a:endParaRPr lang="en-IN"/>
            </a:p>
          </p:txBody>
        </p:sp>
        <p:sp>
          <p:nvSpPr>
            <p:cNvPr id="36" name="TextBox 36"/>
            <p:cNvSpPr txBox="1"/>
            <p:nvPr/>
          </p:nvSpPr>
          <p:spPr>
            <a:xfrm>
              <a:off x="114300" y="-57150"/>
              <a:ext cx="584200" cy="755650"/>
            </a:xfrm>
            <a:prstGeom prst="rect">
              <a:avLst/>
            </a:prstGeom>
          </p:spPr>
          <p:txBody>
            <a:bodyPr lIns="50800" tIns="50800" rIns="50800" bIns="50800" rtlCol="0" anchor="ctr"/>
            <a:lstStyle/>
            <a:p>
              <a:pPr marL="431801" lvl="1" indent="-215900" algn="ctr">
                <a:lnSpc>
                  <a:spcPts val="2800"/>
                </a:lnSpc>
                <a:buAutoNum type="arabicPeriod"/>
              </a:pPr>
              <a:r>
                <a:rPr lang="en-US" sz="2000" b="1" dirty="0">
                  <a:solidFill>
                    <a:srgbClr val="FFFFFF"/>
                  </a:solidFill>
                  <a:latin typeface="Raleway Semi-Bold"/>
                  <a:ea typeface="Raleway Semi-Bold"/>
                  <a:cs typeface="Raleway Semi-Bold"/>
                  <a:sym typeface="Raleway Semi-Bold"/>
                </a:rPr>
                <a:t>A clear and careful definition of the powers that need to be transferred to the Attorney</a:t>
              </a:r>
            </a:p>
          </p:txBody>
        </p:sp>
      </p:grpSp>
      <p:sp>
        <p:nvSpPr>
          <p:cNvPr id="37" name="TextBox 37"/>
          <p:cNvSpPr txBox="1"/>
          <p:nvPr/>
        </p:nvSpPr>
        <p:spPr>
          <a:xfrm>
            <a:off x="12496800" y="9565183"/>
            <a:ext cx="5657363" cy="917239"/>
          </a:xfrm>
          <a:prstGeom prst="rect">
            <a:avLst/>
          </a:prstGeom>
        </p:spPr>
        <p:txBody>
          <a:bodyPr wrap="square" lIns="0" tIns="0" rIns="0" bIns="0" rtlCol="0" anchor="t">
            <a:spAutoFit/>
          </a:bodyPr>
          <a:lstStyle/>
          <a:p>
            <a:pPr algn="ctr">
              <a:lnSpc>
                <a:spcPts val="3674"/>
              </a:lnSpc>
            </a:pPr>
            <a:r>
              <a:rPr lang="en-US" sz="2624" b="1" dirty="0">
                <a:solidFill>
                  <a:srgbClr val="000000"/>
                </a:solidFill>
                <a:latin typeface="Canva Sans Bold"/>
                <a:ea typeface="Canva Sans Bold"/>
                <a:cs typeface="Canva Sans Bold"/>
                <a:sym typeface="Canva Sans Bold"/>
              </a:rPr>
              <a:t>© Pereira &amp; Associates </a:t>
            </a:r>
          </a:p>
          <a:p>
            <a:pPr algn="ctr">
              <a:lnSpc>
                <a:spcPts val="3674"/>
              </a:lnSpc>
            </a:pPr>
            <a:endParaRPr lang="en-US" sz="2624" b="1" dirty="0">
              <a:solidFill>
                <a:srgbClr val="000000"/>
              </a:solidFill>
              <a:latin typeface="Canva Sans Bold"/>
              <a:ea typeface="Canva Sans Bold"/>
              <a:cs typeface="Canva Sans Bold"/>
              <a:sym typeface="Canva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028700" y="4129133"/>
            <a:ext cx="2244305" cy="2244305"/>
          </a:xfrm>
          <a:custGeom>
            <a:avLst/>
            <a:gdLst/>
            <a:ahLst/>
            <a:cxnLst/>
            <a:rect l="l" t="t" r="r" b="b"/>
            <a:pathLst>
              <a:path w="2244305" h="2244305">
                <a:moveTo>
                  <a:pt x="0" y="0"/>
                </a:moveTo>
                <a:lnTo>
                  <a:pt x="2244305" y="0"/>
                </a:lnTo>
                <a:lnTo>
                  <a:pt x="2244305" y="2244305"/>
                </a:lnTo>
                <a:lnTo>
                  <a:pt x="0" y="22443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6" name="TextBox 6"/>
          <p:cNvSpPr txBox="1"/>
          <p:nvPr/>
        </p:nvSpPr>
        <p:spPr>
          <a:xfrm>
            <a:off x="3675058" y="4239577"/>
            <a:ext cx="10151470" cy="2243268"/>
          </a:xfrm>
          <a:prstGeom prst="rect">
            <a:avLst/>
          </a:prstGeom>
        </p:spPr>
        <p:txBody>
          <a:bodyPr lIns="0" tIns="0" rIns="0" bIns="0" rtlCol="0" anchor="t">
            <a:spAutoFit/>
          </a:bodyPr>
          <a:lstStyle/>
          <a:p>
            <a:pPr marL="687072" lvl="1" indent="-343536" algn="just">
              <a:lnSpc>
                <a:spcPts val="4455"/>
              </a:lnSpc>
              <a:buFont typeface="Arial"/>
              <a:buChar char="•"/>
            </a:pPr>
            <a:r>
              <a:rPr lang="en-US" sz="3182" b="1">
                <a:solidFill>
                  <a:srgbClr val="000000"/>
                </a:solidFill>
                <a:latin typeface="Raleway Bold"/>
                <a:ea typeface="Raleway Bold"/>
                <a:cs typeface="Raleway Bold"/>
                <a:sym typeface="Raleway Bold"/>
              </a:rPr>
              <a:t>A POA is valid until the principal revokes it, the specified task is completed (for an SPA), or upon the death of either the principal or the agent.</a:t>
            </a:r>
          </a:p>
          <a:p>
            <a:pPr algn="just">
              <a:lnSpc>
                <a:spcPts val="4455"/>
              </a:lnSpc>
            </a:pPr>
            <a:endParaRPr lang="en-US" sz="3182" b="1">
              <a:solidFill>
                <a:srgbClr val="000000"/>
              </a:solidFill>
              <a:latin typeface="Raleway Bold"/>
              <a:ea typeface="Raleway Bold"/>
              <a:cs typeface="Raleway Bold"/>
              <a:sym typeface="Raleway Bold"/>
            </a:endParaRPr>
          </a:p>
        </p:txBody>
      </p:sp>
      <p:sp>
        <p:nvSpPr>
          <p:cNvPr id="7" name="Freeform 7"/>
          <p:cNvSpPr/>
          <p:nvPr/>
        </p:nvSpPr>
        <p:spPr>
          <a:xfrm>
            <a:off x="15248905" y="3690177"/>
            <a:ext cx="2657266" cy="2464010"/>
          </a:xfrm>
          <a:custGeom>
            <a:avLst/>
            <a:gdLst/>
            <a:ahLst/>
            <a:cxnLst/>
            <a:rect l="l" t="t" r="r" b="b"/>
            <a:pathLst>
              <a:path w="2657266" h="2464010">
                <a:moveTo>
                  <a:pt x="0" y="0"/>
                </a:moveTo>
                <a:lnTo>
                  <a:pt x="2657266" y="0"/>
                </a:lnTo>
                <a:lnTo>
                  <a:pt x="2657266" y="2464010"/>
                </a:lnTo>
                <a:lnTo>
                  <a:pt x="0" y="24640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sp>
        <p:nvSpPr>
          <p:cNvPr id="8" name="TextBox 8"/>
          <p:cNvSpPr txBox="1"/>
          <p:nvPr/>
        </p:nvSpPr>
        <p:spPr>
          <a:xfrm>
            <a:off x="-739226" y="1498599"/>
            <a:ext cx="19766453" cy="727723"/>
          </a:xfrm>
          <a:prstGeom prst="rect">
            <a:avLst/>
          </a:prstGeom>
        </p:spPr>
        <p:txBody>
          <a:bodyPr lIns="0" tIns="0" rIns="0" bIns="0" rtlCol="0" anchor="t">
            <a:spAutoFit/>
          </a:bodyPr>
          <a:lstStyle/>
          <a:p>
            <a:pPr algn="ctr">
              <a:lnSpc>
                <a:spcPts val="5400"/>
              </a:lnSpc>
            </a:pPr>
            <a:r>
              <a:rPr lang="en-US" sz="5400" b="1">
                <a:solidFill>
                  <a:srgbClr val="000000"/>
                </a:solidFill>
                <a:latin typeface="Montserrat Ultra-Bold"/>
                <a:ea typeface="Montserrat Ultra-Bold"/>
                <a:cs typeface="Montserrat Ultra-Bold"/>
                <a:sym typeface="Montserrat Ultra-Bold"/>
              </a:rPr>
              <a:t> VALIDITY OF POWER OF ATTORNEY </a:t>
            </a:r>
          </a:p>
        </p:txBody>
      </p:sp>
      <p:sp>
        <p:nvSpPr>
          <p:cNvPr id="9" name="TextBox 9"/>
          <p:cNvSpPr txBox="1"/>
          <p:nvPr/>
        </p:nvSpPr>
        <p:spPr>
          <a:xfrm>
            <a:off x="13640395" y="9463630"/>
            <a:ext cx="4526161" cy="1099820"/>
          </a:xfrm>
          <a:prstGeom prst="rect">
            <a:avLst/>
          </a:prstGeom>
        </p:spPr>
        <p:txBody>
          <a:bodyPr lIns="0" tIns="0" rIns="0" bIns="0" rtlCol="0" anchor="t">
            <a:spAutoFit/>
          </a:bodyPr>
          <a:lstStyle/>
          <a:p>
            <a:pPr algn="ctr">
              <a:lnSpc>
                <a:spcPts val="4480"/>
              </a:lnSpc>
            </a:pPr>
            <a:r>
              <a:rPr lang="en-US" sz="3200" b="1">
                <a:solidFill>
                  <a:srgbClr val="000000"/>
                </a:solidFill>
                <a:latin typeface="Canva Sans Bold"/>
                <a:ea typeface="Canva Sans Bold"/>
                <a:cs typeface="Canva Sans Bold"/>
                <a:sym typeface="Canva Sans Bold"/>
              </a:rPr>
              <a:t>© Pereira &amp; Associates </a:t>
            </a:r>
          </a:p>
          <a:p>
            <a:pPr algn="ctr">
              <a:lnSpc>
                <a:spcPts val="4480"/>
              </a:lnSpc>
            </a:pPr>
            <a:endParaRPr lang="en-US" sz="3200" b="1">
              <a:solidFill>
                <a:srgbClr val="000000"/>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449948" y="-1008356"/>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6289874" flipH="1">
            <a:off x="-1179412" y="-1021525"/>
            <a:ext cx="6029659" cy="6306682"/>
          </a:xfrm>
          <a:custGeom>
            <a:avLst/>
            <a:gdLst/>
            <a:ahLst/>
            <a:cxnLst/>
            <a:rect l="l" t="t" r="r" b="b"/>
            <a:pathLst>
              <a:path w="6029659" h="6306682">
                <a:moveTo>
                  <a:pt x="6029659" y="0"/>
                </a:moveTo>
                <a:lnTo>
                  <a:pt x="0" y="0"/>
                </a:lnTo>
                <a:lnTo>
                  <a:pt x="0" y="6306682"/>
                </a:lnTo>
                <a:lnTo>
                  <a:pt x="6029659" y="6306682"/>
                </a:lnTo>
                <a:lnTo>
                  <a:pt x="6029659"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28518" y="6533409"/>
            <a:ext cx="5431872" cy="4511946"/>
          </a:xfrm>
          <a:custGeom>
            <a:avLst/>
            <a:gdLst/>
            <a:ahLst/>
            <a:cxnLst/>
            <a:rect l="l" t="t" r="r" b="b"/>
            <a:pathLst>
              <a:path w="5431872" h="4511946">
                <a:moveTo>
                  <a:pt x="0" y="0"/>
                </a:moveTo>
                <a:lnTo>
                  <a:pt x="5431873" y="0"/>
                </a:lnTo>
                <a:lnTo>
                  <a:pt x="5431873" y="4511946"/>
                </a:lnTo>
                <a:lnTo>
                  <a:pt x="0" y="4511946"/>
                </a:lnTo>
                <a:lnTo>
                  <a:pt x="0" y="0"/>
                </a:lnTo>
                <a:close/>
              </a:path>
            </a:pathLst>
          </a:custGeom>
          <a:blipFill>
            <a:blip r:embed="rId5"/>
            <a:stretch>
              <a:fillRect r="-158565"/>
            </a:stretch>
          </a:blipFill>
        </p:spPr>
        <p:txBody>
          <a:bodyPr/>
          <a:lstStyle/>
          <a:p>
            <a:endParaRPr lang="en-IN"/>
          </a:p>
        </p:txBody>
      </p:sp>
      <p:sp>
        <p:nvSpPr>
          <p:cNvPr id="6" name="Freeform 6"/>
          <p:cNvSpPr/>
          <p:nvPr/>
        </p:nvSpPr>
        <p:spPr>
          <a:xfrm>
            <a:off x="9683266" y="6533409"/>
            <a:ext cx="8733252" cy="4511946"/>
          </a:xfrm>
          <a:custGeom>
            <a:avLst/>
            <a:gdLst/>
            <a:ahLst/>
            <a:cxnLst/>
            <a:rect l="l" t="t" r="r" b="b"/>
            <a:pathLst>
              <a:path w="8733252" h="4511946">
                <a:moveTo>
                  <a:pt x="0" y="0"/>
                </a:moveTo>
                <a:lnTo>
                  <a:pt x="8733252" y="0"/>
                </a:lnTo>
                <a:lnTo>
                  <a:pt x="8733252" y="4511946"/>
                </a:lnTo>
                <a:lnTo>
                  <a:pt x="0" y="4511946"/>
                </a:lnTo>
                <a:lnTo>
                  <a:pt x="0" y="0"/>
                </a:lnTo>
                <a:close/>
              </a:path>
            </a:pathLst>
          </a:custGeom>
          <a:blipFill>
            <a:blip r:embed="rId5"/>
            <a:stretch>
              <a:fillRect l="-60821"/>
            </a:stretch>
          </a:blipFill>
        </p:spPr>
        <p:txBody>
          <a:bodyPr/>
          <a:lstStyle/>
          <a:p>
            <a:endParaRPr lang="en-IN"/>
          </a:p>
        </p:txBody>
      </p:sp>
      <p:grpSp>
        <p:nvGrpSpPr>
          <p:cNvPr id="7" name="Group 7"/>
          <p:cNvGrpSpPr/>
          <p:nvPr/>
        </p:nvGrpSpPr>
        <p:grpSpPr>
          <a:xfrm>
            <a:off x="1955993" y="5519205"/>
            <a:ext cx="3816485" cy="3072532"/>
            <a:chOff x="0" y="0"/>
            <a:chExt cx="1005165" cy="809226"/>
          </a:xfrm>
        </p:grpSpPr>
        <p:sp>
          <p:nvSpPr>
            <p:cNvPr id="8" name="Freeform 8"/>
            <p:cNvSpPr/>
            <p:nvPr/>
          </p:nvSpPr>
          <p:spPr>
            <a:xfrm>
              <a:off x="0" y="0"/>
              <a:ext cx="1005165" cy="809226"/>
            </a:xfrm>
            <a:custGeom>
              <a:avLst/>
              <a:gdLst/>
              <a:ahLst/>
              <a:cxnLst/>
              <a:rect l="l" t="t" r="r" b="b"/>
              <a:pathLst>
                <a:path w="1005165" h="809226">
                  <a:moveTo>
                    <a:pt x="40571" y="0"/>
                  </a:moveTo>
                  <a:lnTo>
                    <a:pt x="964594" y="0"/>
                  </a:lnTo>
                  <a:cubicBezTo>
                    <a:pt x="975354" y="0"/>
                    <a:pt x="985673" y="4274"/>
                    <a:pt x="993282" y="11883"/>
                  </a:cubicBezTo>
                  <a:cubicBezTo>
                    <a:pt x="1000890" y="19491"/>
                    <a:pt x="1005165" y="29811"/>
                    <a:pt x="1005165" y="40571"/>
                  </a:cubicBezTo>
                  <a:lnTo>
                    <a:pt x="1005165" y="768656"/>
                  </a:lnTo>
                  <a:cubicBezTo>
                    <a:pt x="1005165" y="791062"/>
                    <a:pt x="987001" y="809226"/>
                    <a:pt x="964594" y="809226"/>
                  </a:cubicBezTo>
                  <a:lnTo>
                    <a:pt x="40571" y="809226"/>
                  </a:lnTo>
                  <a:cubicBezTo>
                    <a:pt x="29811" y="809226"/>
                    <a:pt x="19491" y="804952"/>
                    <a:pt x="11883" y="797344"/>
                  </a:cubicBezTo>
                  <a:cubicBezTo>
                    <a:pt x="4274" y="789735"/>
                    <a:pt x="0" y="779416"/>
                    <a:pt x="0" y="768656"/>
                  </a:cubicBezTo>
                  <a:lnTo>
                    <a:pt x="0" y="40571"/>
                  </a:lnTo>
                  <a:cubicBezTo>
                    <a:pt x="0" y="29811"/>
                    <a:pt x="4274" y="19491"/>
                    <a:pt x="11883" y="11883"/>
                  </a:cubicBezTo>
                  <a:cubicBezTo>
                    <a:pt x="19491" y="4274"/>
                    <a:pt x="29811" y="0"/>
                    <a:pt x="40571" y="0"/>
                  </a:cubicBezTo>
                  <a:close/>
                </a:path>
              </a:pathLst>
            </a:custGeom>
            <a:solidFill>
              <a:srgbClr val="000000">
                <a:alpha val="0"/>
              </a:srgbClr>
            </a:solidFill>
            <a:ln w="114300" cap="sq">
              <a:solidFill>
                <a:srgbClr val="000000"/>
              </a:solidFill>
              <a:prstDash val="solid"/>
              <a:miter/>
            </a:ln>
          </p:spPr>
          <p:txBody>
            <a:bodyPr/>
            <a:lstStyle/>
            <a:p>
              <a:endParaRPr lang="en-IN"/>
            </a:p>
          </p:txBody>
        </p:sp>
        <p:sp>
          <p:nvSpPr>
            <p:cNvPr id="9" name="TextBox 9"/>
            <p:cNvSpPr txBox="1"/>
            <p:nvPr/>
          </p:nvSpPr>
          <p:spPr>
            <a:xfrm>
              <a:off x="0" y="-57150"/>
              <a:ext cx="1005165" cy="866376"/>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6848462" y="5934695"/>
            <a:ext cx="6032687" cy="2184400"/>
          </a:xfrm>
          <a:prstGeom prst="rect">
            <a:avLst/>
          </a:prstGeom>
        </p:spPr>
        <p:txBody>
          <a:bodyPr lIns="0" tIns="0" rIns="0" bIns="0" rtlCol="0" anchor="t">
            <a:spAutoFit/>
          </a:bodyPr>
          <a:lstStyle/>
          <a:p>
            <a:pPr algn="ctr">
              <a:lnSpc>
                <a:spcPts val="3499"/>
              </a:lnSpc>
            </a:pPr>
            <a:r>
              <a:rPr lang="en-US" sz="2499" b="1">
                <a:solidFill>
                  <a:srgbClr val="000000"/>
                </a:solidFill>
                <a:latin typeface="Raleway Bold"/>
                <a:ea typeface="Raleway Bold"/>
                <a:cs typeface="Raleway Bold"/>
                <a:sym typeface="Raleway Bold"/>
              </a:rPr>
              <a:t>For a power of attorney for property registration in Mumbai, the stamp duty is calculated as a percentage of the property's market value (typically 5% in municipal areas).</a:t>
            </a:r>
          </a:p>
        </p:txBody>
      </p:sp>
      <p:grpSp>
        <p:nvGrpSpPr>
          <p:cNvPr id="11" name="Group 11"/>
          <p:cNvGrpSpPr/>
          <p:nvPr/>
        </p:nvGrpSpPr>
        <p:grpSpPr>
          <a:xfrm>
            <a:off x="6848462" y="5454568"/>
            <a:ext cx="7045333" cy="3201804"/>
            <a:chOff x="0" y="0"/>
            <a:chExt cx="1855561" cy="843274"/>
          </a:xfrm>
        </p:grpSpPr>
        <p:sp>
          <p:nvSpPr>
            <p:cNvPr id="12" name="Freeform 12"/>
            <p:cNvSpPr/>
            <p:nvPr/>
          </p:nvSpPr>
          <p:spPr>
            <a:xfrm>
              <a:off x="0" y="0"/>
              <a:ext cx="1855561" cy="843274"/>
            </a:xfrm>
            <a:custGeom>
              <a:avLst/>
              <a:gdLst/>
              <a:ahLst/>
              <a:cxnLst/>
              <a:rect l="l" t="t" r="r" b="b"/>
              <a:pathLst>
                <a:path w="1855561" h="843274">
                  <a:moveTo>
                    <a:pt x="21977" y="0"/>
                  </a:moveTo>
                  <a:lnTo>
                    <a:pt x="1833584" y="0"/>
                  </a:lnTo>
                  <a:cubicBezTo>
                    <a:pt x="1839412" y="0"/>
                    <a:pt x="1845002" y="2315"/>
                    <a:pt x="1849124" y="6437"/>
                  </a:cubicBezTo>
                  <a:cubicBezTo>
                    <a:pt x="1853245" y="10559"/>
                    <a:pt x="1855561" y="16149"/>
                    <a:pt x="1855561" y="21977"/>
                  </a:cubicBezTo>
                  <a:lnTo>
                    <a:pt x="1855561" y="821296"/>
                  </a:lnTo>
                  <a:cubicBezTo>
                    <a:pt x="1855561" y="827125"/>
                    <a:pt x="1853245" y="832715"/>
                    <a:pt x="1849124" y="836837"/>
                  </a:cubicBezTo>
                  <a:cubicBezTo>
                    <a:pt x="1845002" y="840958"/>
                    <a:pt x="1839412" y="843274"/>
                    <a:pt x="1833584" y="843274"/>
                  </a:cubicBezTo>
                  <a:lnTo>
                    <a:pt x="21977" y="843274"/>
                  </a:lnTo>
                  <a:cubicBezTo>
                    <a:pt x="16149" y="843274"/>
                    <a:pt x="10559" y="840958"/>
                    <a:pt x="6437" y="836837"/>
                  </a:cubicBezTo>
                  <a:cubicBezTo>
                    <a:pt x="2315" y="832715"/>
                    <a:pt x="0" y="827125"/>
                    <a:pt x="0" y="821296"/>
                  </a:cubicBezTo>
                  <a:lnTo>
                    <a:pt x="0" y="21977"/>
                  </a:lnTo>
                  <a:cubicBezTo>
                    <a:pt x="0" y="16149"/>
                    <a:pt x="2315" y="10559"/>
                    <a:pt x="6437" y="6437"/>
                  </a:cubicBezTo>
                  <a:cubicBezTo>
                    <a:pt x="10559" y="2315"/>
                    <a:pt x="16149" y="0"/>
                    <a:pt x="21977" y="0"/>
                  </a:cubicBezTo>
                  <a:close/>
                </a:path>
              </a:pathLst>
            </a:custGeom>
            <a:solidFill>
              <a:srgbClr val="000000">
                <a:alpha val="0"/>
              </a:srgbClr>
            </a:solidFill>
            <a:ln w="104775" cap="sq">
              <a:solidFill>
                <a:srgbClr val="000000"/>
              </a:solidFill>
              <a:prstDash val="solid"/>
              <a:miter/>
            </a:ln>
          </p:spPr>
          <p:txBody>
            <a:bodyPr/>
            <a:lstStyle/>
            <a:p>
              <a:endParaRPr lang="en-IN"/>
            </a:p>
          </p:txBody>
        </p:sp>
        <p:sp>
          <p:nvSpPr>
            <p:cNvPr id="13" name="TextBox 13"/>
            <p:cNvSpPr txBox="1"/>
            <p:nvPr/>
          </p:nvSpPr>
          <p:spPr>
            <a:xfrm>
              <a:off x="0" y="-57150"/>
              <a:ext cx="1855561" cy="900424"/>
            </a:xfrm>
            <a:prstGeom prst="rect">
              <a:avLst/>
            </a:prstGeom>
          </p:spPr>
          <p:txBody>
            <a:bodyPr lIns="50800" tIns="50800" rIns="50800" bIns="50800" rtlCol="0" anchor="ctr"/>
            <a:lstStyle/>
            <a:p>
              <a:pPr algn="ctr">
                <a:lnSpc>
                  <a:spcPts val="2940"/>
                </a:lnSpc>
              </a:pPr>
              <a:endParaRPr/>
            </a:p>
          </p:txBody>
        </p:sp>
      </p:grpSp>
      <p:sp>
        <p:nvSpPr>
          <p:cNvPr id="14" name="Freeform 14"/>
          <p:cNvSpPr/>
          <p:nvPr/>
        </p:nvSpPr>
        <p:spPr>
          <a:xfrm>
            <a:off x="10821044" y="0"/>
            <a:ext cx="2596666" cy="2596666"/>
          </a:xfrm>
          <a:custGeom>
            <a:avLst/>
            <a:gdLst/>
            <a:ahLst/>
            <a:cxnLst/>
            <a:rect l="l" t="t" r="r" b="b"/>
            <a:pathLst>
              <a:path w="2596666" h="2596666">
                <a:moveTo>
                  <a:pt x="0" y="0"/>
                </a:moveTo>
                <a:lnTo>
                  <a:pt x="2596666" y="0"/>
                </a:lnTo>
                <a:lnTo>
                  <a:pt x="2596666" y="2596666"/>
                </a:lnTo>
                <a:lnTo>
                  <a:pt x="0" y="25966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5" name="TextBox 15"/>
          <p:cNvSpPr txBox="1"/>
          <p:nvPr/>
        </p:nvSpPr>
        <p:spPr>
          <a:xfrm>
            <a:off x="260214" y="908435"/>
            <a:ext cx="10907468" cy="673967"/>
          </a:xfrm>
          <a:prstGeom prst="rect">
            <a:avLst/>
          </a:prstGeom>
        </p:spPr>
        <p:txBody>
          <a:bodyPr wrap="square" lIns="0" tIns="0" rIns="0" bIns="0" rtlCol="0" anchor="t">
            <a:spAutoFit/>
          </a:bodyPr>
          <a:lstStyle/>
          <a:p>
            <a:pPr algn="ctr">
              <a:lnSpc>
                <a:spcPts val="5739"/>
              </a:lnSpc>
            </a:pPr>
            <a:r>
              <a:rPr lang="en-US" sz="4099" b="1" dirty="0">
                <a:solidFill>
                  <a:srgbClr val="000000"/>
                </a:solidFill>
                <a:latin typeface="Raleway Bold"/>
                <a:ea typeface="Raleway Bold"/>
                <a:cs typeface="Raleway Bold"/>
                <a:sym typeface="Raleway Bold"/>
              </a:rPr>
              <a:t>CONTINUATION AND REVOCATION </a:t>
            </a:r>
          </a:p>
        </p:txBody>
      </p:sp>
      <p:sp>
        <p:nvSpPr>
          <p:cNvPr id="16" name="TextBox 16"/>
          <p:cNvSpPr txBox="1"/>
          <p:nvPr/>
        </p:nvSpPr>
        <p:spPr>
          <a:xfrm>
            <a:off x="142012" y="2364104"/>
            <a:ext cx="18003976" cy="2159636"/>
          </a:xfrm>
          <a:prstGeom prst="rect">
            <a:avLst/>
          </a:prstGeom>
        </p:spPr>
        <p:txBody>
          <a:bodyPr lIns="0" tIns="0" rIns="0" bIns="0" rtlCol="0" anchor="t">
            <a:spAutoFit/>
          </a:bodyPr>
          <a:lstStyle/>
          <a:p>
            <a:pPr algn="just">
              <a:lnSpc>
                <a:spcPts val="4339"/>
              </a:lnSpc>
            </a:pPr>
            <a:r>
              <a:rPr lang="en-US" sz="3099" b="1" dirty="0">
                <a:solidFill>
                  <a:srgbClr val="1C6993"/>
                </a:solidFill>
                <a:latin typeface="Raleway Bold"/>
                <a:ea typeface="Raleway Bold"/>
                <a:cs typeface="Raleway Bold"/>
                <a:sym typeface="Raleway Bold"/>
              </a:rPr>
              <a:t>Generally, a Power of Attorney continues to remain valid and in force during the lifetime of the executor. However, the same may be revoked or cancelled at any time so long as the executor is mentally fit and competent.</a:t>
            </a:r>
          </a:p>
          <a:p>
            <a:pPr algn="just">
              <a:lnSpc>
                <a:spcPts val="4339"/>
              </a:lnSpc>
            </a:pPr>
            <a:endParaRPr lang="en-US" sz="3099" b="1" dirty="0">
              <a:solidFill>
                <a:srgbClr val="1C6993"/>
              </a:solidFill>
              <a:latin typeface="Raleway Bold"/>
              <a:ea typeface="Raleway Bold"/>
              <a:cs typeface="Raleway Bold"/>
              <a:sym typeface="Raleway Bold"/>
            </a:endParaRPr>
          </a:p>
        </p:txBody>
      </p:sp>
      <p:sp>
        <p:nvSpPr>
          <p:cNvPr id="17" name="TextBox 17"/>
          <p:cNvSpPr txBox="1"/>
          <p:nvPr/>
        </p:nvSpPr>
        <p:spPr>
          <a:xfrm>
            <a:off x="2222774" y="6061389"/>
            <a:ext cx="3282922" cy="1673382"/>
          </a:xfrm>
          <a:prstGeom prst="rect">
            <a:avLst/>
          </a:prstGeom>
        </p:spPr>
        <p:txBody>
          <a:bodyPr lIns="0" tIns="0" rIns="0" bIns="0" rtlCol="0" anchor="t">
            <a:spAutoFit/>
          </a:bodyPr>
          <a:lstStyle/>
          <a:p>
            <a:pPr algn="just">
              <a:lnSpc>
                <a:spcPts val="3316"/>
              </a:lnSpc>
            </a:pPr>
            <a:r>
              <a:rPr lang="en-US" sz="2368" b="1">
                <a:solidFill>
                  <a:srgbClr val="000000"/>
                </a:solidFill>
                <a:latin typeface="Raleway Bold"/>
                <a:ea typeface="Raleway Bold"/>
                <a:cs typeface="Raleway Bold"/>
                <a:sym typeface="Raleway Bold"/>
              </a:rPr>
              <a:t>For POAs not related to property, a fixed stamp duty (typically ₹500) is applicable</a:t>
            </a:r>
          </a:p>
        </p:txBody>
      </p:sp>
      <p:sp>
        <p:nvSpPr>
          <p:cNvPr id="18" name="TextBox 18"/>
          <p:cNvSpPr txBox="1"/>
          <p:nvPr/>
        </p:nvSpPr>
        <p:spPr>
          <a:xfrm>
            <a:off x="3409512" y="4438014"/>
            <a:ext cx="8709864" cy="705486"/>
          </a:xfrm>
          <a:prstGeom prst="rect">
            <a:avLst/>
          </a:prstGeom>
        </p:spPr>
        <p:txBody>
          <a:bodyPr lIns="0" tIns="0" rIns="0" bIns="0" rtlCol="0" anchor="t">
            <a:spAutoFit/>
          </a:bodyPr>
          <a:lstStyle/>
          <a:p>
            <a:pPr algn="ctr">
              <a:lnSpc>
                <a:spcPts val="5739"/>
              </a:lnSpc>
            </a:pPr>
            <a:r>
              <a:rPr lang="en-US" sz="4099" b="1">
                <a:solidFill>
                  <a:srgbClr val="000000"/>
                </a:solidFill>
                <a:latin typeface="Raleway Bold"/>
                <a:ea typeface="Raleway Bold"/>
                <a:cs typeface="Raleway Bold"/>
                <a:sym typeface="Raleway Bold"/>
              </a:rPr>
              <a:t>STAMP DUTY </a:t>
            </a:r>
          </a:p>
        </p:txBody>
      </p:sp>
      <p:sp>
        <p:nvSpPr>
          <p:cNvPr id="19" name="TextBox 19"/>
          <p:cNvSpPr txBox="1"/>
          <p:nvPr/>
        </p:nvSpPr>
        <p:spPr>
          <a:xfrm>
            <a:off x="14389585" y="9567073"/>
            <a:ext cx="3756403" cy="922577"/>
          </a:xfrm>
          <a:prstGeom prst="rect">
            <a:avLst/>
          </a:prstGeom>
        </p:spPr>
        <p:txBody>
          <a:bodyPr lIns="0" tIns="0" rIns="0" bIns="0" rtlCol="0" anchor="t">
            <a:spAutoFit/>
          </a:bodyPr>
          <a:lstStyle/>
          <a:p>
            <a:pPr algn="ctr">
              <a:lnSpc>
                <a:spcPts val="3749"/>
              </a:lnSpc>
            </a:pPr>
            <a:r>
              <a:rPr lang="en-US" sz="2678" b="1">
                <a:solidFill>
                  <a:srgbClr val="000000"/>
                </a:solidFill>
                <a:latin typeface="Canva Sans Bold"/>
                <a:ea typeface="Canva Sans Bold"/>
                <a:cs typeface="Canva Sans Bold"/>
                <a:sym typeface="Canva Sans Bold"/>
              </a:rPr>
              <a:t>© Pereira &amp; Associates </a:t>
            </a:r>
          </a:p>
          <a:p>
            <a:pPr algn="ctr">
              <a:lnSpc>
                <a:spcPts val="3749"/>
              </a:lnSpc>
            </a:pPr>
            <a:endParaRPr lang="en-US" sz="2678" b="1">
              <a:solidFill>
                <a:srgbClr val="000000"/>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605213" y="3287338"/>
            <a:ext cx="2244305" cy="2244305"/>
          </a:xfrm>
          <a:custGeom>
            <a:avLst/>
            <a:gdLst/>
            <a:ahLst/>
            <a:cxnLst/>
            <a:rect l="l" t="t" r="r" b="b"/>
            <a:pathLst>
              <a:path w="2244305" h="2244305">
                <a:moveTo>
                  <a:pt x="0" y="0"/>
                </a:moveTo>
                <a:lnTo>
                  <a:pt x="2244305" y="0"/>
                </a:lnTo>
                <a:lnTo>
                  <a:pt x="2244305" y="2244305"/>
                </a:lnTo>
                <a:lnTo>
                  <a:pt x="0" y="22443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6" name="Freeform 6"/>
          <p:cNvSpPr/>
          <p:nvPr/>
        </p:nvSpPr>
        <p:spPr>
          <a:xfrm>
            <a:off x="15248905" y="3690177"/>
            <a:ext cx="2657266" cy="2464010"/>
          </a:xfrm>
          <a:custGeom>
            <a:avLst/>
            <a:gdLst/>
            <a:ahLst/>
            <a:cxnLst/>
            <a:rect l="l" t="t" r="r" b="b"/>
            <a:pathLst>
              <a:path w="2657266" h="2464010">
                <a:moveTo>
                  <a:pt x="0" y="0"/>
                </a:moveTo>
                <a:lnTo>
                  <a:pt x="2657266" y="0"/>
                </a:lnTo>
                <a:lnTo>
                  <a:pt x="2657266" y="2464010"/>
                </a:lnTo>
                <a:lnTo>
                  <a:pt x="0" y="24640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grpSp>
        <p:nvGrpSpPr>
          <p:cNvPr id="7" name="Group 7"/>
          <p:cNvGrpSpPr/>
          <p:nvPr/>
        </p:nvGrpSpPr>
        <p:grpSpPr>
          <a:xfrm>
            <a:off x="3364348" y="3068087"/>
            <a:ext cx="5416231" cy="3862810"/>
            <a:chOff x="0" y="0"/>
            <a:chExt cx="1426497" cy="1017366"/>
          </a:xfrm>
        </p:grpSpPr>
        <p:sp>
          <p:nvSpPr>
            <p:cNvPr id="8" name="Freeform 8"/>
            <p:cNvSpPr/>
            <p:nvPr/>
          </p:nvSpPr>
          <p:spPr>
            <a:xfrm>
              <a:off x="0" y="0"/>
              <a:ext cx="1426497" cy="1017366"/>
            </a:xfrm>
            <a:custGeom>
              <a:avLst/>
              <a:gdLst/>
              <a:ahLst/>
              <a:cxnLst/>
              <a:rect l="l" t="t" r="r" b="b"/>
              <a:pathLst>
                <a:path w="1426497" h="1017366">
                  <a:moveTo>
                    <a:pt x="72899" y="0"/>
                  </a:moveTo>
                  <a:lnTo>
                    <a:pt x="1353598" y="0"/>
                  </a:lnTo>
                  <a:cubicBezTo>
                    <a:pt x="1372932" y="0"/>
                    <a:pt x="1391474" y="7680"/>
                    <a:pt x="1405146" y="21352"/>
                  </a:cubicBezTo>
                  <a:cubicBezTo>
                    <a:pt x="1418817" y="35023"/>
                    <a:pt x="1426497" y="53565"/>
                    <a:pt x="1426497" y="72899"/>
                  </a:cubicBezTo>
                  <a:lnTo>
                    <a:pt x="1426497" y="944467"/>
                  </a:lnTo>
                  <a:cubicBezTo>
                    <a:pt x="1426497" y="963801"/>
                    <a:pt x="1418817" y="982343"/>
                    <a:pt x="1405146" y="996014"/>
                  </a:cubicBezTo>
                  <a:cubicBezTo>
                    <a:pt x="1391474" y="1009685"/>
                    <a:pt x="1372932" y="1017366"/>
                    <a:pt x="1353598" y="1017366"/>
                  </a:cubicBezTo>
                  <a:lnTo>
                    <a:pt x="72899" y="1017366"/>
                  </a:lnTo>
                  <a:cubicBezTo>
                    <a:pt x="32638" y="1017366"/>
                    <a:pt x="0" y="984728"/>
                    <a:pt x="0" y="944467"/>
                  </a:cubicBezTo>
                  <a:lnTo>
                    <a:pt x="0" y="72899"/>
                  </a:lnTo>
                  <a:cubicBezTo>
                    <a:pt x="0" y="53565"/>
                    <a:pt x="7680" y="35023"/>
                    <a:pt x="21352" y="21352"/>
                  </a:cubicBezTo>
                  <a:cubicBezTo>
                    <a:pt x="35023" y="7680"/>
                    <a:pt x="53565" y="0"/>
                    <a:pt x="72899" y="0"/>
                  </a:cubicBezTo>
                  <a:close/>
                </a:path>
              </a:pathLst>
            </a:custGeom>
            <a:solidFill>
              <a:srgbClr val="C6D8FB"/>
            </a:solidFill>
            <a:ln w="114300" cap="rnd">
              <a:solidFill>
                <a:srgbClr val="000000"/>
              </a:solidFill>
              <a:prstDash val="solid"/>
              <a:round/>
            </a:ln>
          </p:spPr>
          <p:txBody>
            <a:bodyPr/>
            <a:lstStyle/>
            <a:p>
              <a:endParaRPr lang="en-IN"/>
            </a:p>
          </p:txBody>
        </p:sp>
        <p:sp>
          <p:nvSpPr>
            <p:cNvPr id="9" name="TextBox 9"/>
            <p:cNvSpPr txBox="1"/>
            <p:nvPr/>
          </p:nvSpPr>
          <p:spPr>
            <a:xfrm>
              <a:off x="0" y="-57150"/>
              <a:ext cx="1426497" cy="1074516"/>
            </a:xfrm>
            <a:prstGeom prst="rect">
              <a:avLst/>
            </a:prstGeom>
          </p:spPr>
          <p:txBody>
            <a:bodyPr lIns="50800" tIns="50800" rIns="50800" bIns="50800" rtlCol="0" anchor="ctr"/>
            <a:lstStyle/>
            <a:p>
              <a:pPr algn="just">
                <a:lnSpc>
                  <a:spcPts val="3639"/>
                </a:lnSpc>
              </a:pPr>
              <a:r>
                <a:rPr lang="en-US" sz="2599" b="1">
                  <a:solidFill>
                    <a:srgbClr val="000000"/>
                  </a:solidFill>
                  <a:latin typeface="Raleway Bold"/>
                  <a:ea typeface="Raleway Bold"/>
                  <a:cs typeface="Raleway Bold"/>
                  <a:sym typeface="Raleway Bold"/>
                </a:rPr>
                <a:t>The registration fee is generally 1% of the property's market value, capped at ₹30,000, or a fixed fee for non-property-related POAs.</a:t>
              </a:r>
            </a:p>
          </p:txBody>
        </p:sp>
      </p:grpSp>
      <p:sp>
        <p:nvSpPr>
          <p:cNvPr id="10" name="TextBox 10"/>
          <p:cNvSpPr txBox="1"/>
          <p:nvPr/>
        </p:nvSpPr>
        <p:spPr>
          <a:xfrm>
            <a:off x="-739226" y="1498599"/>
            <a:ext cx="19766453" cy="727723"/>
          </a:xfrm>
          <a:prstGeom prst="rect">
            <a:avLst/>
          </a:prstGeom>
        </p:spPr>
        <p:txBody>
          <a:bodyPr lIns="0" tIns="0" rIns="0" bIns="0" rtlCol="0" anchor="t">
            <a:spAutoFit/>
          </a:bodyPr>
          <a:lstStyle/>
          <a:p>
            <a:pPr algn="ctr">
              <a:lnSpc>
                <a:spcPts val="5400"/>
              </a:lnSpc>
            </a:pPr>
            <a:r>
              <a:rPr lang="en-US" sz="5400" b="1">
                <a:solidFill>
                  <a:srgbClr val="000000"/>
                </a:solidFill>
                <a:latin typeface="Montserrat Ultra-Bold"/>
                <a:ea typeface="Montserrat Ultra-Bold"/>
                <a:cs typeface="Montserrat Ultra-Bold"/>
                <a:sym typeface="Montserrat Ultra-Bold"/>
              </a:rPr>
              <a:t> REGISTRATION &amp; LEGAL FEES </a:t>
            </a:r>
          </a:p>
        </p:txBody>
      </p:sp>
      <p:grpSp>
        <p:nvGrpSpPr>
          <p:cNvPr id="11" name="Group 11"/>
          <p:cNvGrpSpPr/>
          <p:nvPr/>
        </p:nvGrpSpPr>
        <p:grpSpPr>
          <a:xfrm>
            <a:off x="9144000" y="3068087"/>
            <a:ext cx="5336937" cy="3862810"/>
            <a:chOff x="0" y="0"/>
            <a:chExt cx="1405613" cy="1017366"/>
          </a:xfrm>
        </p:grpSpPr>
        <p:sp>
          <p:nvSpPr>
            <p:cNvPr id="12" name="Freeform 12"/>
            <p:cNvSpPr/>
            <p:nvPr/>
          </p:nvSpPr>
          <p:spPr>
            <a:xfrm>
              <a:off x="0" y="0"/>
              <a:ext cx="1405613" cy="1017366"/>
            </a:xfrm>
            <a:custGeom>
              <a:avLst/>
              <a:gdLst/>
              <a:ahLst/>
              <a:cxnLst/>
              <a:rect l="l" t="t" r="r" b="b"/>
              <a:pathLst>
                <a:path w="1405613" h="1017366">
                  <a:moveTo>
                    <a:pt x="73982" y="0"/>
                  </a:moveTo>
                  <a:lnTo>
                    <a:pt x="1331631" y="0"/>
                  </a:lnTo>
                  <a:cubicBezTo>
                    <a:pt x="1351252" y="0"/>
                    <a:pt x="1370070" y="7795"/>
                    <a:pt x="1383944" y="21669"/>
                  </a:cubicBezTo>
                  <a:cubicBezTo>
                    <a:pt x="1397819" y="35543"/>
                    <a:pt x="1405613" y="54361"/>
                    <a:pt x="1405613" y="73982"/>
                  </a:cubicBezTo>
                  <a:lnTo>
                    <a:pt x="1405613" y="943384"/>
                  </a:lnTo>
                  <a:cubicBezTo>
                    <a:pt x="1405613" y="963005"/>
                    <a:pt x="1397819" y="981823"/>
                    <a:pt x="1383944" y="995697"/>
                  </a:cubicBezTo>
                  <a:cubicBezTo>
                    <a:pt x="1370070" y="1009571"/>
                    <a:pt x="1351252" y="1017366"/>
                    <a:pt x="1331631" y="1017366"/>
                  </a:cubicBezTo>
                  <a:lnTo>
                    <a:pt x="73982" y="1017366"/>
                  </a:lnTo>
                  <a:cubicBezTo>
                    <a:pt x="33123" y="1017366"/>
                    <a:pt x="0" y="984243"/>
                    <a:pt x="0" y="943384"/>
                  </a:cubicBezTo>
                  <a:lnTo>
                    <a:pt x="0" y="73982"/>
                  </a:lnTo>
                  <a:cubicBezTo>
                    <a:pt x="0" y="54361"/>
                    <a:pt x="7795" y="35543"/>
                    <a:pt x="21669" y="21669"/>
                  </a:cubicBezTo>
                  <a:cubicBezTo>
                    <a:pt x="35543" y="7795"/>
                    <a:pt x="54361" y="0"/>
                    <a:pt x="73982" y="0"/>
                  </a:cubicBezTo>
                  <a:close/>
                </a:path>
              </a:pathLst>
            </a:custGeom>
            <a:solidFill>
              <a:srgbClr val="C6D8FB"/>
            </a:solidFill>
            <a:ln w="95250" cap="rnd">
              <a:solidFill>
                <a:srgbClr val="000000"/>
              </a:solidFill>
              <a:prstDash val="solid"/>
              <a:round/>
            </a:ln>
          </p:spPr>
          <p:txBody>
            <a:bodyPr/>
            <a:lstStyle/>
            <a:p>
              <a:endParaRPr lang="en-IN"/>
            </a:p>
          </p:txBody>
        </p:sp>
        <p:sp>
          <p:nvSpPr>
            <p:cNvPr id="13" name="TextBox 13"/>
            <p:cNvSpPr txBox="1"/>
            <p:nvPr/>
          </p:nvSpPr>
          <p:spPr>
            <a:xfrm>
              <a:off x="0" y="-57150"/>
              <a:ext cx="1405613" cy="1074516"/>
            </a:xfrm>
            <a:prstGeom prst="rect">
              <a:avLst/>
            </a:prstGeom>
          </p:spPr>
          <p:txBody>
            <a:bodyPr lIns="50800" tIns="50800" rIns="50800" bIns="50800" rtlCol="0" anchor="ctr"/>
            <a:lstStyle/>
            <a:p>
              <a:pPr algn="l">
                <a:lnSpc>
                  <a:spcPts val="3639"/>
                </a:lnSpc>
              </a:pPr>
              <a:r>
                <a:rPr lang="en-US" sz="2599" b="1">
                  <a:solidFill>
                    <a:srgbClr val="000000"/>
                  </a:solidFill>
                  <a:latin typeface="Raleway Bold"/>
                  <a:ea typeface="Raleway Bold"/>
                  <a:cs typeface="Raleway Bold"/>
                  <a:sym typeface="Raleway Bold"/>
                </a:rPr>
                <a:t>Charges for drafting the document by a lawyer can vary</a:t>
              </a:r>
            </a:p>
          </p:txBody>
        </p:sp>
      </p:grpSp>
      <p:sp>
        <p:nvSpPr>
          <p:cNvPr id="14" name="TextBox 14"/>
          <p:cNvSpPr txBox="1"/>
          <p:nvPr/>
        </p:nvSpPr>
        <p:spPr>
          <a:xfrm>
            <a:off x="13518952" y="9454105"/>
            <a:ext cx="476904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5" name="Group 5"/>
          <p:cNvGrpSpPr/>
          <p:nvPr/>
        </p:nvGrpSpPr>
        <p:grpSpPr>
          <a:xfrm>
            <a:off x="597605" y="1819910"/>
            <a:ext cx="13355159" cy="8607189"/>
            <a:chOff x="0" y="0"/>
            <a:chExt cx="3517408" cy="2266914"/>
          </a:xfrm>
        </p:grpSpPr>
        <p:sp>
          <p:nvSpPr>
            <p:cNvPr id="6" name="Freeform 6"/>
            <p:cNvSpPr/>
            <p:nvPr/>
          </p:nvSpPr>
          <p:spPr>
            <a:xfrm>
              <a:off x="0" y="0"/>
              <a:ext cx="3517408" cy="2266914"/>
            </a:xfrm>
            <a:custGeom>
              <a:avLst/>
              <a:gdLst/>
              <a:ahLst/>
              <a:cxnLst/>
              <a:rect l="l" t="t" r="r" b="b"/>
              <a:pathLst>
                <a:path w="3517408" h="2266914">
                  <a:moveTo>
                    <a:pt x="29564" y="0"/>
                  </a:moveTo>
                  <a:lnTo>
                    <a:pt x="3487844" y="0"/>
                  </a:lnTo>
                  <a:cubicBezTo>
                    <a:pt x="3504172" y="0"/>
                    <a:pt x="3517408" y="13236"/>
                    <a:pt x="3517408" y="29564"/>
                  </a:cubicBezTo>
                  <a:lnTo>
                    <a:pt x="3517408" y="2237349"/>
                  </a:lnTo>
                  <a:cubicBezTo>
                    <a:pt x="3517408" y="2245190"/>
                    <a:pt x="3514293" y="2252710"/>
                    <a:pt x="3508749" y="2258255"/>
                  </a:cubicBezTo>
                  <a:cubicBezTo>
                    <a:pt x="3503204" y="2263799"/>
                    <a:pt x="3495685" y="2266914"/>
                    <a:pt x="3487844" y="2266914"/>
                  </a:cubicBezTo>
                  <a:lnTo>
                    <a:pt x="29564" y="2266914"/>
                  </a:lnTo>
                  <a:cubicBezTo>
                    <a:pt x="21723" y="2266914"/>
                    <a:pt x="14204" y="2263799"/>
                    <a:pt x="8659" y="2258255"/>
                  </a:cubicBezTo>
                  <a:cubicBezTo>
                    <a:pt x="3115" y="2252710"/>
                    <a:pt x="0" y="2245190"/>
                    <a:pt x="0" y="2237349"/>
                  </a:cubicBezTo>
                  <a:lnTo>
                    <a:pt x="0" y="29564"/>
                  </a:lnTo>
                  <a:cubicBezTo>
                    <a:pt x="0" y="21723"/>
                    <a:pt x="3115" y="14204"/>
                    <a:pt x="8659" y="8659"/>
                  </a:cubicBezTo>
                  <a:cubicBezTo>
                    <a:pt x="14204" y="3115"/>
                    <a:pt x="21723" y="0"/>
                    <a:pt x="29564" y="0"/>
                  </a:cubicBezTo>
                  <a:close/>
                </a:path>
              </a:pathLst>
            </a:custGeom>
            <a:solidFill>
              <a:srgbClr val="C6D8FB"/>
            </a:solidFill>
          </p:spPr>
          <p:txBody>
            <a:bodyPr/>
            <a:lstStyle/>
            <a:p>
              <a:endParaRPr lang="en-IN"/>
            </a:p>
          </p:txBody>
        </p:sp>
        <p:sp>
          <p:nvSpPr>
            <p:cNvPr id="7" name="TextBox 7"/>
            <p:cNvSpPr txBox="1"/>
            <p:nvPr/>
          </p:nvSpPr>
          <p:spPr>
            <a:xfrm>
              <a:off x="0" y="-76200"/>
              <a:ext cx="3517408" cy="2343114"/>
            </a:xfrm>
            <a:prstGeom prst="rect">
              <a:avLst/>
            </a:prstGeom>
          </p:spPr>
          <p:txBody>
            <a:bodyPr lIns="127000" tIns="127000" rIns="127000" bIns="127000" rtlCol="0" anchor="t"/>
            <a:lstStyle/>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Identity Proof of the Principal, the agent and two witnesses</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Two recent passport-sized photographs of the Principal, the Agent(s) and the witness.</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The original, drafted Power of Attorney document was printed on stamp paper.</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Property card or original title deeds, if the POA is related to immovable property.</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A document identifying the principal and the POA, including their names, addresses, and signatures.</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Two passport-size photographs of both the grantor and POA.</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 Two witnesses will also need to provide proof of identity and sign the power of attorney document.</a:t>
              </a:r>
            </a:p>
            <a:p>
              <a:pPr marL="712464" lvl="1" indent="-356232" algn="just">
                <a:lnSpc>
                  <a:spcPts val="4619"/>
                </a:lnSpc>
                <a:buFont typeface="Arial"/>
                <a:buChar char="•"/>
              </a:pPr>
              <a:r>
                <a:rPr lang="en-US" sz="3299" b="1" spc="-125" dirty="0">
                  <a:solidFill>
                    <a:srgbClr val="000000"/>
                  </a:solidFill>
                  <a:latin typeface="Raleway Bold"/>
                  <a:ea typeface="Raleway Bold"/>
                  <a:cs typeface="Raleway Bold"/>
                  <a:sym typeface="Raleway Bold"/>
                </a:rPr>
                <a:t>Notarization of the document, by a notary public or a lawyer.</a:t>
              </a:r>
            </a:p>
          </p:txBody>
        </p:sp>
      </p:grpSp>
      <p:sp>
        <p:nvSpPr>
          <p:cNvPr id="8" name="Freeform 8"/>
          <p:cNvSpPr/>
          <p:nvPr/>
        </p:nvSpPr>
        <p:spPr>
          <a:xfrm>
            <a:off x="13952764" y="3086100"/>
            <a:ext cx="4420195" cy="4114800"/>
          </a:xfrm>
          <a:custGeom>
            <a:avLst/>
            <a:gdLst/>
            <a:ahLst/>
            <a:cxnLst/>
            <a:rect l="l" t="t" r="r" b="b"/>
            <a:pathLst>
              <a:path w="4420195" h="4114800">
                <a:moveTo>
                  <a:pt x="0" y="0"/>
                </a:moveTo>
                <a:lnTo>
                  <a:pt x="4420196" y="0"/>
                </a:lnTo>
                <a:lnTo>
                  <a:pt x="442019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9" name="TextBox 9"/>
          <p:cNvSpPr txBox="1"/>
          <p:nvPr/>
        </p:nvSpPr>
        <p:spPr>
          <a:xfrm>
            <a:off x="1292832" y="723259"/>
            <a:ext cx="16761487" cy="706133"/>
          </a:xfrm>
          <a:prstGeom prst="rect">
            <a:avLst/>
          </a:prstGeom>
        </p:spPr>
        <p:txBody>
          <a:bodyPr lIns="0" tIns="0" rIns="0" bIns="0" rtlCol="0" anchor="t">
            <a:spAutoFit/>
          </a:bodyPr>
          <a:lstStyle/>
          <a:p>
            <a:pPr algn="l">
              <a:lnSpc>
                <a:spcPts val="5300"/>
              </a:lnSpc>
            </a:pPr>
            <a:r>
              <a:rPr lang="en-US" sz="5300" b="1">
                <a:solidFill>
                  <a:srgbClr val="000000"/>
                </a:solidFill>
                <a:latin typeface="Montserrat Ultra-Bold"/>
                <a:ea typeface="Montserrat Ultra-Bold"/>
                <a:cs typeface="Montserrat Ultra-Bold"/>
                <a:sym typeface="Montserrat Ultra-Bold"/>
              </a:rPr>
              <a:t>DOCUMENTS REQUIRED FOR POA IN MUMBAI </a:t>
            </a:r>
          </a:p>
        </p:txBody>
      </p:sp>
      <p:sp>
        <p:nvSpPr>
          <p:cNvPr id="10" name="TextBox 10"/>
          <p:cNvSpPr txBox="1"/>
          <p:nvPr/>
        </p:nvSpPr>
        <p:spPr>
          <a:xfrm>
            <a:off x="13955545" y="9716148"/>
            <a:ext cx="4435673" cy="1082388"/>
          </a:xfrm>
          <a:prstGeom prst="rect">
            <a:avLst/>
          </a:prstGeom>
        </p:spPr>
        <p:txBody>
          <a:bodyPr lIns="0" tIns="0" rIns="0" bIns="0" rtlCol="0" anchor="t">
            <a:spAutoFit/>
          </a:bodyPr>
          <a:lstStyle/>
          <a:p>
            <a:pPr algn="ctr">
              <a:lnSpc>
                <a:spcPts val="4390"/>
              </a:lnSpc>
            </a:pPr>
            <a:r>
              <a:rPr lang="en-US" sz="3136" b="1">
                <a:solidFill>
                  <a:srgbClr val="000000"/>
                </a:solidFill>
                <a:latin typeface="Canva Sans Bold"/>
                <a:ea typeface="Canva Sans Bold"/>
                <a:cs typeface="Canva Sans Bold"/>
                <a:sym typeface="Canva Sans Bold"/>
              </a:rPr>
              <a:t>© Pereira &amp; Associates </a:t>
            </a:r>
          </a:p>
          <a:p>
            <a:pPr algn="ctr">
              <a:lnSpc>
                <a:spcPts val="4390"/>
              </a:lnSpc>
            </a:pPr>
            <a:endParaRPr lang="en-US" sz="3136" b="1">
              <a:solidFill>
                <a:srgbClr val="000000"/>
              </a:solidFill>
              <a:latin typeface="Canva Sans Bold"/>
              <a:ea typeface="Canva Sans Bold"/>
              <a:cs typeface="Canva Sans Bold"/>
              <a:sym typeface="Canva Sans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394749" y="1865415"/>
            <a:ext cx="14637828" cy="8032584"/>
          </a:xfrm>
          <a:prstGeom prst="rect">
            <a:avLst/>
          </a:prstGeom>
        </p:spPr>
        <p:txBody>
          <a:bodyPr lIns="0" tIns="0" rIns="0" bIns="0" rtlCol="0" anchor="t">
            <a:spAutoFit/>
          </a:bodyPr>
          <a:lstStyle/>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A Power of Attorney requires authentication as provided under Section 84 of the BSA </a:t>
            </a:r>
            <a:r>
              <a:rPr lang="en-US" sz="3185" b="1" dirty="0" err="1">
                <a:solidFill>
                  <a:srgbClr val="000000"/>
                </a:solidFill>
                <a:latin typeface="Raleway Bold"/>
                <a:ea typeface="Raleway Bold"/>
                <a:cs typeface="Raleway Bold"/>
                <a:sym typeface="Raleway Bold"/>
              </a:rPr>
              <a:t>Bharatiya</a:t>
            </a:r>
            <a:r>
              <a:rPr lang="en-US" sz="3185" b="1" dirty="0">
                <a:solidFill>
                  <a:srgbClr val="000000"/>
                </a:solidFill>
                <a:latin typeface="Raleway Bold"/>
                <a:ea typeface="Raleway Bold"/>
                <a:cs typeface="Raleway Bold"/>
                <a:sym typeface="Raleway Bold"/>
              </a:rPr>
              <a:t> </a:t>
            </a:r>
            <a:r>
              <a:rPr lang="en-US" sz="3185" b="1" dirty="0" err="1">
                <a:solidFill>
                  <a:srgbClr val="000000"/>
                </a:solidFill>
                <a:latin typeface="Raleway Bold"/>
                <a:ea typeface="Raleway Bold"/>
                <a:cs typeface="Raleway Bold"/>
                <a:sym typeface="Raleway Bold"/>
              </a:rPr>
              <a:t>Sakshyam</a:t>
            </a:r>
            <a:r>
              <a:rPr lang="en-US" sz="3185" b="1" dirty="0">
                <a:solidFill>
                  <a:srgbClr val="000000"/>
                </a:solidFill>
                <a:latin typeface="Raleway Bold"/>
                <a:ea typeface="Raleway Bold"/>
                <a:cs typeface="Raleway Bold"/>
                <a:sym typeface="Raleway Bold"/>
              </a:rPr>
              <a:t> </a:t>
            </a:r>
            <a:r>
              <a:rPr lang="en-US" sz="3185" b="1" dirty="0" err="1">
                <a:solidFill>
                  <a:srgbClr val="000000"/>
                </a:solidFill>
                <a:latin typeface="Raleway Bold"/>
                <a:ea typeface="Raleway Bold"/>
                <a:cs typeface="Raleway Bold"/>
                <a:sym typeface="Raleway Bold"/>
              </a:rPr>
              <a:t>Adhinayam</a:t>
            </a:r>
            <a:r>
              <a:rPr lang="en-US" sz="3185" b="1" dirty="0">
                <a:solidFill>
                  <a:srgbClr val="000000"/>
                </a:solidFill>
                <a:latin typeface="Raleway Bold"/>
                <a:ea typeface="Raleway Bold"/>
                <a:cs typeface="Raleway Bold"/>
                <a:sym typeface="Raleway Bold"/>
              </a:rPr>
              <a:t>.</a:t>
            </a:r>
          </a:p>
          <a:p>
            <a:pPr algn="just">
              <a:lnSpc>
                <a:spcPts val="4460"/>
              </a:lnSpc>
            </a:pPr>
            <a:endParaRPr lang="en-US" sz="3185" b="1" dirty="0">
              <a:solidFill>
                <a:srgbClr val="000000"/>
              </a:solidFill>
              <a:latin typeface="Raleway Bold"/>
              <a:ea typeface="Raleway Bold"/>
              <a:cs typeface="Raleway Bold"/>
              <a:sym typeface="Raleway Bold"/>
            </a:endParaRPr>
          </a:p>
          <a:p>
            <a:pPr algn="just">
              <a:lnSpc>
                <a:spcPts val="4460"/>
              </a:lnSpc>
            </a:pPr>
            <a:endParaRPr lang="en-US" sz="3185" b="1" dirty="0">
              <a:solidFill>
                <a:srgbClr val="000000"/>
              </a:solidFill>
              <a:latin typeface="Raleway Bold"/>
              <a:ea typeface="Raleway Bold"/>
              <a:cs typeface="Raleway Bold"/>
              <a:sym typeface="Raleway Bold"/>
            </a:endParaRPr>
          </a:p>
          <a:p>
            <a:pPr algn="just">
              <a:lnSpc>
                <a:spcPts val="4460"/>
              </a:lnSpc>
            </a:pPr>
            <a:r>
              <a:rPr lang="en-US" sz="3185" b="1" u="sng" dirty="0">
                <a:solidFill>
                  <a:srgbClr val="1C6993"/>
                </a:solidFill>
                <a:latin typeface="Raleway Bold"/>
                <a:ea typeface="Raleway Bold"/>
                <a:cs typeface="Raleway Bold"/>
                <a:sym typeface="Raleway Bold"/>
              </a:rPr>
              <a:t>SECTION 84 – BSA </a:t>
            </a:r>
            <a:r>
              <a:rPr lang="en-US" sz="3185" b="1" u="sng" dirty="0" err="1">
                <a:solidFill>
                  <a:srgbClr val="1C6993"/>
                </a:solidFill>
                <a:latin typeface="Raleway Bold"/>
                <a:ea typeface="Raleway Bold"/>
                <a:cs typeface="Raleway Bold"/>
                <a:sym typeface="Raleway Bold"/>
              </a:rPr>
              <a:t>Bharatiya</a:t>
            </a:r>
            <a:r>
              <a:rPr lang="en-US" sz="3185" b="1" u="sng" dirty="0">
                <a:solidFill>
                  <a:srgbClr val="1C6993"/>
                </a:solidFill>
                <a:latin typeface="Raleway Bold"/>
                <a:ea typeface="Raleway Bold"/>
                <a:cs typeface="Raleway Bold"/>
                <a:sym typeface="Raleway Bold"/>
              </a:rPr>
              <a:t> </a:t>
            </a:r>
            <a:r>
              <a:rPr lang="en-US" sz="3185" b="1" u="sng" dirty="0" err="1">
                <a:solidFill>
                  <a:srgbClr val="1C6993"/>
                </a:solidFill>
                <a:latin typeface="Raleway Bold"/>
                <a:ea typeface="Raleway Bold"/>
                <a:cs typeface="Raleway Bold"/>
                <a:sym typeface="Raleway Bold"/>
              </a:rPr>
              <a:t>Sakshyam</a:t>
            </a:r>
            <a:r>
              <a:rPr lang="en-US" sz="3185" b="1" u="sng" dirty="0">
                <a:solidFill>
                  <a:srgbClr val="1C6993"/>
                </a:solidFill>
                <a:latin typeface="Raleway Bold"/>
                <a:ea typeface="Raleway Bold"/>
                <a:cs typeface="Raleway Bold"/>
                <a:sym typeface="Raleway Bold"/>
              </a:rPr>
              <a:t> </a:t>
            </a:r>
            <a:r>
              <a:rPr lang="en-US" sz="3185" b="1" u="sng" dirty="0" err="1">
                <a:solidFill>
                  <a:srgbClr val="1C6993"/>
                </a:solidFill>
                <a:latin typeface="Raleway Bold"/>
                <a:ea typeface="Raleway Bold"/>
                <a:cs typeface="Raleway Bold"/>
                <a:sym typeface="Raleway Bold"/>
              </a:rPr>
              <a:t>Adhiniyam</a:t>
            </a:r>
            <a:r>
              <a:rPr lang="en-US" sz="3185" b="1" dirty="0">
                <a:solidFill>
                  <a:srgbClr val="000000"/>
                </a:solidFill>
                <a:latin typeface="Raleway Bold"/>
                <a:ea typeface="Raleway Bold"/>
                <a:cs typeface="Raleway Bold"/>
                <a:sym typeface="Raleway Bold"/>
              </a:rPr>
              <a:t> </a:t>
            </a:r>
          </a:p>
          <a:p>
            <a:pPr algn="just">
              <a:lnSpc>
                <a:spcPts val="4460"/>
              </a:lnSpc>
            </a:pPr>
            <a:r>
              <a:rPr lang="en-US" sz="3185" b="1" dirty="0">
                <a:solidFill>
                  <a:srgbClr val="000000"/>
                </a:solidFill>
                <a:latin typeface="Raleway Bold"/>
                <a:ea typeface="Raleway Bold"/>
                <a:cs typeface="Raleway Bold"/>
                <a:sym typeface="Raleway Bold"/>
              </a:rPr>
              <a:t>The Court shall presume that every document purporting to be a power-of-attorney, and to have been executed before, and authenticated by, </a:t>
            </a:r>
          </a:p>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a Notary Public, </a:t>
            </a:r>
          </a:p>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or any Court, </a:t>
            </a:r>
          </a:p>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Judge, </a:t>
            </a:r>
          </a:p>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Magistrate,</a:t>
            </a:r>
          </a:p>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 Indian Consul or Vice-Consul, </a:t>
            </a:r>
          </a:p>
          <a:p>
            <a:pPr marL="687804" lvl="1" indent="-343902" algn="just">
              <a:lnSpc>
                <a:spcPts val="4460"/>
              </a:lnSpc>
              <a:buFont typeface="Arial"/>
              <a:buChar char="•"/>
            </a:pPr>
            <a:r>
              <a:rPr lang="en-US" sz="3185" b="1" dirty="0">
                <a:solidFill>
                  <a:srgbClr val="000000"/>
                </a:solidFill>
                <a:latin typeface="Raleway Bold"/>
                <a:ea typeface="Raleway Bold"/>
                <a:cs typeface="Raleway Bold"/>
                <a:sym typeface="Raleway Bold"/>
              </a:rPr>
              <a:t>or representative of the Central Government, was so executed and authenticated</a:t>
            </a:r>
          </a:p>
        </p:txBody>
      </p:sp>
      <p:sp>
        <p:nvSpPr>
          <p:cNvPr id="6" name="Freeform 6"/>
          <p:cNvSpPr/>
          <p:nvPr/>
        </p:nvSpPr>
        <p:spPr>
          <a:xfrm>
            <a:off x="15756291" y="3287902"/>
            <a:ext cx="2531709" cy="3408233"/>
          </a:xfrm>
          <a:custGeom>
            <a:avLst/>
            <a:gdLst/>
            <a:ahLst/>
            <a:cxnLst/>
            <a:rect l="l" t="t" r="r" b="b"/>
            <a:pathLst>
              <a:path w="2531709" h="3408233">
                <a:moveTo>
                  <a:pt x="0" y="0"/>
                </a:moveTo>
                <a:lnTo>
                  <a:pt x="2531709" y="0"/>
                </a:lnTo>
                <a:lnTo>
                  <a:pt x="2531709" y="3408233"/>
                </a:lnTo>
                <a:lnTo>
                  <a:pt x="0" y="34082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1478453" y="765486"/>
            <a:ext cx="19766453" cy="612153"/>
          </a:xfrm>
          <a:prstGeom prst="rect">
            <a:avLst/>
          </a:prstGeom>
        </p:spPr>
        <p:txBody>
          <a:bodyPr lIns="0" tIns="0" rIns="0" bIns="0" rtlCol="0" anchor="t">
            <a:spAutoFit/>
          </a:bodyPr>
          <a:lstStyle/>
          <a:p>
            <a:pPr algn="ctr">
              <a:lnSpc>
                <a:spcPts val="4600"/>
              </a:lnSpc>
            </a:pPr>
            <a:r>
              <a:rPr lang="en-US" sz="4600" b="1">
                <a:solidFill>
                  <a:srgbClr val="000000"/>
                </a:solidFill>
                <a:latin typeface="Montserrat Ultra-Bold"/>
                <a:ea typeface="Montserrat Ultra-Bold"/>
                <a:cs typeface="Montserrat Ultra-Bold"/>
                <a:sym typeface="Montserrat Ultra-Bold"/>
              </a:rPr>
              <a:t>REGISTRATION OF POWER OF ATTORNEY IN INDIA </a:t>
            </a:r>
          </a:p>
        </p:txBody>
      </p:sp>
      <p:sp>
        <p:nvSpPr>
          <p:cNvPr id="8" name="TextBox 8"/>
          <p:cNvSpPr txBox="1"/>
          <p:nvPr/>
        </p:nvSpPr>
        <p:spPr>
          <a:xfrm>
            <a:off x="14879856" y="9872034"/>
            <a:ext cx="3395365" cy="815318"/>
          </a:xfrm>
          <a:prstGeom prst="rect">
            <a:avLst/>
          </a:prstGeom>
        </p:spPr>
        <p:txBody>
          <a:bodyPr lIns="0" tIns="0" rIns="0" bIns="0" rtlCol="0" anchor="t">
            <a:spAutoFit/>
          </a:bodyPr>
          <a:lstStyle/>
          <a:p>
            <a:pPr algn="ctr">
              <a:lnSpc>
                <a:spcPts val="3361"/>
              </a:lnSpc>
            </a:pPr>
            <a:r>
              <a:rPr lang="en-US" sz="2400" b="1">
                <a:solidFill>
                  <a:srgbClr val="000000"/>
                </a:solidFill>
                <a:latin typeface="Canva Sans Bold"/>
                <a:ea typeface="Canva Sans Bold"/>
                <a:cs typeface="Canva Sans Bold"/>
                <a:sym typeface="Canva Sans Bold"/>
              </a:rPr>
              <a:t>© Pereira &amp; Associates </a:t>
            </a:r>
          </a:p>
          <a:p>
            <a:pPr algn="ctr">
              <a:lnSpc>
                <a:spcPts val="3361"/>
              </a:lnSpc>
            </a:pPr>
            <a:endParaRPr lang="en-US" sz="2400" b="1">
              <a:solidFill>
                <a:srgbClr val="000000"/>
              </a:solidFill>
              <a:latin typeface="Canva Sans Bold"/>
              <a:ea typeface="Canva Sans Bold"/>
              <a:cs typeface="Canva Sans Bold"/>
              <a:sym typeface="Canva Sans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394749" y="1865415"/>
            <a:ext cx="14637828" cy="8373472"/>
          </a:xfrm>
          <a:prstGeom prst="rect">
            <a:avLst/>
          </a:prstGeom>
        </p:spPr>
        <p:txBody>
          <a:bodyPr lIns="0" tIns="0" rIns="0" bIns="0" rtlCol="0" anchor="t">
            <a:spAutoFit/>
          </a:bodyPr>
          <a:lstStyle/>
          <a:p>
            <a:pPr marL="687804" lvl="1" indent="-343902" algn="just">
              <a:lnSpc>
                <a:spcPts val="4460"/>
              </a:lnSpc>
              <a:buFont typeface="Arial"/>
              <a:buChar char="•"/>
            </a:pPr>
            <a:r>
              <a:rPr lang="en-US" sz="3185" b="1">
                <a:solidFill>
                  <a:srgbClr val="000000"/>
                </a:solidFill>
                <a:latin typeface="Raleway Bold"/>
                <a:ea typeface="Raleway Bold"/>
                <a:cs typeface="Raleway Bold"/>
                <a:sym typeface="Raleway Bold"/>
              </a:rPr>
              <a:t>Authentication means establishing the authorship contemplated by the section, it does not merely mean attestation, it means that the person authenticating it has assured himself of the identity of the person who had signed the instrument as well as the fact of execution.</a:t>
            </a:r>
          </a:p>
          <a:p>
            <a:pPr algn="just">
              <a:lnSpc>
                <a:spcPts val="4460"/>
              </a:lnSpc>
            </a:pPr>
            <a:endParaRPr lang="en-US" sz="3185" b="1">
              <a:solidFill>
                <a:srgbClr val="000000"/>
              </a:solidFill>
              <a:latin typeface="Raleway Bold"/>
              <a:ea typeface="Raleway Bold"/>
              <a:cs typeface="Raleway Bold"/>
              <a:sym typeface="Raleway Bold"/>
            </a:endParaRPr>
          </a:p>
          <a:p>
            <a:pPr algn="just">
              <a:lnSpc>
                <a:spcPts val="4880"/>
              </a:lnSpc>
            </a:pPr>
            <a:r>
              <a:rPr lang="en-US" sz="3485">
                <a:solidFill>
                  <a:srgbClr val="000000"/>
                </a:solidFill>
                <a:latin typeface="Raleway"/>
                <a:ea typeface="Raleway"/>
                <a:cs typeface="Raleway"/>
                <a:sym typeface="Raleway"/>
              </a:rPr>
              <a:t>I</a:t>
            </a:r>
            <a:r>
              <a:rPr lang="en-US" sz="3485" b="1">
                <a:solidFill>
                  <a:srgbClr val="1C6993"/>
                </a:solidFill>
                <a:latin typeface="Raleway Bold"/>
                <a:ea typeface="Raleway Bold"/>
                <a:cs typeface="Raleway Bold"/>
                <a:sym typeface="Raleway Bold"/>
              </a:rPr>
              <a:t>S REGISTRATION COMPULSORY?</a:t>
            </a:r>
          </a:p>
          <a:p>
            <a:pPr marL="752572" lvl="1" indent="-376286" algn="just">
              <a:lnSpc>
                <a:spcPts val="4880"/>
              </a:lnSpc>
              <a:buFont typeface="Arial"/>
              <a:buChar char="•"/>
            </a:pPr>
            <a:r>
              <a:rPr lang="en-US" sz="3485" b="1">
                <a:solidFill>
                  <a:srgbClr val="000000"/>
                </a:solidFill>
                <a:latin typeface="Raleway Bold"/>
                <a:ea typeface="Raleway Bold"/>
                <a:cs typeface="Raleway Bold"/>
                <a:sym typeface="Raleway Bold"/>
              </a:rPr>
              <a:t>Though it is not mandatory to register a power of attorney in India, it is advisable that you opt for it to maintain its authenticity</a:t>
            </a:r>
            <a:r>
              <a:rPr lang="en-US" sz="3485" b="1">
                <a:solidFill>
                  <a:srgbClr val="1C6993"/>
                </a:solidFill>
                <a:latin typeface="Raleway Bold"/>
                <a:ea typeface="Raleway Bold"/>
                <a:cs typeface="Raleway Bold"/>
                <a:sym typeface="Raleway Bold"/>
              </a:rPr>
              <a:t>.</a:t>
            </a:r>
          </a:p>
          <a:p>
            <a:pPr algn="just">
              <a:lnSpc>
                <a:spcPts val="4880"/>
              </a:lnSpc>
            </a:pPr>
            <a:endParaRPr lang="en-US" sz="3485" b="1">
              <a:solidFill>
                <a:srgbClr val="1C6993"/>
              </a:solidFill>
              <a:latin typeface="Raleway Bold"/>
              <a:ea typeface="Raleway Bold"/>
              <a:cs typeface="Raleway Bold"/>
              <a:sym typeface="Raleway Bold"/>
            </a:endParaRPr>
          </a:p>
          <a:p>
            <a:pPr marL="752572" lvl="1" indent="-376286" algn="just">
              <a:lnSpc>
                <a:spcPts val="4880"/>
              </a:lnSpc>
              <a:buFont typeface="Arial"/>
              <a:buChar char="•"/>
            </a:pPr>
            <a:r>
              <a:rPr lang="en-US" sz="3485" b="1">
                <a:solidFill>
                  <a:srgbClr val="1C6993"/>
                </a:solidFill>
                <a:latin typeface="Raleway Bold"/>
                <a:ea typeface="Raleway Bold"/>
                <a:cs typeface="Raleway Bold"/>
                <a:sym typeface="Raleway Bold"/>
              </a:rPr>
              <a:t>Also, if it is executed in respect of immovable property worth more than INR 100 in value, it is necessary to register it. </a:t>
            </a:r>
          </a:p>
          <a:p>
            <a:pPr marL="752572" lvl="1" indent="-376286" algn="just">
              <a:lnSpc>
                <a:spcPts val="4880"/>
              </a:lnSpc>
              <a:buFont typeface="Arial"/>
              <a:buChar char="•"/>
            </a:pPr>
            <a:r>
              <a:rPr lang="en-US" sz="3485" b="1">
                <a:solidFill>
                  <a:srgbClr val="1C6993"/>
                </a:solidFill>
                <a:latin typeface="Raleway Bold"/>
                <a:ea typeface="Raleway Bold"/>
                <a:cs typeface="Raleway Bold"/>
                <a:sym typeface="Raleway Bold"/>
              </a:rPr>
              <a:t>It doesn’t require compulsory registration under Section 17(1)(b) of the Indian Registration Act, 1908</a:t>
            </a:r>
          </a:p>
          <a:p>
            <a:pPr algn="just">
              <a:lnSpc>
                <a:spcPts val="4880"/>
              </a:lnSpc>
            </a:pPr>
            <a:endParaRPr lang="en-US" sz="3485" b="1">
              <a:solidFill>
                <a:srgbClr val="1C6993"/>
              </a:solidFill>
              <a:latin typeface="Raleway Bold"/>
              <a:ea typeface="Raleway Bold"/>
              <a:cs typeface="Raleway Bold"/>
              <a:sym typeface="Raleway Bold"/>
            </a:endParaRPr>
          </a:p>
        </p:txBody>
      </p:sp>
      <p:sp>
        <p:nvSpPr>
          <p:cNvPr id="6" name="Freeform 6"/>
          <p:cNvSpPr/>
          <p:nvPr/>
        </p:nvSpPr>
        <p:spPr>
          <a:xfrm>
            <a:off x="15697092" y="2226321"/>
            <a:ext cx="2590908" cy="3260868"/>
          </a:xfrm>
          <a:custGeom>
            <a:avLst/>
            <a:gdLst/>
            <a:ahLst/>
            <a:cxnLst/>
            <a:rect l="l" t="t" r="r" b="b"/>
            <a:pathLst>
              <a:path w="2590908" h="3260868">
                <a:moveTo>
                  <a:pt x="0" y="0"/>
                </a:moveTo>
                <a:lnTo>
                  <a:pt x="2590908" y="0"/>
                </a:lnTo>
                <a:lnTo>
                  <a:pt x="2590908" y="3260868"/>
                </a:lnTo>
                <a:lnTo>
                  <a:pt x="0" y="32608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1478453" y="765486"/>
            <a:ext cx="19766453" cy="612153"/>
          </a:xfrm>
          <a:prstGeom prst="rect">
            <a:avLst/>
          </a:prstGeom>
        </p:spPr>
        <p:txBody>
          <a:bodyPr lIns="0" tIns="0" rIns="0" bIns="0" rtlCol="0" anchor="t">
            <a:spAutoFit/>
          </a:bodyPr>
          <a:lstStyle/>
          <a:p>
            <a:pPr algn="ctr">
              <a:lnSpc>
                <a:spcPts val="4600"/>
              </a:lnSpc>
            </a:pPr>
            <a:r>
              <a:rPr lang="en-US" sz="4600" b="1">
                <a:solidFill>
                  <a:srgbClr val="000000"/>
                </a:solidFill>
                <a:latin typeface="Montserrat Ultra-Bold"/>
                <a:ea typeface="Montserrat Ultra-Bold"/>
                <a:cs typeface="Montserrat Ultra-Bold"/>
                <a:sym typeface="Montserrat Ultra-Bold"/>
              </a:rPr>
              <a:t>MEANING OF AUTHENTICATION </a:t>
            </a:r>
          </a:p>
        </p:txBody>
      </p:sp>
      <p:sp>
        <p:nvSpPr>
          <p:cNvPr id="8" name="TextBox 8"/>
          <p:cNvSpPr txBox="1"/>
          <p:nvPr/>
        </p:nvSpPr>
        <p:spPr>
          <a:xfrm>
            <a:off x="13518952" y="9615317"/>
            <a:ext cx="476904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0" y="354530"/>
            <a:ext cx="18416518" cy="835710"/>
          </a:xfrm>
          <a:prstGeom prst="rect">
            <a:avLst/>
          </a:prstGeom>
        </p:spPr>
        <p:txBody>
          <a:bodyPr lIns="0" tIns="0" rIns="0" bIns="0" rtlCol="0" anchor="t">
            <a:spAutoFit/>
          </a:bodyPr>
          <a:lstStyle/>
          <a:p>
            <a:pPr algn="ctr">
              <a:lnSpc>
                <a:spcPts val="6276"/>
              </a:lnSpc>
            </a:pPr>
            <a:r>
              <a:rPr lang="en-US" sz="6276" b="1">
                <a:solidFill>
                  <a:srgbClr val="000000"/>
                </a:solidFill>
                <a:latin typeface="Montserrat Ultra-Bold"/>
                <a:ea typeface="Montserrat Ultra-Bold"/>
                <a:cs typeface="Montserrat Ultra-Bold"/>
                <a:sym typeface="Montserrat Ultra-Bold"/>
              </a:rPr>
              <a:t>FREQUENTLY ASKED QUESTIONS  </a:t>
            </a:r>
          </a:p>
        </p:txBody>
      </p:sp>
      <p:sp>
        <p:nvSpPr>
          <p:cNvPr id="4" name="Freeform 4"/>
          <p:cNvSpPr/>
          <p:nvPr/>
        </p:nvSpPr>
        <p:spPr>
          <a:xfrm>
            <a:off x="-128518" y="6533409"/>
            <a:ext cx="5431872" cy="4511946"/>
          </a:xfrm>
          <a:custGeom>
            <a:avLst/>
            <a:gdLst/>
            <a:ahLst/>
            <a:cxnLst/>
            <a:rect l="l" t="t" r="r" b="b"/>
            <a:pathLst>
              <a:path w="5431872" h="4511946">
                <a:moveTo>
                  <a:pt x="0" y="0"/>
                </a:moveTo>
                <a:lnTo>
                  <a:pt x="5431873" y="0"/>
                </a:lnTo>
                <a:lnTo>
                  <a:pt x="5431873" y="4511946"/>
                </a:lnTo>
                <a:lnTo>
                  <a:pt x="0" y="4511946"/>
                </a:lnTo>
                <a:lnTo>
                  <a:pt x="0" y="0"/>
                </a:lnTo>
                <a:close/>
              </a:path>
            </a:pathLst>
          </a:custGeom>
          <a:blipFill>
            <a:blip r:embed="rId3"/>
            <a:stretch>
              <a:fillRect r="-158565"/>
            </a:stretch>
          </a:blipFill>
        </p:spPr>
        <p:txBody>
          <a:bodyPr/>
          <a:lstStyle/>
          <a:p>
            <a:endParaRPr lang="en-IN"/>
          </a:p>
        </p:txBody>
      </p:sp>
      <p:sp>
        <p:nvSpPr>
          <p:cNvPr id="5" name="Freeform 5"/>
          <p:cNvSpPr/>
          <p:nvPr/>
        </p:nvSpPr>
        <p:spPr>
          <a:xfrm>
            <a:off x="10813027" y="6533409"/>
            <a:ext cx="8733252" cy="4511946"/>
          </a:xfrm>
          <a:custGeom>
            <a:avLst/>
            <a:gdLst/>
            <a:ahLst/>
            <a:cxnLst/>
            <a:rect l="l" t="t" r="r" b="b"/>
            <a:pathLst>
              <a:path w="8733252" h="4511946">
                <a:moveTo>
                  <a:pt x="0" y="0"/>
                </a:moveTo>
                <a:lnTo>
                  <a:pt x="8733251" y="0"/>
                </a:lnTo>
                <a:lnTo>
                  <a:pt x="8733251" y="4511946"/>
                </a:lnTo>
                <a:lnTo>
                  <a:pt x="0" y="4511946"/>
                </a:lnTo>
                <a:lnTo>
                  <a:pt x="0" y="0"/>
                </a:lnTo>
                <a:close/>
              </a:path>
            </a:pathLst>
          </a:custGeom>
          <a:blipFill>
            <a:blip r:embed="rId3"/>
            <a:stretch>
              <a:fillRect l="-60821"/>
            </a:stretch>
          </a:blipFill>
        </p:spPr>
        <p:txBody>
          <a:bodyPr/>
          <a:lstStyle/>
          <a:p>
            <a:endParaRPr lang="en-IN"/>
          </a:p>
        </p:txBody>
      </p:sp>
      <p:sp>
        <p:nvSpPr>
          <p:cNvPr id="6" name="Freeform 6"/>
          <p:cNvSpPr/>
          <p:nvPr/>
        </p:nvSpPr>
        <p:spPr>
          <a:xfrm>
            <a:off x="7104129" y="2676497"/>
            <a:ext cx="2954177" cy="2970379"/>
          </a:xfrm>
          <a:custGeom>
            <a:avLst/>
            <a:gdLst/>
            <a:ahLst/>
            <a:cxnLst/>
            <a:rect l="l" t="t" r="r" b="b"/>
            <a:pathLst>
              <a:path w="2954177" h="2970379">
                <a:moveTo>
                  <a:pt x="0" y="0"/>
                </a:moveTo>
                <a:lnTo>
                  <a:pt x="2954177" y="0"/>
                </a:lnTo>
                <a:lnTo>
                  <a:pt x="2954177" y="2970379"/>
                </a:lnTo>
                <a:lnTo>
                  <a:pt x="0" y="2970379"/>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rot="-6270082">
            <a:off x="13449948" y="-1008356"/>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6">
              <a:alphaModFix amt="25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Freeform 8"/>
          <p:cNvSpPr/>
          <p:nvPr/>
        </p:nvSpPr>
        <p:spPr>
          <a:xfrm>
            <a:off x="7789857" y="1636973"/>
            <a:ext cx="2708287" cy="4114800"/>
          </a:xfrm>
          <a:custGeom>
            <a:avLst/>
            <a:gdLst/>
            <a:ahLst/>
            <a:cxnLst/>
            <a:rect l="l" t="t" r="r" b="b"/>
            <a:pathLst>
              <a:path w="2708287" h="4114800">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grpSp>
        <p:nvGrpSpPr>
          <p:cNvPr id="9" name="Group 9"/>
          <p:cNvGrpSpPr/>
          <p:nvPr/>
        </p:nvGrpSpPr>
        <p:grpSpPr>
          <a:xfrm>
            <a:off x="363421" y="1882747"/>
            <a:ext cx="6258083" cy="4288277"/>
            <a:chOff x="0" y="0"/>
            <a:chExt cx="1648219" cy="1129423"/>
          </a:xfrm>
        </p:grpSpPr>
        <p:sp>
          <p:nvSpPr>
            <p:cNvPr id="10" name="Freeform 10"/>
            <p:cNvSpPr/>
            <p:nvPr/>
          </p:nvSpPr>
          <p:spPr>
            <a:xfrm>
              <a:off x="0" y="0"/>
              <a:ext cx="1648220" cy="1129423"/>
            </a:xfrm>
            <a:custGeom>
              <a:avLst/>
              <a:gdLst/>
              <a:ahLst/>
              <a:cxnLst/>
              <a:rect l="l" t="t" r="r" b="b"/>
              <a:pathLst>
                <a:path w="1648220" h="1129423">
                  <a:moveTo>
                    <a:pt x="0" y="0"/>
                  </a:moveTo>
                  <a:lnTo>
                    <a:pt x="1648220" y="0"/>
                  </a:lnTo>
                  <a:lnTo>
                    <a:pt x="1648220" y="1129423"/>
                  </a:lnTo>
                  <a:lnTo>
                    <a:pt x="0" y="1129423"/>
                  </a:lnTo>
                  <a:close/>
                </a:path>
              </a:pathLst>
            </a:custGeom>
            <a:solidFill>
              <a:srgbClr val="C6D8FB"/>
            </a:solidFill>
          </p:spPr>
          <p:txBody>
            <a:bodyPr/>
            <a:lstStyle/>
            <a:p>
              <a:endParaRPr lang="en-IN"/>
            </a:p>
          </p:txBody>
        </p:sp>
        <p:sp>
          <p:nvSpPr>
            <p:cNvPr id="11" name="TextBox 11"/>
            <p:cNvSpPr txBox="1"/>
            <p:nvPr/>
          </p:nvSpPr>
          <p:spPr>
            <a:xfrm>
              <a:off x="0" y="-57150"/>
              <a:ext cx="1648219" cy="1186573"/>
            </a:xfrm>
            <a:prstGeom prst="rect">
              <a:avLst/>
            </a:prstGeom>
          </p:spPr>
          <p:txBody>
            <a:bodyPr lIns="50800" tIns="50800" rIns="50800" bIns="50800" rtlCol="0" anchor="ctr"/>
            <a:lstStyle/>
            <a:p>
              <a:pPr algn="ctr">
                <a:lnSpc>
                  <a:spcPts val="3499"/>
                </a:lnSpc>
              </a:pPr>
              <a:endParaRPr/>
            </a:p>
          </p:txBody>
        </p:sp>
      </p:grpSp>
      <p:sp>
        <p:nvSpPr>
          <p:cNvPr id="12" name="TextBox 12"/>
          <p:cNvSpPr txBox="1"/>
          <p:nvPr/>
        </p:nvSpPr>
        <p:spPr>
          <a:xfrm>
            <a:off x="584835" y="2133216"/>
            <a:ext cx="6036670" cy="4375150"/>
          </a:xfrm>
          <a:prstGeom prst="rect">
            <a:avLst/>
          </a:prstGeom>
        </p:spPr>
        <p:txBody>
          <a:bodyPr lIns="0" tIns="0" rIns="0" bIns="0" rtlCol="0" anchor="t">
            <a:spAutoFit/>
          </a:bodyPr>
          <a:lstStyle/>
          <a:p>
            <a:pPr algn="just">
              <a:lnSpc>
                <a:spcPts val="3499"/>
              </a:lnSpc>
            </a:pPr>
            <a:r>
              <a:rPr lang="en-US" sz="2499" b="1">
                <a:solidFill>
                  <a:srgbClr val="1C6993"/>
                </a:solidFill>
                <a:latin typeface="Raleway Bold"/>
                <a:ea typeface="Raleway Bold"/>
                <a:cs typeface="Raleway Bold"/>
                <a:sym typeface="Raleway Bold"/>
              </a:rPr>
              <a:t>Q1. Can a Power of Attorney be made </a:t>
            </a:r>
          </a:p>
          <a:p>
            <a:pPr algn="just">
              <a:lnSpc>
                <a:spcPts val="3499"/>
              </a:lnSpc>
            </a:pPr>
            <a:r>
              <a:rPr lang="en-US" sz="2499" b="1">
                <a:solidFill>
                  <a:srgbClr val="1C6993"/>
                </a:solidFill>
                <a:latin typeface="Raleway Bold"/>
                <a:ea typeface="Raleway Bold"/>
                <a:cs typeface="Raleway Bold"/>
                <a:sym typeface="Raleway Bold"/>
              </a:rPr>
              <a:t>online in Mumbai?</a:t>
            </a:r>
          </a:p>
          <a:p>
            <a:pPr algn="just">
              <a:lnSpc>
                <a:spcPts val="3499"/>
              </a:lnSpc>
            </a:pPr>
            <a:endParaRPr lang="en-US" sz="2499" b="1">
              <a:solidFill>
                <a:srgbClr val="1C6993"/>
              </a:solidFill>
              <a:latin typeface="Raleway Bold"/>
              <a:ea typeface="Raleway Bold"/>
              <a:cs typeface="Raleway Bold"/>
              <a:sym typeface="Raleway Bold"/>
            </a:endParaRPr>
          </a:p>
          <a:p>
            <a:pPr algn="just">
              <a:lnSpc>
                <a:spcPts val="3499"/>
              </a:lnSpc>
            </a:pPr>
            <a:r>
              <a:rPr lang="en-US" sz="2499" b="1">
                <a:solidFill>
                  <a:srgbClr val="1C6993"/>
                </a:solidFill>
                <a:latin typeface="Raleway Bold"/>
                <a:ea typeface="Raleway Bold"/>
                <a:cs typeface="Raleway Bold"/>
                <a:sym typeface="Raleway Bold"/>
              </a:rPr>
              <a:t>Answer: While the drafting process can be initiated online with legal assistance, the final execution and registration require the physical presence of the parties at the Sub-Registrar's office.</a:t>
            </a:r>
          </a:p>
          <a:p>
            <a:pPr algn="just">
              <a:lnSpc>
                <a:spcPts val="3499"/>
              </a:lnSpc>
            </a:pPr>
            <a:endParaRPr lang="en-US" sz="2499" b="1">
              <a:solidFill>
                <a:srgbClr val="1C6993"/>
              </a:solidFill>
              <a:latin typeface="Raleway Bold"/>
              <a:ea typeface="Raleway Bold"/>
              <a:cs typeface="Raleway Bold"/>
              <a:sym typeface="Raleway Bold"/>
            </a:endParaRPr>
          </a:p>
        </p:txBody>
      </p:sp>
      <p:grpSp>
        <p:nvGrpSpPr>
          <p:cNvPr id="13" name="Group 13"/>
          <p:cNvGrpSpPr/>
          <p:nvPr/>
        </p:nvGrpSpPr>
        <p:grpSpPr>
          <a:xfrm>
            <a:off x="11866030" y="1358600"/>
            <a:ext cx="5198933" cy="3370346"/>
            <a:chOff x="0" y="0"/>
            <a:chExt cx="1369266" cy="887663"/>
          </a:xfrm>
        </p:grpSpPr>
        <p:sp>
          <p:nvSpPr>
            <p:cNvPr id="14" name="Freeform 14"/>
            <p:cNvSpPr/>
            <p:nvPr/>
          </p:nvSpPr>
          <p:spPr>
            <a:xfrm>
              <a:off x="0" y="0"/>
              <a:ext cx="1369266" cy="887663"/>
            </a:xfrm>
            <a:custGeom>
              <a:avLst/>
              <a:gdLst/>
              <a:ahLst/>
              <a:cxnLst/>
              <a:rect l="l" t="t" r="r" b="b"/>
              <a:pathLst>
                <a:path w="1369266" h="887663">
                  <a:moveTo>
                    <a:pt x="0" y="0"/>
                  </a:moveTo>
                  <a:lnTo>
                    <a:pt x="1369266" y="0"/>
                  </a:lnTo>
                  <a:lnTo>
                    <a:pt x="1369266" y="887663"/>
                  </a:lnTo>
                  <a:lnTo>
                    <a:pt x="0" y="887663"/>
                  </a:lnTo>
                  <a:close/>
                </a:path>
              </a:pathLst>
            </a:custGeom>
            <a:solidFill>
              <a:srgbClr val="C6D8FB"/>
            </a:solidFill>
          </p:spPr>
          <p:txBody>
            <a:bodyPr/>
            <a:lstStyle/>
            <a:p>
              <a:endParaRPr lang="en-IN"/>
            </a:p>
          </p:txBody>
        </p:sp>
        <p:sp>
          <p:nvSpPr>
            <p:cNvPr id="15" name="TextBox 15"/>
            <p:cNvSpPr txBox="1"/>
            <p:nvPr/>
          </p:nvSpPr>
          <p:spPr>
            <a:xfrm>
              <a:off x="0" y="-57150"/>
              <a:ext cx="1369266" cy="944813"/>
            </a:xfrm>
            <a:prstGeom prst="rect">
              <a:avLst/>
            </a:prstGeom>
          </p:spPr>
          <p:txBody>
            <a:bodyPr lIns="50800" tIns="50800" rIns="50800" bIns="50800" rtlCol="0" anchor="ctr"/>
            <a:lstStyle/>
            <a:p>
              <a:pPr algn="ctr">
                <a:lnSpc>
                  <a:spcPts val="3499"/>
                </a:lnSpc>
              </a:pPr>
              <a:endParaRPr/>
            </a:p>
          </p:txBody>
        </p:sp>
      </p:grpSp>
      <p:sp>
        <p:nvSpPr>
          <p:cNvPr id="16" name="TextBox 16"/>
          <p:cNvSpPr txBox="1"/>
          <p:nvPr/>
        </p:nvSpPr>
        <p:spPr>
          <a:xfrm>
            <a:off x="11866030" y="1478223"/>
            <a:ext cx="5198933" cy="4375150"/>
          </a:xfrm>
          <a:prstGeom prst="rect">
            <a:avLst/>
          </a:prstGeom>
        </p:spPr>
        <p:txBody>
          <a:bodyPr lIns="0" tIns="0" rIns="0" bIns="0" rtlCol="0" anchor="t">
            <a:spAutoFit/>
          </a:bodyPr>
          <a:lstStyle/>
          <a:p>
            <a:pPr algn="just">
              <a:lnSpc>
                <a:spcPts val="3499"/>
              </a:lnSpc>
            </a:pPr>
            <a:r>
              <a:rPr lang="en-US" sz="2499" b="1">
                <a:solidFill>
                  <a:srgbClr val="1C6993"/>
                </a:solidFill>
                <a:latin typeface="Raleway Bold"/>
                <a:ea typeface="Raleway Bold"/>
                <a:cs typeface="Raleway Bold"/>
                <a:sym typeface="Raleway Bold"/>
              </a:rPr>
              <a:t>Q2. What is the validity of a POA in Mumbai?</a:t>
            </a:r>
          </a:p>
          <a:p>
            <a:pPr algn="just">
              <a:lnSpc>
                <a:spcPts val="3499"/>
              </a:lnSpc>
            </a:pPr>
            <a:r>
              <a:rPr lang="en-US" sz="2499" b="1">
                <a:solidFill>
                  <a:srgbClr val="1C6993"/>
                </a:solidFill>
                <a:latin typeface="Raleway Bold"/>
                <a:ea typeface="Raleway Bold"/>
                <a:cs typeface="Raleway Bold"/>
                <a:sym typeface="Raleway Bold"/>
              </a:rPr>
              <a:t>Ans. A POA is valid until it is revoked by the principal, the task is complete (for an SPA), or upon the death of either party, unless it is a Durable POA.</a:t>
            </a:r>
          </a:p>
          <a:p>
            <a:pPr algn="just">
              <a:lnSpc>
                <a:spcPts val="3499"/>
              </a:lnSpc>
            </a:pPr>
            <a:endParaRPr lang="en-US" sz="2499" b="1">
              <a:solidFill>
                <a:srgbClr val="1C6993"/>
              </a:solidFill>
              <a:latin typeface="Raleway Bold"/>
              <a:ea typeface="Raleway Bold"/>
              <a:cs typeface="Raleway Bold"/>
              <a:sym typeface="Raleway Bold"/>
            </a:endParaRPr>
          </a:p>
          <a:p>
            <a:pPr algn="just">
              <a:lnSpc>
                <a:spcPts val="3499"/>
              </a:lnSpc>
            </a:pPr>
            <a:endParaRPr lang="en-US" sz="2499" b="1">
              <a:solidFill>
                <a:srgbClr val="1C6993"/>
              </a:solidFill>
              <a:latin typeface="Raleway Bold"/>
              <a:ea typeface="Raleway Bold"/>
              <a:cs typeface="Raleway Bold"/>
              <a:sym typeface="Raleway Bold"/>
            </a:endParaRPr>
          </a:p>
          <a:p>
            <a:pPr algn="just">
              <a:lnSpc>
                <a:spcPts val="3499"/>
              </a:lnSpc>
            </a:pPr>
            <a:endParaRPr lang="en-US" sz="2499" b="1">
              <a:solidFill>
                <a:srgbClr val="1C6993"/>
              </a:solidFill>
              <a:latin typeface="Raleway Bold"/>
              <a:ea typeface="Raleway Bold"/>
              <a:cs typeface="Raleway Bold"/>
              <a:sym typeface="Raleway Bold"/>
            </a:endParaRPr>
          </a:p>
        </p:txBody>
      </p:sp>
      <p:grpSp>
        <p:nvGrpSpPr>
          <p:cNvPr id="17" name="Group 17"/>
          <p:cNvGrpSpPr/>
          <p:nvPr/>
        </p:nvGrpSpPr>
        <p:grpSpPr>
          <a:xfrm>
            <a:off x="13313808" y="5143500"/>
            <a:ext cx="4834593" cy="4114800"/>
            <a:chOff x="0" y="0"/>
            <a:chExt cx="1273308" cy="1083733"/>
          </a:xfrm>
        </p:grpSpPr>
        <p:sp>
          <p:nvSpPr>
            <p:cNvPr id="18" name="Freeform 18"/>
            <p:cNvSpPr/>
            <p:nvPr/>
          </p:nvSpPr>
          <p:spPr>
            <a:xfrm>
              <a:off x="0" y="0"/>
              <a:ext cx="1273308" cy="1083733"/>
            </a:xfrm>
            <a:custGeom>
              <a:avLst/>
              <a:gdLst/>
              <a:ahLst/>
              <a:cxnLst/>
              <a:rect l="l" t="t" r="r" b="b"/>
              <a:pathLst>
                <a:path w="1273308" h="1083733">
                  <a:moveTo>
                    <a:pt x="0" y="0"/>
                  </a:moveTo>
                  <a:lnTo>
                    <a:pt x="1273308" y="0"/>
                  </a:lnTo>
                  <a:lnTo>
                    <a:pt x="1273308" y="1083733"/>
                  </a:lnTo>
                  <a:lnTo>
                    <a:pt x="0" y="1083733"/>
                  </a:lnTo>
                  <a:close/>
                </a:path>
              </a:pathLst>
            </a:custGeom>
            <a:solidFill>
              <a:srgbClr val="C6D8FB"/>
            </a:solidFill>
          </p:spPr>
          <p:txBody>
            <a:bodyPr/>
            <a:lstStyle/>
            <a:p>
              <a:endParaRPr lang="en-IN"/>
            </a:p>
          </p:txBody>
        </p:sp>
        <p:sp>
          <p:nvSpPr>
            <p:cNvPr id="19" name="TextBox 19"/>
            <p:cNvSpPr txBox="1"/>
            <p:nvPr/>
          </p:nvSpPr>
          <p:spPr>
            <a:xfrm>
              <a:off x="0" y="-57150"/>
              <a:ext cx="1273308" cy="1140883"/>
            </a:xfrm>
            <a:prstGeom prst="rect">
              <a:avLst/>
            </a:prstGeom>
          </p:spPr>
          <p:txBody>
            <a:bodyPr lIns="50800" tIns="50800" rIns="50800" bIns="50800" rtlCol="0" anchor="ctr"/>
            <a:lstStyle/>
            <a:p>
              <a:pPr algn="just">
                <a:lnSpc>
                  <a:spcPts val="3499"/>
                </a:lnSpc>
              </a:pPr>
              <a:r>
                <a:rPr lang="en-US" sz="2499" b="1">
                  <a:solidFill>
                    <a:srgbClr val="1C6993"/>
                  </a:solidFill>
                  <a:latin typeface="Raleway Bold"/>
                  <a:ea typeface="Raleway Bold"/>
                  <a:cs typeface="Raleway Bold"/>
                  <a:sym typeface="Raleway Bold"/>
                </a:rPr>
                <a:t>Q3. How much does POA registration cost in Mumbai?</a:t>
              </a:r>
            </a:p>
            <a:p>
              <a:pPr algn="just">
                <a:lnSpc>
                  <a:spcPts val="3499"/>
                </a:lnSpc>
              </a:pPr>
              <a:r>
                <a:rPr lang="en-US" sz="2499" b="1">
                  <a:solidFill>
                    <a:srgbClr val="1C6993"/>
                  </a:solidFill>
                  <a:latin typeface="Raleway Bold"/>
                  <a:ea typeface="Raleway Bold"/>
                  <a:cs typeface="Raleway Bold"/>
                  <a:sym typeface="Raleway Bold"/>
                </a:rPr>
                <a:t>Ans. The registration fee is typically 1% of the property value (capped at ₹30,000) for property-related POAs, or a smaller fixed fee for other types of POAs.</a:t>
              </a:r>
            </a:p>
            <a:p>
              <a:pPr algn="ctr">
                <a:lnSpc>
                  <a:spcPts val="3499"/>
                </a:lnSpc>
              </a:pPr>
              <a:endParaRPr lang="en-US" sz="2499" b="1">
                <a:solidFill>
                  <a:srgbClr val="1C6993"/>
                </a:solidFill>
                <a:latin typeface="Raleway Bold"/>
                <a:ea typeface="Raleway Bold"/>
                <a:cs typeface="Raleway Bold"/>
                <a:sym typeface="Raleway Bold"/>
              </a:endParaRPr>
            </a:p>
          </p:txBody>
        </p:sp>
      </p:grpSp>
      <p:grpSp>
        <p:nvGrpSpPr>
          <p:cNvPr id="20" name="Group 20"/>
          <p:cNvGrpSpPr/>
          <p:nvPr/>
        </p:nvGrpSpPr>
        <p:grpSpPr>
          <a:xfrm>
            <a:off x="7350019" y="6476616"/>
            <a:ext cx="5509672" cy="4517390"/>
            <a:chOff x="0" y="0"/>
            <a:chExt cx="1451107" cy="1189765"/>
          </a:xfrm>
        </p:grpSpPr>
        <p:sp>
          <p:nvSpPr>
            <p:cNvPr id="21" name="Freeform 21"/>
            <p:cNvSpPr/>
            <p:nvPr/>
          </p:nvSpPr>
          <p:spPr>
            <a:xfrm>
              <a:off x="0" y="0"/>
              <a:ext cx="1451107" cy="1189765"/>
            </a:xfrm>
            <a:custGeom>
              <a:avLst/>
              <a:gdLst/>
              <a:ahLst/>
              <a:cxnLst/>
              <a:rect l="l" t="t" r="r" b="b"/>
              <a:pathLst>
                <a:path w="1451107" h="1189765">
                  <a:moveTo>
                    <a:pt x="0" y="0"/>
                  </a:moveTo>
                  <a:lnTo>
                    <a:pt x="1451107" y="0"/>
                  </a:lnTo>
                  <a:lnTo>
                    <a:pt x="1451107" y="1189765"/>
                  </a:lnTo>
                  <a:lnTo>
                    <a:pt x="0" y="1189765"/>
                  </a:lnTo>
                  <a:close/>
                </a:path>
              </a:pathLst>
            </a:custGeom>
            <a:solidFill>
              <a:srgbClr val="C6D8FB"/>
            </a:solidFill>
          </p:spPr>
          <p:txBody>
            <a:bodyPr/>
            <a:lstStyle/>
            <a:p>
              <a:endParaRPr lang="en-IN"/>
            </a:p>
          </p:txBody>
        </p:sp>
        <p:sp>
          <p:nvSpPr>
            <p:cNvPr id="22" name="TextBox 22"/>
            <p:cNvSpPr txBox="1"/>
            <p:nvPr/>
          </p:nvSpPr>
          <p:spPr>
            <a:xfrm>
              <a:off x="0" y="-57150"/>
              <a:ext cx="1451107" cy="1246915"/>
            </a:xfrm>
            <a:prstGeom prst="rect">
              <a:avLst/>
            </a:prstGeom>
          </p:spPr>
          <p:txBody>
            <a:bodyPr lIns="50800" tIns="50800" rIns="50800" bIns="50800" rtlCol="0" anchor="ctr"/>
            <a:lstStyle/>
            <a:p>
              <a:pPr algn="just">
                <a:lnSpc>
                  <a:spcPts val="3499"/>
                </a:lnSpc>
              </a:pPr>
              <a:r>
                <a:rPr lang="en-US" sz="2499" b="1">
                  <a:solidFill>
                    <a:srgbClr val="1C6993"/>
                  </a:solidFill>
                  <a:latin typeface="Raleway Bold"/>
                  <a:ea typeface="Raleway Bold"/>
                  <a:cs typeface="Raleway Bold"/>
                  <a:sym typeface="Raleway Bold"/>
                </a:rPr>
                <a:t>Q4. Is a Power of Attorney mandatory for property transactions in Mumbai?</a:t>
              </a:r>
            </a:p>
            <a:p>
              <a:pPr algn="just">
                <a:lnSpc>
                  <a:spcPts val="3499"/>
                </a:lnSpc>
              </a:pPr>
              <a:r>
                <a:rPr lang="en-US" sz="2499" b="1">
                  <a:solidFill>
                    <a:srgbClr val="1C6993"/>
                  </a:solidFill>
                  <a:latin typeface="Raleway Bold"/>
                  <a:ea typeface="Raleway Bold"/>
                  <a:cs typeface="Raleway Bold"/>
                  <a:sym typeface="Raleway Bold"/>
                </a:rPr>
                <a:t>Ans. It is not mandatory if the owner is physically present. It is only required when the owner cannot be present and needs to authorize someone else to act.</a:t>
              </a:r>
            </a:p>
            <a:p>
              <a:pPr algn="just">
                <a:lnSpc>
                  <a:spcPts val="3499"/>
                </a:lnSpc>
              </a:pPr>
              <a:endParaRPr lang="en-US" sz="2499" b="1">
                <a:solidFill>
                  <a:srgbClr val="1C6993"/>
                </a:solidFill>
                <a:latin typeface="Raleway Bold"/>
                <a:ea typeface="Raleway Bold"/>
                <a:cs typeface="Raleway Bold"/>
                <a:sym typeface="Raleway Bold"/>
              </a:endParaRPr>
            </a:p>
            <a:p>
              <a:pPr algn="ctr">
                <a:lnSpc>
                  <a:spcPts val="3499"/>
                </a:lnSpc>
              </a:pPr>
              <a:endParaRPr lang="en-US" sz="2499" b="1">
                <a:solidFill>
                  <a:srgbClr val="1C6993"/>
                </a:solidFill>
                <a:latin typeface="Raleway Bold"/>
                <a:ea typeface="Raleway Bold"/>
                <a:cs typeface="Raleway Bold"/>
                <a:sym typeface="Raleway Bold"/>
              </a:endParaRPr>
            </a:p>
          </p:txBody>
        </p:sp>
      </p:grpSp>
      <p:grpSp>
        <p:nvGrpSpPr>
          <p:cNvPr id="23" name="Group 23"/>
          <p:cNvGrpSpPr/>
          <p:nvPr/>
        </p:nvGrpSpPr>
        <p:grpSpPr>
          <a:xfrm>
            <a:off x="1111833" y="6305166"/>
            <a:ext cx="5712633" cy="4517390"/>
            <a:chOff x="0" y="0"/>
            <a:chExt cx="1504562" cy="1189765"/>
          </a:xfrm>
        </p:grpSpPr>
        <p:sp>
          <p:nvSpPr>
            <p:cNvPr id="24" name="Freeform 24"/>
            <p:cNvSpPr/>
            <p:nvPr/>
          </p:nvSpPr>
          <p:spPr>
            <a:xfrm>
              <a:off x="0" y="0"/>
              <a:ext cx="1504562" cy="1189765"/>
            </a:xfrm>
            <a:custGeom>
              <a:avLst/>
              <a:gdLst/>
              <a:ahLst/>
              <a:cxnLst/>
              <a:rect l="l" t="t" r="r" b="b"/>
              <a:pathLst>
                <a:path w="1504562" h="1189765">
                  <a:moveTo>
                    <a:pt x="0" y="0"/>
                  </a:moveTo>
                  <a:lnTo>
                    <a:pt x="1504562" y="0"/>
                  </a:lnTo>
                  <a:lnTo>
                    <a:pt x="1504562" y="1189765"/>
                  </a:lnTo>
                  <a:lnTo>
                    <a:pt x="0" y="1189765"/>
                  </a:lnTo>
                  <a:close/>
                </a:path>
              </a:pathLst>
            </a:custGeom>
            <a:solidFill>
              <a:srgbClr val="C6D8FB"/>
            </a:solidFill>
          </p:spPr>
          <p:txBody>
            <a:bodyPr/>
            <a:lstStyle/>
            <a:p>
              <a:endParaRPr lang="en-IN"/>
            </a:p>
          </p:txBody>
        </p:sp>
        <p:sp>
          <p:nvSpPr>
            <p:cNvPr id="25" name="TextBox 25"/>
            <p:cNvSpPr txBox="1"/>
            <p:nvPr/>
          </p:nvSpPr>
          <p:spPr>
            <a:xfrm>
              <a:off x="0" y="-57150"/>
              <a:ext cx="1504562" cy="1246915"/>
            </a:xfrm>
            <a:prstGeom prst="rect">
              <a:avLst/>
            </a:prstGeom>
          </p:spPr>
          <p:txBody>
            <a:bodyPr lIns="50800" tIns="50800" rIns="50800" bIns="50800" rtlCol="0" anchor="ctr"/>
            <a:lstStyle/>
            <a:p>
              <a:pPr algn="just">
                <a:lnSpc>
                  <a:spcPts val="3499"/>
                </a:lnSpc>
              </a:pPr>
              <a:endParaRPr/>
            </a:p>
            <a:p>
              <a:pPr algn="l">
                <a:lnSpc>
                  <a:spcPts val="3499"/>
                </a:lnSpc>
              </a:pPr>
              <a:r>
                <a:rPr lang="en-US" sz="2499" b="1">
                  <a:solidFill>
                    <a:srgbClr val="1C6993"/>
                  </a:solidFill>
                  <a:latin typeface="Raleway Bold"/>
                  <a:ea typeface="Raleway Bold"/>
                  <a:cs typeface="Raleway Bold"/>
                  <a:sym typeface="Raleway Bold"/>
                </a:rPr>
                <a:t>Q5. How many witnesses are required for POA registration in Mumbai?</a:t>
              </a:r>
            </a:p>
            <a:p>
              <a:pPr algn="l">
                <a:lnSpc>
                  <a:spcPts val="3499"/>
                </a:lnSpc>
              </a:pPr>
              <a:r>
                <a:rPr lang="en-US" sz="2499" b="1">
                  <a:solidFill>
                    <a:srgbClr val="1C6993"/>
                  </a:solidFill>
                  <a:latin typeface="Raleway Bold"/>
                  <a:ea typeface="Raleway Bold"/>
                  <a:cs typeface="Raleway Bold"/>
                  <a:sym typeface="Raleway Bold"/>
                </a:rPr>
                <a:t>Ans. Two adult witnesses are required to be physically present to sign the document at the time of execution and registration</a:t>
              </a:r>
            </a:p>
            <a:p>
              <a:pPr algn="ctr">
                <a:lnSpc>
                  <a:spcPts val="3499"/>
                </a:lnSpc>
              </a:pPr>
              <a:endParaRPr lang="en-US" sz="2499" b="1">
                <a:solidFill>
                  <a:srgbClr val="1C6993"/>
                </a:solidFill>
                <a:latin typeface="Raleway Bold"/>
                <a:ea typeface="Raleway Bold"/>
                <a:cs typeface="Raleway Bold"/>
                <a:sym typeface="Raleway Bold"/>
              </a:endParaRPr>
            </a:p>
            <a:p>
              <a:pPr algn="ctr">
                <a:lnSpc>
                  <a:spcPts val="3499"/>
                </a:lnSpc>
              </a:pPr>
              <a:endParaRPr lang="en-US" sz="2499" b="1">
                <a:solidFill>
                  <a:srgbClr val="1C6993"/>
                </a:solidFill>
                <a:latin typeface="Raleway Bold"/>
                <a:ea typeface="Raleway Bold"/>
                <a:cs typeface="Raleway Bold"/>
                <a:sym typeface="Raleway Bold"/>
              </a:endParaRPr>
            </a:p>
          </p:txBody>
        </p:sp>
      </p:grpSp>
      <p:sp>
        <p:nvSpPr>
          <p:cNvPr id="26" name="TextBox 26"/>
          <p:cNvSpPr txBox="1"/>
          <p:nvPr/>
        </p:nvSpPr>
        <p:spPr>
          <a:xfrm>
            <a:off x="14170225" y="9553575"/>
            <a:ext cx="3978176" cy="966778"/>
          </a:xfrm>
          <a:prstGeom prst="rect">
            <a:avLst/>
          </a:prstGeom>
        </p:spPr>
        <p:txBody>
          <a:bodyPr lIns="0" tIns="0" rIns="0" bIns="0" rtlCol="0" anchor="t">
            <a:spAutoFit/>
          </a:bodyPr>
          <a:lstStyle/>
          <a:p>
            <a:pPr algn="ctr">
              <a:lnSpc>
                <a:spcPts val="3938"/>
              </a:lnSpc>
            </a:pPr>
            <a:r>
              <a:rPr lang="en-US" sz="2812" b="1">
                <a:solidFill>
                  <a:srgbClr val="000000"/>
                </a:solidFill>
                <a:latin typeface="Canva Sans Bold"/>
                <a:ea typeface="Canva Sans Bold"/>
                <a:cs typeface="Canva Sans Bold"/>
                <a:sym typeface="Canva Sans Bold"/>
              </a:rPr>
              <a:t>© Pereira &amp; Associates </a:t>
            </a:r>
          </a:p>
          <a:p>
            <a:pPr algn="ctr">
              <a:lnSpc>
                <a:spcPts val="3938"/>
              </a:lnSpc>
            </a:pPr>
            <a:endParaRPr lang="en-US" sz="2812" b="1">
              <a:solidFill>
                <a:srgbClr val="000000"/>
              </a:solidFill>
              <a:latin typeface="Canva Sans Bold"/>
              <a:ea typeface="Canva Sans Bold"/>
              <a:cs typeface="Canva Sans Bold"/>
              <a:sym typeface="Canva Sans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404504" y="1584738"/>
            <a:ext cx="10295137" cy="9138103"/>
          </a:xfrm>
          <a:prstGeom prst="rect">
            <a:avLst/>
          </a:prstGeom>
        </p:spPr>
        <p:txBody>
          <a:bodyPr lIns="0" tIns="0" rIns="0" bIns="0" rtlCol="0" anchor="t">
            <a:spAutoFit/>
          </a:bodyPr>
          <a:lstStyle/>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Authentication by a notary public is sufficient for a Power of Attorney not giving authority to register a document. However, if the Power of Attorney gives authority to present a document for registration, then the said POA needs to be registered</a:t>
            </a: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r>
              <a:rPr lang="en-US" sz="3232" b="1">
                <a:solidFill>
                  <a:srgbClr val="1C6993"/>
                </a:solidFill>
                <a:latin typeface="Raleway Bold"/>
                <a:ea typeface="Raleway Bold"/>
                <a:cs typeface="Raleway Bold"/>
                <a:sym typeface="Raleway Bold"/>
              </a:rPr>
              <a:t>MANDATORY REGISTRATION</a:t>
            </a:r>
          </a:p>
          <a:p>
            <a:pPr algn="just">
              <a:lnSpc>
                <a:spcPts val="4525"/>
              </a:lnSpc>
            </a:pPr>
            <a:endParaRPr lang="en-US" sz="3232" b="1">
              <a:solidFill>
                <a:srgbClr val="1C6993"/>
              </a:solidFill>
              <a:latin typeface="Raleway Bold"/>
              <a:ea typeface="Raleway Bold"/>
              <a:cs typeface="Raleway Bold"/>
              <a:sym typeface="Raleway Bold"/>
            </a:endParaRPr>
          </a:p>
          <a:p>
            <a:pPr algn="just">
              <a:lnSpc>
                <a:spcPts val="4525"/>
              </a:lnSpc>
            </a:pPr>
            <a:r>
              <a:rPr lang="en-US" sz="3232" b="1">
                <a:solidFill>
                  <a:srgbClr val="000000"/>
                </a:solidFill>
                <a:latin typeface="Raleway Bold"/>
                <a:ea typeface="Raleway Bold"/>
                <a:cs typeface="Raleway Bold"/>
                <a:sym typeface="Raleway Bold"/>
              </a:rPr>
              <a:t>Any POA giving the right to an Agent to dispose of a property through a sale deed or conveyance deed, gift deed, relinquishment deed, etc. needs to be mandatorily registered.</a:t>
            </a: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endParaRPr lang="en-US" sz="3232" b="1">
              <a:solidFill>
                <a:srgbClr val="000000"/>
              </a:solidFill>
              <a:latin typeface="Raleway Bold"/>
              <a:ea typeface="Raleway Bold"/>
              <a:cs typeface="Raleway Bold"/>
              <a:sym typeface="Raleway Bold"/>
            </a:endParaRPr>
          </a:p>
        </p:txBody>
      </p:sp>
      <p:sp>
        <p:nvSpPr>
          <p:cNvPr id="6" name="Freeform 6"/>
          <p:cNvSpPr/>
          <p:nvPr/>
        </p:nvSpPr>
        <p:spPr>
          <a:xfrm>
            <a:off x="11552464" y="3086100"/>
            <a:ext cx="6735536" cy="4114800"/>
          </a:xfrm>
          <a:custGeom>
            <a:avLst/>
            <a:gdLst/>
            <a:ahLst/>
            <a:cxnLst/>
            <a:rect l="l" t="t" r="r" b="b"/>
            <a:pathLst>
              <a:path w="6735536" h="4114800">
                <a:moveTo>
                  <a:pt x="0" y="0"/>
                </a:moveTo>
                <a:lnTo>
                  <a:pt x="6735536" y="0"/>
                </a:lnTo>
                <a:lnTo>
                  <a:pt x="673553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1028700" y="416547"/>
            <a:ext cx="17754067" cy="612153"/>
          </a:xfrm>
          <a:prstGeom prst="rect">
            <a:avLst/>
          </a:prstGeom>
        </p:spPr>
        <p:txBody>
          <a:bodyPr lIns="0" tIns="0" rIns="0" bIns="0" rtlCol="0" anchor="t">
            <a:spAutoFit/>
          </a:bodyPr>
          <a:lstStyle/>
          <a:p>
            <a:pPr algn="ctr">
              <a:lnSpc>
                <a:spcPts val="4600"/>
              </a:lnSpc>
            </a:pPr>
            <a:r>
              <a:rPr lang="en-US" sz="4600" b="1">
                <a:solidFill>
                  <a:srgbClr val="1C6993"/>
                </a:solidFill>
                <a:latin typeface="Montserrat Ultra-Bold"/>
                <a:ea typeface="Montserrat Ultra-Bold"/>
                <a:cs typeface="Montserrat Ultra-Bold"/>
                <a:sym typeface="Montserrat Ultra-Bold"/>
              </a:rPr>
              <a:t>NOTARIZATION VS. REGISTRATION </a:t>
            </a:r>
          </a:p>
        </p:txBody>
      </p:sp>
      <p:sp>
        <p:nvSpPr>
          <p:cNvPr id="8" name="TextBox 8"/>
          <p:cNvSpPr txBox="1"/>
          <p:nvPr/>
        </p:nvSpPr>
        <p:spPr>
          <a:xfrm>
            <a:off x="14251856" y="9364132"/>
            <a:ext cx="3740348" cy="922868"/>
          </a:xfrm>
          <a:prstGeom prst="rect">
            <a:avLst/>
          </a:prstGeom>
        </p:spPr>
        <p:txBody>
          <a:bodyPr lIns="0" tIns="0" rIns="0" bIns="0" rtlCol="0" anchor="t">
            <a:spAutoFit/>
          </a:bodyPr>
          <a:lstStyle/>
          <a:p>
            <a:pPr algn="ctr">
              <a:lnSpc>
                <a:spcPts val="3733"/>
              </a:lnSpc>
            </a:pPr>
            <a:r>
              <a:rPr lang="en-US" sz="2666" b="1">
                <a:solidFill>
                  <a:srgbClr val="000000"/>
                </a:solidFill>
                <a:latin typeface="Canva Sans Bold"/>
                <a:ea typeface="Canva Sans Bold"/>
                <a:cs typeface="Canva Sans Bold"/>
                <a:sym typeface="Canva Sans Bold"/>
              </a:rPr>
              <a:t>© Pereira &amp; Associates </a:t>
            </a:r>
          </a:p>
          <a:p>
            <a:pPr algn="ctr">
              <a:lnSpc>
                <a:spcPts val="3733"/>
              </a:lnSpc>
            </a:pPr>
            <a:endParaRPr lang="en-US" sz="2666" b="1">
              <a:solidFill>
                <a:srgbClr val="000000"/>
              </a:solidFill>
              <a:latin typeface="Canva Sans Bold"/>
              <a:ea typeface="Canva Sans Bold"/>
              <a:cs typeface="Canva Sans Bold"/>
              <a:sym typeface="Canva Sans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404504" y="1842542"/>
            <a:ext cx="16854796" cy="8098611"/>
          </a:xfrm>
          <a:prstGeom prst="rect">
            <a:avLst/>
          </a:prstGeom>
        </p:spPr>
        <p:txBody>
          <a:bodyPr lIns="0" tIns="0" rIns="0" bIns="0" rtlCol="0" anchor="t">
            <a:spAutoFit/>
          </a:bodyPr>
          <a:lstStyle/>
          <a:p>
            <a:pPr algn="just">
              <a:lnSpc>
                <a:spcPts val="5854"/>
              </a:lnSpc>
            </a:pPr>
            <a:endParaRP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Choosing the right type of POA as per your requirement.</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Drafting the POA on a stamp paper, outlining all the terms.</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Visiting the Registrar’s Office.</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Online appointment (if applicable)</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Presence of Principal, Agent, and witnesses</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Submission of documents</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Biometric verification</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Payment of fees</a:t>
            </a:r>
          </a:p>
          <a:p>
            <a:pPr marL="902904" lvl="1" indent="-451452" algn="just">
              <a:lnSpc>
                <a:spcPts val="5854"/>
              </a:lnSpc>
              <a:buAutoNum type="arabicPeriod"/>
            </a:pPr>
            <a:r>
              <a:rPr lang="en-US" sz="4182" b="1">
                <a:solidFill>
                  <a:srgbClr val="000000"/>
                </a:solidFill>
                <a:latin typeface="Raleway Bold"/>
                <a:ea typeface="Raleway Bold"/>
                <a:cs typeface="Raleway Bold"/>
                <a:sym typeface="Raleway Bold"/>
              </a:rPr>
              <a:t>Receipt of registered PoA</a:t>
            </a:r>
          </a:p>
          <a:p>
            <a:pPr algn="just">
              <a:lnSpc>
                <a:spcPts val="5434"/>
              </a:lnSpc>
            </a:pPr>
            <a:endParaRPr lang="en-US" sz="4182" b="1">
              <a:solidFill>
                <a:srgbClr val="000000"/>
              </a:solidFill>
              <a:latin typeface="Raleway Bold"/>
              <a:ea typeface="Raleway Bold"/>
              <a:cs typeface="Raleway Bold"/>
              <a:sym typeface="Raleway Bold"/>
            </a:endParaRPr>
          </a:p>
        </p:txBody>
      </p:sp>
      <p:sp>
        <p:nvSpPr>
          <p:cNvPr id="6" name="Freeform 6"/>
          <p:cNvSpPr/>
          <p:nvPr/>
        </p:nvSpPr>
        <p:spPr>
          <a:xfrm>
            <a:off x="13935808" y="3927622"/>
            <a:ext cx="4352192" cy="4114800"/>
          </a:xfrm>
          <a:custGeom>
            <a:avLst/>
            <a:gdLst/>
            <a:ahLst/>
            <a:cxnLst/>
            <a:rect l="l" t="t" r="r" b="b"/>
            <a:pathLst>
              <a:path w="4352192" h="4114800">
                <a:moveTo>
                  <a:pt x="0" y="0"/>
                </a:moveTo>
                <a:lnTo>
                  <a:pt x="4352192" y="0"/>
                </a:lnTo>
                <a:lnTo>
                  <a:pt x="4352192"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0" y="1033143"/>
            <a:ext cx="17754067" cy="1193178"/>
          </a:xfrm>
          <a:prstGeom prst="rect">
            <a:avLst/>
          </a:prstGeom>
        </p:spPr>
        <p:txBody>
          <a:bodyPr lIns="0" tIns="0" rIns="0" bIns="0" rtlCol="0" anchor="t">
            <a:spAutoFit/>
          </a:bodyPr>
          <a:lstStyle/>
          <a:p>
            <a:pPr algn="ctr">
              <a:lnSpc>
                <a:spcPts val="4600"/>
              </a:lnSpc>
            </a:pPr>
            <a:r>
              <a:rPr lang="en-US" sz="4600" b="1">
                <a:solidFill>
                  <a:srgbClr val="1C6993"/>
                </a:solidFill>
                <a:latin typeface="Montserrat Ultra-Bold"/>
                <a:ea typeface="Montserrat Ultra-Bold"/>
                <a:cs typeface="Montserrat Ultra-Bold"/>
                <a:sym typeface="Montserrat Ultra-Bold"/>
              </a:rPr>
              <a:t>STEPS TO REGISTER A POA </a:t>
            </a:r>
          </a:p>
          <a:p>
            <a:pPr algn="ctr">
              <a:lnSpc>
                <a:spcPts val="4600"/>
              </a:lnSpc>
            </a:pPr>
            <a:endParaRPr lang="en-US" sz="4600" b="1">
              <a:solidFill>
                <a:srgbClr val="1C6993"/>
              </a:solidFill>
              <a:latin typeface="Montserrat Ultra-Bold"/>
              <a:ea typeface="Montserrat Ultra-Bold"/>
              <a:cs typeface="Montserrat Ultra-Bold"/>
              <a:sym typeface="Montserrat Ultra-Bold"/>
            </a:endParaRPr>
          </a:p>
        </p:txBody>
      </p:sp>
      <p:sp>
        <p:nvSpPr>
          <p:cNvPr id="8" name="TextBox 8"/>
          <p:cNvSpPr txBox="1"/>
          <p:nvPr/>
        </p:nvSpPr>
        <p:spPr>
          <a:xfrm>
            <a:off x="13095166" y="9663430"/>
            <a:ext cx="5572820"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2769735" y="3230868"/>
            <a:ext cx="4296460" cy="4429340"/>
          </a:xfrm>
          <a:custGeom>
            <a:avLst/>
            <a:gdLst/>
            <a:ahLst/>
            <a:cxnLst/>
            <a:rect l="l" t="t" r="r" b="b"/>
            <a:pathLst>
              <a:path w="4296460" h="4429340">
                <a:moveTo>
                  <a:pt x="0" y="0"/>
                </a:moveTo>
                <a:lnTo>
                  <a:pt x="4296459" y="0"/>
                </a:lnTo>
                <a:lnTo>
                  <a:pt x="4296459" y="4429340"/>
                </a:lnTo>
                <a:lnTo>
                  <a:pt x="0" y="4429340"/>
                </a:lnTo>
                <a:lnTo>
                  <a:pt x="0" y="0"/>
                </a:lnTo>
                <a:close/>
              </a:path>
            </a:pathLst>
          </a:custGeom>
          <a:blipFill>
            <a:blip r:embed="rId5"/>
            <a:stretch>
              <a:fillRect/>
            </a:stretch>
          </a:blipFill>
        </p:spPr>
        <p:txBody>
          <a:bodyPr/>
          <a:lstStyle/>
          <a:p>
            <a:endParaRPr lang="en-IN"/>
          </a:p>
        </p:txBody>
      </p:sp>
      <p:sp>
        <p:nvSpPr>
          <p:cNvPr id="6" name="TextBox 6"/>
          <p:cNvSpPr txBox="1"/>
          <p:nvPr/>
        </p:nvSpPr>
        <p:spPr>
          <a:xfrm>
            <a:off x="1028700" y="1655348"/>
            <a:ext cx="10295137" cy="6328228"/>
          </a:xfrm>
          <a:prstGeom prst="rect">
            <a:avLst/>
          </a:prstGeom>
        </p:spPr>
        <p:txBody>
          <a:bodyPr lIns="0" tIns="0" rIns="0" bIns="0" rtlCol="0" anchor="t">
            <a:spAutoFit/>
          </a:bodyPr>
          <a:lstStyle/>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A Power of Attorney authenticated before a Registrar may be revoked by an application on a paper without any court fee.</a:t>
            </a: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944"/>
              </a:lnSpc>
            </a:pPr>
            <a:r>
              <a:rPr lang="en-US" sz="3532" b="1">
                <a:solidFill>
                  <a:srgbClr val="1C6993"/>
                </a:solidFill>
                <a:latin typeface="Raleway Bold"/>
                <a:ea typeface="Raleway Bold"/>
                <a:cs typeface="Raleway Bold"/>
                <a:sym typeface="Raleway Bold"/>
              </a:rPr>
              <a:t>              REVOCATION PROCEDURE</a:t>
            </a:r>
          </a:p>
          <a:p>
            <a:pPr algn="just">
              <a:lnSpc>
                <a:spcPts val="4525"/>
              </a:lnSpc>
            </a:pPr>
            <a:endParaRPr lang="en-US" sz="3532" b="1">
              <a:solidFill>
                <a:srgbClr val="1C6993"/>
              </a:solidFill>
              <a:latin typeface="Raleway Bold"/>
              <a:ea typeface="Raleway Bold"/>
              <a:cs typeface="Raleway Bold"/>
              <a:sym typeface="Raleway Bold"/>
            </a:endParaRPr>
          </a:p>
          <a:p>
            <a:pPr algn="just">
              <a:lnSpc>
                <a:spcPts val="4525"/>
              </a:lnSpc>
            </a:pPr>
            <a:endParaRPr lang="en-US" sz="3532" b="1">
              <a:solidFill>
                <a:srgbClr val="1C6993"/>
              </a:solidFill>
              <a:latin typeface="Raleway Bold"/>
              <a:ea typeface="Raleway Bold"/>
              <a:cs typeface="Raleway Bold"/>
              <a:sym typeface="Raleway Bold"/>
            </a:endParaRPr>
          </a:p>
          <a:p>
            <a:pPr algn="just">
              <a:lnSpc>
                <a:spcPts val="4525"/>
              </a:lnSpc>
            </a:pPr>
            <a:endParaRPr lang="en-US" sz="3532" b="1">
              <a:solidFill>
                <a:srgbClr val="1C6993"/>
              </a:solidFill>
              <a:latin typeface="Raleway Bold"/>
              <a:ea typeface="Raleway Bold"/>
              <a:cs typeface="Raleway Bold"/>
              <a:sym typeface="Raleway Bold"/>
            </a:endParaRPr>
          </a:p>
          <a:p>
            <a:pPr algn="just">
              <a:lnSpc>
                <a:spcPts val="4525"/>
              </a:lnSpc>
            </a:pPr>
            <a:endParaRPr lang="en-US" sz="3532" b="1">
              <a:solidFill>
                <a:srgbClr val="1C6993"/>
              </a:solidFill>
              <a:latin typeface="Raleway Bold"/>
              <a:ea typeface="Raleway Bold"/>
              <a:cs typeface="Raleway Bold"/>
              <a:sym typeface="Raleway Bold"/>
            </a:endParaRPr>
          </a:p>
          <a:p>
            <a:pPr algn="just">
              <a:lnSpc>
                <a:spcPts val="4525"/>
              </a:lnSpc>
            </a:pPr>
            <a:endParaRPr lang="en-US" sz="3532" b="1">
              <a:solidFill>
                <a:srgbClr val="1C6993"/>
              </a:solidFill>
              <a:latin typeface="Raleway Bold"/>
              <a:ea typeface="Raleway Bold"/>
              <a:cs typeface="Raleway Bold"/>
              <a:sym typeface="Raleway Bold"/>
            </a:endParaRPr>
          </a:p>
          <a:p>
            <a:pPr algn="just">
              <a:lnSpc>
                <a:spcPts val="4525"/>
              </a:lnSpc>
            </a:pPr>
            <a:endParaRPr lang="en-US" sz="3532" b="1">
              <a:solidFill>
                <a:srgbClr val="1C6993"/>
              </a:solidFill>
              <a:latin typeface="Raleway Bold"/>
              <a:ea typeface="Raleway Bold"/>
              <a:cs typeface="Raleway Bold"/>
              <a:sym typeface="Raleway Bold"/>
            </a:endParaRPr>
          </a:p>
        </p:txBody>
      </p:sp>
      <p:grpSp>
        <p:nvGrpSpPr>
          <p:cNvPr id="7" name="Group 7"/>
          <p:cNvGrpSpPr/>
          <p:nvPr/>
        </p:nvGrpSpPr>
        <p:grpSpPr>
          <a:xfrm>
            <a:off x="2022757" y="4987397"/>
            <a:ext cx="7585399" cy="4270903"/>
            <a:chOff x="0" y="0"/>
            <a:chExt cx="1997801" cy="1124847"/>
          </a:xfrm>
        </p:grpSpPr>
        <p:sp>
          <p:nvSpPr>
            <p:cNvPr id="8" name="Freeform 8"/>
            <p:cNvSpPr/>
            <p:nvPr/>
          </p:nvSpPr>
          <p:spPr>
            <a:xfrm>
              <a:off x="0" y="0"/>
              <a:ext cx="1997801" cy="1124847"/>
            </a:xfrm>
            <a:custGeom>
              <a:avLst/>
              <a:gdLst/>
              <a:ahLst/>
              <a:cxnLst/>
              <a:rect l="l" t="t" r="r" b="b"/>
              <a:pathLst>
                <a:path w="1997801" h="1124847">
                  <a:moveTo>
                    <a:pt x="52052" y="0"/>
                  </a:moveTo>
                  <a:lnTo>
                    <a:pt x="1945748" y="0"/>
                  </a:lnTo>
                  <a:cubicBezTo>
                    <a:pt x="1959553" y="0"/>
                    <a:pt x="1972793" y="5484"/>
                    <a:pt x="1982555" y="15246"/>
                  </a:cubicBezTo>
                  <a:cubicBezTo>
                    <a:pt x="1992317" y="25007"/>
                    <a:pt x="1997801" y="38247"/>
                    <a:pt x="1997801" y="52052"/>
                  </a:cubicBezTo>
                  <a:lnTo>
                    <a:pt x="1997801" y="1072794"/>
                  </a:lnTo>
                  <a:cubicBezTo>
                    <a:pt x="1997801" y="1086600"/>
                    <a:pt x="1992317" y="1099839"/>
                    <a:pt x="1982555" y="1109601"/>
                  </a:cubicBezTo>
                  <a:cubicBezTo>
                    <a:pt x="1972793" y="1119363"/>
                    <a:pt x="1959553" y="1124847"/>
                    <a:pt x="1945748" y="1124847"/>
                  </a:cubicBezTo>
                  <a:lnTo>
                    <a:pt x="52052" y="1124847"/>
                  </a:lnTo>
                  <a:cubicBezTo>
                    <a:pt x="23305" y="1124847"/>
                    <a:pt x="0" y="1101542"/>
                    <a:pt x="0" y="1072794"/>
                  </a:cubicBezTo>
                  <a:lnTo>
                    <a:pt x="0" y="52052"/>
                  </a:lnTo>
                  <a:cubicBezTo>
                    <a:pt x="0" y="38247"/>
                    <a:pt x="5484" y="25007"/>
                    <a:pt x="15246" y="15246"/>
                  </a:cubicBezTo>
                  <a:cubicBezTo>
                    <a:pt x="25007" y="5484"/>
                    <a:pt x="38247" y="0"/>
                    <a:pt x="52052" y="0"/>
                  </a:cubicBezTo>
                  <a:close/>
                </a:path>
              </a:pathLst>
            </a:custGeom>
            <a:solidFill>
              <a:srgbClr val="4F9FDF"/>
            </a:solidFill>
          </p:spPr>
          <p:txBody>
            <a:bodyPr/>
            <a:lstStyle/>
            <a:p>
              <a:endParaRPr lang="en-IN"/>
            </a:p>
          </p:txBody>
        </p:sp>
        <p:sp>
          <p:nvSpPr>
            <p:cNvPr id="9" name="TextBox 9"/>
            <p:cNvSpPr txBox="1"/>
            <p:nvPr/>
          </p:nvSpPr>
          <p:spPr>
            <a:xfrm>
              <a:off x="0" y="-57150"/>
              <a:ext cx="1997801" cy="1181997"/>
            </a:xfrm>
            <a:prstGeom prst="rect">
              <a:avLst/>
            </a:prstGeom>
          </p:spPr>
          <p:txBody>
            <a:bodyPr lIns="50800" tIns="50800" rIns="50800" bIns="50800" rtlCol="0" anchor="ctr"/>
            <a:lstStyle/>
            <a:p>
              <a:pPr algn="ctr">
                <a:lnSpc>
                  <a:spcPts val="3499"/>
                </a:lnSpc>
              </a:pPr>
              <a:endParaRPr/>
            </a:p>
          </p:txBody>
        </p:sp>
      </p:grpSp>
      <p:sp>
        <p:nvSpPr>
          <p:cNvPr id="10" name="TextBox 10"/>
          <p:cNvSpPr txBox="1"/>
          <p:nvPr/>
        </p:nvSpPr>
        <p:spPr>
          <a:xfrm>
            <a:off x="1028700" y="435597"/>
            <a:ext cx="17754067" cy="684543"/>
          </a:xfrm>
          <a:prstGeom prst="rect">
            <a:avLst/>
          </a:prstGeom>
        </p:spPr>
        <p:txBody>
          <a:bodyPr lIns="0" tIns="0" rIns="0" bIns="0" rtlCol="0" anchor="t">
            <a:spAutoFit/>
          </a:bodyPr>
          <a:lstStyle/>
          <a:p>
            <a:pPr algn="ctr">
              <a:lnSpc>
                <a:spcPts val="5200"/>
              </a:lnSpc>
            </a:pPr>
            <a:r>
              <a:rPr lang="en-US" sz="5200" b="1">
                <a:solidFill>
                  <a:srgbClr val="1C6993"/>
                </a:solidFill>
                <a:latin typeface="Montserrat Ultra-Bold"/>
                <a:ea typeface="Montserrat Ultra-Bold"/>
                <a:cs typeface="Montserrat Ultra-Bold"/>
                <a:sym typeface="Montserrat Ultra-Bold"/>
              </a:rPr>
              <a:t>REVOCATION OF POA </a:t>
            </a:r>
          </a:p>
        </p:txBody>
      </p:sp>
      <p:sp>
        <p:nvSpPr>
          <p:cNvPr id="11" name="TextBox 11"/>
          <p:cNvSpPr txBox="1"/>
          <p:nvPr/>
        </p:nvSpPr>
        <p:spPr>
          <a:xfrm>
            <a:off x="1771441" y="5991860"/>
            <a:ext cx="7561263" cy="2222499"/>
          </a:xfrm>
          <a:prstGeom prst="rect">
            <a:avLst/>
          </a:prstGeom>
        </p:spPr>
        <p:txBody>
          <a:bodyPr lIns="0" tIns="0" rIns="0" bIns="0" rtlCol="0" anchor="t">
            <a:spAutoFit/>
          </a:bodyPr>
          <a:lstStyle/>
          <a:p>
            <a:pPr marL="755642" lvl="1" indent="-377821" algn="l">
              <a:lnSpc>
                <a:spcPts val="3499"/>
              </a:lnSpc>
              <a:buAutoNum type="arabicPeriod"/>
            </a:pPr>
            <a:r>
              <a:rPr lang="en-US" sz="3499" b="1">
                <a:solidFill>
                  <a:srgbClr val="000000"/>
                </a:solidFill>
                <a:latin typeface="Raleway Bold"/>
                <a:ea typeface="Raleway Bold"/>
                <a:cs typeface="Raleway Bold"/>
                <a:sym typeface="Raleway Bold"/>
              </a:rPr>
              <a:t>DRAFT NOTICE OF REVOCATION</a:t>
            </a:r>
          </a:p>
          <a:p>
            <a:pPr marL="755642" lvl="1" indent="-377821" algn="l">
              <a:lnSpc>
                <a:spcPts val="3499"/>
              </a:lnSpc>
              <a:buAutoNum type="arabicPeriod"/>
            </a:pPr>
            <a:r>
              <a:rPr lang="en-US" sz="3499" b="1">
                <a:solidFill>
                  <a:srgbClr val="000000"/>
                </a:solidFill>
                <a:latin typeface="Raleway Bold"/>
                <a:ea typeface="Raleway Bold"/>
                <a:cs typeface="Raleway Bold"/>
                <a:sym typeface="Raleway Bold"/>
              </a:rPr>
              <a:t>Serve notice to agent</a:t>
            </a:r>
          </a:p>
          <a:p>
            <a:pPr marL="755642" lvl="1" indent="-377821" algn="l">
              <a:lnSpc>
                <a:spcPts val="3499"/>
              </a:lnSpc>
              <a:buAutoNum type="arabicPeriod"/>
            </a:pPr>
            <a:r>
              <a:rPr lang="en-US" sz="3499" b="1">
                <a:solidFill>
                  <a:srgbClr val="000000"/>
                </a:solidFill>
                <a:latin typeface="Raleway Bold"/>
                <a:ea typeface="Raleway Bold"/>
                <a:cs typeface="Raleway Bold"/>
                <a:sym typeface="Raleway Bold"/>
              </a:rPr>
              <a:t>Publish notice</a:t>
            </a:r>
          </a:p>
          <a:p>
            <a:pPr marL="755642" lvl="1" indent="-377821" algn="l">
              <a:lnSpc>
                <a:spcPts val="3499"/>
              </a:lnSpc>
              <a:buAutoNum type="arabicPeriod"/>
            </a:pPr>
            <a:r>
              <a:rPr lang="en-US" sz="3499" b="1">
                <a:solidFill>
                  <a:srgbClr val="000000"/>
                </a:solidFill>
                <a:latin typeface="Raleway Bold"/>
                <a:ea typeface="Raleway Bold"/>
                <a:cs typeface="Raleway Bold"/>
                <a:sym typeface="Raleway Bold"/>
              </a:rPr>
              <a:t>Register cancellation</a:t>
            </a:r>
          </a:p>
          <a:p>
            <a:pPr marL="755642" lvl="1" indent="-377821" algn="l">
              <a:lnSpc>
                <a:spcPts val="3499"/>
              </a:lnSpc>
              <a:spcBef>
                <a:spcPct val="0"/>
              </a:spcBef>
              <a:buAutoNum type="arabicPeriod"/>
            </a:pPr>
            <a:r>
              <a:rPr lang="en-US" sz="3499" b="1">
                <a:solidFill>
                  <a:srgbClr val="000000"/>
                </a:solidFill>
                <a:latin typeface="Raleway Bold"/>
                <a:ea typeface="Raleway Bold"/>
                <a:cs typeface="Raleway Bold"/>
                <a:sym typeface="Raleway Bold"/>
              </a:rPr>
              <a:t>Inform relevant parties</a:t>
            </a:r>
          </a:p>
        </p:txBody>
      </p:sp>
      <p:sp>
        <p:nvSpPr>
          <p:cNvPr id="12" name="TextBox 12"/>
          <p:cNvSpPr txBox="1"/>
          <p:nvPr/>
        </p:nvSpPr>
        <p:spPr>
          <a:xfrm>
            <a:off x="13518952" y="9663430"/>
            <a:ext cx="476904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332170" y="2150121"/>
            <a:ext cx="18450597" cy="5709103"/>
          </a:xfrm>
          <a:prstGeom prst="rect">
            <a:avLst/>
          </a:prstGeom>
        </p:spPr>
        <p:txBody>
          <a:bodyPr lIns="0" tIns="0" rIns="0" bIns="0" rtlCol="0" anchor="t">
            <a:spAutoFit/>
          </a:bodyPr>
          <a:lstStyle/>
          <a:p>
            <a:pPr algn="just">
              <a:lnSpc>
                <a:spcPts val="4525"/>
              </a:lnSpc>
            </a:pPr>
            <a:endParaRPr/>
          </a:p>
          <a:p>
            <a:pPr algn="just">
              <a:lnSpc>
                <a:spcPts val="4525"/>
              </a:lnSpc>
            </a:pPr>
            <a:r>
              <a:rPr lang="en-US" sz="3232" b="1">
                <a:solidFill>
                  <a:srgbClr val="000000"/>
                </a:solidFill>
                <a:latin typeface="Raleway Bold"/>
                <a:ea typeface="Raleway Bold"/>
                <a:cs typeface="Raleway Bold"/>
                <a:sym typeface="Raleway Bold"/>
              </a:rPr>
              <a:t>Situations Where Power of Attorney Gets Cancelled Automatically</a:t>
            </a:r>
          </a:p>
          <a:p>
            <a:pPr algn="just">
              <a:lnSpc>
                <a:spcPts val="4525"/>
              </a:lnSpc>
            </a:pPr>
            <a:endParaRPr lang="en-US" sz="3232" b="1">
              <a:solidFill>
                <a:srgbClr val="000000"/>
              </a:solidFill>
              <a:latin typeface="Raleway Bold"/>
              <a:ea typeface="Raleway Bold"/>
              <a:cs typeface="Raleway Bold"/>
              <a:sym typeface="Raleway Bold"/>
            </a:endParaRPr>
          </a:p>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Agent’s death</a:t>
            </a:r>
          </a:p>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 Agent’s insanity</a:t>
            </a:r>
          </a:p>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 Agent’s insolvency</a:t>
            </a:r>
          </a:p>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 Purpose completed</a:t>
            </a:r>
          </a:p>
          <a:p>
            <a:pPr marL="697821" lvl="1" indent="-348910" algn="just">
              <a:lnSpc>
                <a:spcPts val="4525"/>
              </a:lnSpc>
              <a:buFont typeface="Arial"/>
              <a:buChar char="•"/>
            </a:pPr>
            <a:r>
              <a:rPr lang="en-US" sz="3232" b="1">
                <a:solidFill>
                  <a:srgbClr val="000000"/>
                </a:solidFill>
                <a:latin typeface="Raleway Bold"/>
                <a:ea typeface="Raleway Bold"/>
                <a:cs typeface="Raleway Bold"/>
                <a:sym typeface="Raleway Bold"/>
              </a:rPr>
              <a:t> Divorce from spouse-agent</a:t>
            </a: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endParaRPr lang="en-US" sz="3232" b="1">
              <a:solidFill>
                <a:srgbClr val="000000"/>
              </a:solidFill>
              <a:latin typeface="Raleway Bold"/>
              <a:ea typeface="Raleway Bold"/>
              <a:cs typeface="Raleway Bold"/>
              <a:sym typeface="Raleway Bold"/>
            </a:endParaRPr>
          </a:p>
        </p:txBody>
      </p:sp>
      <p:sp>
        <p:nvSpPr>
          <p:cNvPr id="6" name="Freeform 6"/>
          <p:cNvSpPr/>
          <p:nvPr/>
        </p:nvSpPr>
        <p:spPr>
          <a:xfrm>
            <a:off x="13794554" y="252122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1902113" y="1133475"/>
            <a:ext cx="17754067" cy="684543"/>
          </a:xfrm>
          <a:prstGeom prst="rect">
            <a:avLst/>
          </a:prstGeom>
        </p:spPr>
        <p:txBody>
          <a:bodyPr lIns="0" tIns="0" rIns="0" bIns="0" rtlCol="0" anchor="t">
            <a:spAutoFit/>
          </a:bodyPr>
          <a:lstStyle/>
          <a:p>
            <a:pPr algn="ctr">
              <a:lnSpc>
                <a:spcPts val="5200"/>
              </a:lnSpc>
            </a:pPr>
            <a:r>
              <a:rPr lang="en-US" sz="5200" b="1">
                <a:solidFill>
                  <a:srgbClr val="1C6993"/>
                </a:solidFill>
                <a:latin typeface="Montserrat Ultra-Bold"/>
                <a:ea typeface="Montserrat Ultra-Bold"/>
                <a:cs typeface="Montserrat Ultra-Bold"/>
                <a:sym typeface="Montserrat Ultra-Bold"/>
              </a:rPr>
              <a:t>AUTOMATIC CANCELLATION</a:t>
            </a:r>
          </a:p>
        </p:txBody>
      </p:sp>
      <p:sp>
        <p:nvSpPr>
          <p:cNvPr id="8" name="TextBox 8"/>
          <p:cNvSpPr txBox="1"/>
          <p:nvPr/>
        </p:nvSpPr>
        <p:spPr>
          <a:xfrm>
            <a:off x="13518952" y="9663430"/>
            <a:ext cx="476904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266437" y="1701347"/>
            <a:ext cx="18450597" cy="8071303"/>
          </a:xfrm>
          <a:prstGeom prst="rect">
            <a:avLst/>
          </a:prstGeom>
        </p:spPr>
        <p:txBody>
          <a:bodyPr lIns="0" tIns="0" rIns="0" bIns="0" rtlCol="0" anchor="t">
            <a:spAutoFit/>
          </a:bodyPr>
          <a:lstStyle/>
          <a:p>
            <a:pPr algn="just">
              <a:lnSpc>
                <a:spcPts val="4525"/>
              </a:lnSpc>
            </a:pPr>
            <a:endParaRPr/>
          </a:p>
          <a:p>
            <a:pPr algn="just">
              <a:lnSpc>
                <a:spcPts val="4525"/>
              </a:lnSpc>
            </a:pPr>
            <a:r>
              <a:rPr lang="en-US" sz="3232" b="1">
                <a:solidFill>
                  <a:srgbClr val="1C6993"/>
                </a:solidFill>
                <a:latin typeface="Raleway Bold"/>
                <a:ea typeface="Raleway Bold"/>
                <a:cs typeface="Raleway Bold"/>
                <a:sym typeface="Raleway Bold"/>
              </a:rPr>
              <a:t>Registration of Power of Attorney outside India</a:t>
            </a:r>
          </a:p>
          <a:p>
            <a:pPr algn="just">
              <a:lnSpc>
                <a:spcPts val="4525"/>
              </a:lnSpc>
            </a:pPr>
            <a:endParaRPr lang="en-US" sz="3232" b="1">
              <a:solidFill>
                <a:srgbClr val="1C6993"/>
              </a:solidFill>
              <a:latin typeface="Raleway Bold"/>
              <a:ea typeface="Raleway Bold"/>
              <a:cs typeface="Raleway Bold"/>
              <a:sym typeface="Raleway Bold"/>
            </a:endParaRPr>
          </a:p>
          <a:p>
            <a:pPr algn="just">
              <a:lnSpc>
                <a:spcPts val="4525"/>
              </a:lnSpc>
            </a:pPr>
            <a:r>
              <a:rPr lang="en-US" sz="3232" b="1">
                <a:solidFill>
                  <a:srgbClr val="000000"/>
                </a:solidFill>
                <a:latin typeface="Raleway Bold"/>
                <a:ea typeface="Raleway Bold"/>
                <a:cs typeface="Raleway Bold"/>
                <a:sym typeface="Raleway Bold"/>
              </a:rPr>
              <a:t>• Authenticated by Indian Consulate</a:t>
            </a:r>
          </a:p>
          <a:p>
            <a:pPr algn="just">
              <a:lnSpc>
                <a:spcPts val="4525"/>
              </a:lnSpc>
            </a:pPr>
            <a:r>
              <a:rPr lang="en-US" sz="3232" b="1">
                <a:solidFill>
                  <a:srgbClr val="000000"/>
                </a:solidFill>
                <a:latin typeface="Raleway Bold"/>
                <a:ea typeface="Raleway Bold"/>
                <a:cs typeface="Raleway Bold"/>
                <a:sym typeface="Raleway Bold"/>
              </a:rPr>
              <a:t> • Stamped within three months</a:t>
            </a:r>
          </a:p>
          <a:p>
            <a:pPr algn="just">
              <a:lnSpc>
                <a:spcPts val="4525"/>
              </a:lnSpc>
            </a:pPr>
            <a:r>
              <a:rPr lang="en-US" sz="3232" b="1">
                <a:solidFill>
                  <a:srgbClr val="000000"/>
                </a:solidFill>
                <a:latin typeface="Raleway Bold"/>
                <a:ea typeface="Raleway Bold"/>
                <a:cs typeface="Raleway Bold"/>
                <a:sym typeface="Raleway Bold"/>
              </a:rPr>
              <a:t> • Apostille allowed</a:t>
            </a:r>
          </a:p>
          <a:p>
            <a:pPr algn="just">
              <a:lnSpc>
                <a:spcPts val="4525"/>
              </a:lnSpc>
            </a:pPr>
            <a:r>
              <a:rPr lang="en-US" sz="3232" b="1">
                <a:solidFill>
                  <a:srgbClr val="000000"/>
                </a:solidFill>
                <a:latin typeface="Raleway Bold"/>
                <a:ea typeface="Raleway Bold"/>
                <a:cs typeface="Raleway Bold"/>
                <a:sym typeface="Raleway Bold"/>
              </a:rPr>
              <a:t> • Must align with Indian laws</a:t>
            </a:r>
          </a:p>
          <a:p>
            <a:pPr algn="just">
              <a:lnSpc>
                <a:spcPts val="4804"/>
              </a:lnSpc>
            </a:pPr>
            <a:endParaRPr lang="en-US" sz="3232" b="1">
              <a:solidFill>
                <a:srgbClr val="000000"/>
              </a:solidFill>
              <a:latin typeface="Raleway Bold"/>
              <a:ea typeface="Raleway Bold"/>
              <a:cs typeface="Raleway Bold"/>
              <a:sym typeface="Raleway Bold"/>
            </a:endParaRPr>
          </a:p>
          <a:p>
            <a:pPr algn="just">
              <a:lnSpc>
                <a:spcPts val="4804"/>
              </a:lnSpc>
            </a:pPr>
            <a:r>
              <a:rPr lang="en-US" sz="3432" b="1">
                <a:solidFill>
                  <a:srgbClr val="1C6993"/>
                </a:solidFill>
                <a:latin typeface="Raleway Bold"/>
                <a:ea typeface="Raleway Bold"/>
                <a:cs typeface="Raleway Bold"/>
                <a:sym typeface="Raleway Bold"/>
              </a:rPr>
              <a:t>IMPORTANCE OF POA FOR NRIs</a:t>
            </a:r>
          </a:p>
          <a:p>
            <a:pPr algn="just">
              <a:lnSpc>
                <a:spcPts val="4525"/>
              </a:lnSpc>
            </a:pPr>
            <a:r>
              <a:rPr lang="en-US" sz="3232" b="1">
                <a:solidFill>
                  <a:srgbClr val="000000"/>
                </a:solidFill>
                <a:latin typeface="Raleway Bold"/>
                <a:ea typeface="Raleway Bold"/>
                <a:cs typeface="Raleway Bold"/>
                <a:sym typeface="Raleway Bold"/>
              </a:rPr>
              <a:t> PoA allows NRIs to manage assets, property, banking, and investments in India efficiently.</a:t>
            </a: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endParaRPr lang="en-US" sz="3232" b="1">
              <a:solidFill>
                <a:srgbClr val="000000"/>
              </a:solidFill>
              <a:latin typeface="Raleway Bold"/>
              <a:ea typeface="Raleway Bold"/>
              <a:cs typeface="Raleway Bold"/>
              <a:sym typeface="Raleway Bold"/>
            </a:endParaRPr>
          </a:p>
          <a:p>
            <a:pPr algn="just">
              <a:lnSpc>
                <a:spcPts val="4525"/>
              </a:lnSpc>
            </a:pPr>
            <a:endParaRPr lang="en-US" sz="3232" b="1">
              <a:solidFill>
                <a:srgbClr val="000000"/>
              </a:solidFill>
              <a:latin typeface="Raleway Bold"/>
              <a:ea typeface="Raleway Bold"/>
              <a:cs typeface="Raleway Bold"/>
              <a:sym typeface="Raleway Bold"/>
            </a:endParaRPr>
          </a:p>
        </p:txBody>
      </p:sp>
      <p:sp>
        <p:nvSpPr>
          <p:cNvPr id="6" name="Freeform 6"/>
          <p:cNvSpPr/>
          <p:nvPr/>
        </p:nvSpPr>
        <p:spPr>
          <a:xfrm>
            <a:off x="13204352" y="1819910"/>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2097342" y="738816"/>
            <a:ext cx="17754067" cy="684543"/>
          </a:xfrm>
          <a:prstGeom prst="rect">
            <a:avLst/>
          </a:prstGeom>
        </p:spPr>
        <p:txBody>
          <a:bodyPr lIns="0" tIns="0" rIns="0" bIns="0" rtlCol="0" anchor="t">
            <a:spAutoFit/>
          </a:bodyPr>
          <a:lstStyle/>
          <a:p>
            <a:pPr algn="ctr">
              <a:lnSpc>
                <a:spcPts val="5200"/>
              </a:lnSpc>
            </a:pPr>
            <a:r>
              <a:rPr lang="en-US" sz="5200" b="1">
                <a:solidFill>
                  <a:srgbClr val="1C6993"/>
                </a:solidFill>
                <a:latin typeface="Montserrat Ultra-Bold"/>
                <a:ea typeface="Montserrat Ultra-Bold"/>
                <a:cs typeface="Montserrat Ultra-Bold"/>
                <a:sym typeface="Montserrat Ultra-Bold"/>
              </a:rPr>
              <a:t>POA EXECUTED OUTSIDE INDIA</a:t>
            </a:r>
          </a:p>
        </p:txBody>
      </p:sp>
      <p:sp>
        <p:nvSpPr>
          <p:cNvPr id="8" name="TextBox 8"/>
          <p:cNvSpPr txBox="1"/>
          <p:nvPr/>
        </p:nvSpPr>
        <p:spPr>
          <a:xfrm>
            <a:off x="13883292" y="9715500"/>
            <a:ext cx="4404708" cy="1082288"/>
          </a:xfrm>
          <a:prstGeom prst="rect">
            <a:avLst/>
          </a:prstGeom>
        </p:spPr>
        <p:txBody>
          <a:bodyPr lIns="0" tIns="0" rIns="0" bIns="0" rtlCol="0" anchor="t">
            <a:spAutoFit/>
          </a:bodyPr>
          <a:lstStyle/>
          <a:p>
            <a:pPr algn="ctr">
              <a:lnSpc>
                <a:spcPts val="4396"/>
              </a:lnSpc>
            </a:pPr>
            <a:r>
              <a:rPr lang="en-US" sz="3140" b="1">
                <a:solidFill>
                  <a:srgbClr val="000000"/>
                </a:solidFill>
                <a:latin typeface="Canva Sans Bold"/>
                <a:ea typeface="Canva Sans Bold"/>
                <a:cs typeface="Canva Sans Bold"/>
                <a:sym typeface="Canva Sans Bold"/>
              </a:rPr>
              <a:t>© Pereira &amp; Associates </a:t>
            </a:r>
          </a:p>
          <a:p>
            <a:pPr algn="ctr">
              <a:lnSpc>
                <a:spcPts val="4396"/>
              </a:lnSpc>
            </a:pPr>
            <a:endParaRPr lang="en-US" sz="3140" b="1">
              <a:solidFill>
                <a:srgbClr val="000000"/>
              </a:solidFill>
              <a:latin typeface="Canva Sans Bold"/>
              <a:ea typeface="Canva Sans Bold"/>
              <a:cs typeface="Canva Sans Bold"/>
              <a:sym typeface="Canva Sans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533933" y="2756716"/>
            <a:ext cx="18450597" cy="7530284"/>
          </a:xfrm>
          <a:prstGeom prst="rect">
            <a:avLst/>
          </a:prstGeom>
        </p:spPr>
        <p:txBody>
          <a:bodyPr lIns="0" tIns="0" rIns="0" bIns="0" rtlCol="0" anchor="t">
            <a:spAutoFit/>
          </a:bodyPr>
          <a:lstStyle/>
          <a:p>
            <a:pPr algn="just">
              <a:lnSpc>
                <a:spcPts val="5084"/>
              </a:lnSpc>
            </a:pPr>
            <a:r>
              <a:rPr lang="en-US" sz="3632" b="1">
                <a:solidFill>
                  <a:srgbClr val="000000"/>
                </a:solidFill>
                <a:latin typeface="Raleway Bold"/>
                <a:ea typeface="Raleway Bold"/>
                <a:cs typeface="Raleway Bold"/>
                <a:sym typeface="Raleway Bold"/>
              </a:rPr>
              <a:t>1.Choosing the Wrong Agent</a:t>
            </a:r>
          </a:p>
          <a:p>
            <a:pPr algn="just">
              <a:lnSpc>
                <a:spcPts val="5084"/>
              </a:lnSpc>
            </a:pPr>
            <a:r>
              <a:rPr lang="en-US" sz="3632" b="1">
                <a:solidFill>
                  <a:srgbClr val="000000"/>
                </a:solidFill>
                <a:latin typeface="Raleway Bold"/>
                <a:ea typeface="Raleway Bold"/>
                <a:cs typeface="Raleway Bold"/>
                <a:sym typeface="Raleway Bold"/>
              </a:rPr>
              <a:t>2.Lack of Specificity</a:t>
            </a:r>
          </a:p>
          <a:p>
            <a:pPr algn="just">
              <a:lnSpc>
                <a:spcPts val="5084"/>
              </a:lnSpc>
            </a:pPr>
            <a:r>
              <a:rPr lang="en-US" sz="3632" b="1">
                <a:solidFill>
                  <a:srgbClr val="000000"/>
                </a:solidFill>
                <a:latin typeface="Raleway Bold"/>
                <a:ea typeface="Raleway Bold"/>
                <a:cs typeface="Raleway Bold"/>
                <a:sym typeface="Raleway Bold"/>
              </a:rPr>
              <a:t>3.Failure to Update the PoA</a:t>
            </a:r>
          </a:p>
          <a:p>
            <a:pPr algn="just">
              <a:lnSpc>
                <a:spcPts val="5084"/>
              </a:lnSpc>
            </a:pPr>
            <a:r>
              <a:rPr lang="en-US" sz="3632" b="1">
                <a:solidFill>
                  <a:srgbClr val="000000"/>
                </a:solidFill>
                <a:latin typeface="Raleway Bold"/>
                <a:ea typeface="Raleway Bold"/>
                <a:cs typeface="Raleway Bold"/>
                <a:sym typeface="Raleway Bold"/>
              </a:rPr>
              <a:t>4.Not Understanding Legal Implications</a:t>
            </a:r>
          </a:p>
          <a:p>
            <a:pPr algn="just">
              <a:lnSpc>
                <a:spcPts val="5084"/>
              </a:lnSpc>
            </a:pPr>
            <a:r>
              <a:rPr lang="en-US" sz="3632" b="1">
                <a:solidFill>
                  <a:srgbClr val="000000"/>
                </a:solidFill>
                <a:latin typeface="Raleway Bold"/>
                <a:ea typeface="Raleway Bold"/>
                <a:cs typeface="Raleway Bold"/>
                <a:sym typeface="Raleway Bold"/>
              </a:rPr>
              <a:t>5.Ignoring Registration</a:t>
            </a:r>
          </a:p>
          <a:p>
            <a:pPr algn="just">
              <a:lnSpc>
                <a:spcPts val="5084"/>
              </a:lnSpc>
            </a:pPr>
            <a:r>
              <a:rPr lang="en-US" sz="3632" b="1">
                <a:solidFill>
                  <a:srgbClr val="000000"/>
                </a:solidFill>
                <a:latin typeface="Raleway Bold"/>
                <a:ea typeface="Raleway Bold"/>
                <a:cs typeface="Raleway Bold"/>
                <a:sym typeface="Raleway Bold"/>
              </a:rPr>
              <a:t>6.Ignoring Scope Specification</a:t>
            </a:r>
          </a:p>
          <a:p>
            <a:pPr algn="just">
              <a:lnSpc>
                <a:spcPts val="5084"/>
              </a:lnSpc>
            </a:pPr>
            <a:r>
              <a:rPr lang="en-US" sz="3632" b="1">
                <a:solidFill>
                  <a:srgbClr val="000000"/>
                </a:solidFill>
                <a:latin typeface="Raleway Bold"/>
                <a:ea typeface="Raleway Bold"/>
                <a:cs typeface="Raleway Bold"/>
                <a:sym typeface="Raleway Bold"/>
              </a:rPr>
              <a:t>7.Avoiding Witnesses </a:t>
            </a:r>
          </a:p>
          <a:p>
            <a:pPr algn="just">
              <a:lnSpc>
                <a:spcPts val="5084"/>
              </a:lnSpc>
            </a:pPr>
            <a:r>
              <a:rPr lang="en-US" sz="3632" b="1">
                <a:solidFill>
                  <a:srgbClr val="000000"/>
                </a:solidFill>
                <a:latin typeface="Raleway Bold"/>
                <a:ea typeface="Raleway Bold"/>
                <a:cs typeface="Raleway Bold"/>
                <a:sym typeface="Raleway Bold"/>
              </a:rPr>
              <a:t>8.Ignoring State Laws</a:t>
            </a:r>
          </a:p>
          <a:p>
            <a:pPr algn="just">
              <a:lnSpc>
                <a:spcPts val="4804"/>
              </a:lnSpc>
            </a:pPr>
            <a:endParaRPr lang="en-US" sz="3632" b="1">
              <a:solidFill>
                <a:srgbClr val="000000"/>
              </a:solidFill>
              <a:latin typeface="Raleway Bold"/>
              <a:ea typeface="Raleway Bold"/>
              <a:cs typeface="Raleway Bold"/>
              <a:sym typeface="Raleway Bold"/>
            </a:endParaRPr>
          </a:p>
          <a:p>
            <a:pPr algn="just">
              <a:lnSpc>
                <a:spcPts val="4804"/>
              </a:lnSpc>
            </a:pPr>
            <a:endParaRPr lang="en-US" sz="3632" b="1">
              <a:solidFill>
                <a:srgbClr val="000000"/>
              </a:solidFill>
              <a:latin typeface="Raleway Bold"/>
              <a:ea typeface="Raleway Bold"/>
              <a:cs typeface="Raleway Bold"/>
              <a:sym typeface="Raleway Bold"/>
            </a:endParaRPr>
          </a:p>
          <a:p>
            <a:pPr algn="just">
              <a:lnSpc>
                <a:spcPts val="4804"/>
              </a:lnSpc>
            </a:pPr>
            <a:endParaRPr lang="en-US" sz="3632" b="1">
              <a:solidFill>
                <a:srgbClr val="000000"/>
              </a:solidFill>
              <a:latin typeface="Raleway Bold"/>
              <a:ea typeface="Raleway Bold"/>
              <a:cs typeface="Raleway Bold"/>
              <a:sym typeface="Raleway Bold"/>
            </a:endParaRPr>
          </a:p>
          <a:p>
            <a:pPr algn="just">
              <a:lnSpc>
                <a:spcPts val="4804"/>
              </a:lnSpc>
            </a:pPr>
            <a:endParaRPr lang="en-US" sz="3632" b="1">
              <a:solidFill>
                <a:srgbClr val="000000"/>
              </a:solidFill>
              <a:latin typeface="Raleway Bold"/>
              <a:ea typeface="Raleway Bold"/>
              <a:cs typeface="Raleway Bold"/>
              <a:sym typeface="Raleway Bold"/>
            </a:endParaRPr>
          </a:p>
        </p:txBody>
      </p:sp>
      <p:sp>
        <p:nvSpPr>
          <p:cNvPr id="6" name="Freeform 6"/>
          <p:cNvSpPr/>
          <p:nvPr/>
        </p:nvSpPr>
        <p:spPr>
          <a:xfrm>
            <a:off x="12769735" y="3083673"/>
            <a:ext cx="4119654" cy="4119654"/>
          </a:xfrm>
          <a:custGeom>
            <a:avLst/>
            <a:gdLst/>
            <a:ahLst/>
            <a:cxnLst/>
            <a:rect l="l" t="t" r="r" b="b"/>
            <a:pathLst>
              <a:path w="4119654" h="4119654">
                <a:moveTo>
                  <a:pt x="0" y="0"/>
                </a:moveTo>
                <a:lnTo>
                  <a:pt x="4119654" y="0"/>
                </a:lnTo>
                <a:lnTo>
                  <a:pt x="4119654" y="4119654"/>
                </a:lnTo>
                <a:lnTo>
                  <a:pt x="0" y="4119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388355" y="1114425"/>
            <a:ext cx="17511290" cy="612153"/>
          </a:xfrm>
          <a:prstGeom prst="rect">
            <a:avLst/>
          </a:prstGeom>
        </p:spPr>
        <p:txBody>
          <a:bodyPr lIns="0" tIns="0" rIns="0" bIns="0" rtlCol="0" anchor="t">
            <a:spAutoFit/>
          </a:bodyPr>
          <a:lstStyle/>
          <a:p>
            <a:pPr algn="ctr">
              <a:lnSpc>
                <a:spcPts val="4600"/>
              </a:lnSpc>
            </a:pPr>
            <a:r>
              <a:rPr lang="en-US" sz="4600" b="1">
                <a:solidFill>
                  <a:srgbClr val="1C6993"/>
                </a:solidFill>
                <a:latin typeface="Montserrat Ultra-Bold"/>
                <a:ea typeface="Montserrat Ultra-Bold"/>
                <a:cs typeface="Montserrat Ultra-Bold"/>
                <a:sym typeface="Montserrat Ultra-Bold"/>
              </a:rPr>
              <a:t>WHAT YOU SHOULD  AVOID WHILE DEALING WITH POA</a:t>
            </a:r>
          </a:p>
        </p:txBody>
      </p:sp>
      <p:sp>
        <p:nvSpPr>
          <p:cNvPr id="8" name="TextBox 8"/>
          <p:cNvSpPr txBox="1"/>
          <p:nvPr/>
        </p:nvSpPr>
        <p:spPr>
          <a:xfrm>
            <a:off x="13479562" y="9663430"/>
            <a:ext cx="480843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5" name="Picture 5"/>
          <p:cNvPicPr>
            <a:picLocks noChangeAspect="1"/>
          </p:cNvPicPr>
          <p:nvPr/>
        </p:nvPicPr>
        <p:blipFill>
          <a:blip r:embed="rId5"/>
          <a:srcRect/>
          <a:stretch>
            <a:fillRect/>
          </a:stretch>
        </p:blipFill>
        <p:spPr>
          <a:xfrm>
            <a:off x="14426545" y="662434"/>
            <a:ext cx="2150993" cy="1430410"/>
          </a:xfrm>
          <a:prstGeom prst="rect">
            <a:avLst/>
          </a:prstGeom>
        </p:spPr>
      </p:pic>
      <p:sp>
        <p:nvSpPr>
          <p:cNvPr id="6" name="TextBox 6"/>
          <p:cNvSpPr txBox="1"/>
          <p:nvPr/>
        </p:nvSpPr>
        <p:spPr>
          <a:xfrm>
            <a:off x="816373" y="2914191"/>
            <a:ext cx="18450597" cy="4856934"/>
          </a:xfrm>
          <a:prstGeom prst="rect">
            <a:avLst/>
          </a:prstGeom>
        </p:spPr>
        <p:txBody>
          <a:bodyPr lIns="0" tIns="0" rIns="0" bIns="0" rtlCol="0" anchor="t">
            <a:spAutoFit/>
          </a:bodyPr>
          <a:lstStyle/>
          <a:p>
            <a:pPr algn="just">
              <a:lnSpc>
                <a:spcPts val="6484"/>
              </a:lnSpc>
            </a:pPr>
            <a:r>
              <a:rPr lang="en-US" sz="4632" b="1">
                <a:solidFill>
                  <a:srgbClr val="000000"/>
                </a:solidFill>
                <a:latin typeface="Raleway Bold"/>
                <a:ea typeface="Raleway Bold"/>
                <a:cs typeface="Raleway Bold"/>
                <a:sym typeface="Raleway Bold"/>
              </a:rPr>
              <a:t>• Management of Assets</a:t>
            </a:r>
          </a:p>
          <a:p>
            <a:pPr algn="just">
              <a:lnSpc>
                <a:spcPts val="6484"/>
              </a:lnSpc>
            </a:pPr>
            <a:r>
              <a:rPr lang="en-US" sz="4632" b="1">
                <a:solidFill>
                  <a:srgbClr val="000000"/>
                </a:solidFill>
                <a:latin typeface="Raleway Bold"/>
                <a:ea typeface="Raleway Bold"/>
                <a:cs typeface="Raleway Bold"/>
                <a:sym typeface="Raleway Bold"/>
              </a:rPr>
              <a:t> • Business Transactions</a:t>
            </a:r>
          </a:p>
          <a:p>
            <a:pPr algn="just">
              <a:lnSpc>
                <a:spcPts val="6484"/>
              </a:lnSpc>
            </a:pPr>
            <a:r>
              <a:rPr lang="en-US" sz="4632" b="1">
                <a:solidFill>
                  <a:srgbClr val="000000"/>
                </a:solidFill>
                <a:latin typeface="Raleway Bold"/>
                <a:ea typeface="Raleway Bold"/>
                <a:cs typeface="Raleway Bold"/>
                <a:sym typeface="Raleway Bold"/>
              </a:rPr>
              <a:t> • Legal Representation</a:t>
            </a:r>
          </a:p>
          <a:p>
            <a:pPr algn="just">
              <a:lnSpc>
                <a:spcPts val="6484"/>
              </a:lnSpc>
            </a:pPr>
            <a:r>
              <a:rPr lang="en-US" sz="4632" b="1">
                <a:solidFill>
                  <a:srgbClr val="000000"/>
                </a:solidFill>
                <a:latin typeface="Raleway Bold"/>
                <a:ea typeface="Raleway Bold"/>
                <a:cs typeface="Raleway Bold"/>
                <a:sym typeface="Raleway Bold"/>
              </a:rPr>
              <a:t> • Healthcare Decisions</a:t>
            </a:r>
          </a:p>
          <a:p>
            <a:pPr algn="just">
              <a:lnSpc>
                <a:spcPts val="6484"/>
              </a:lnSpc>
            </a:pPr>
            <a:r>
              <a:rPr lang="en-US" sz="4632" b="1">
                <a:solidFill>
                  <a:srgbClr val="000000"/>
                </a:solidFill>
                <a:latin typeface="Raleway Bold"/>
                <a:ea typeface="Raleway Bold"/>
                <a:cs typeface="Raleway Bold"/>
                <a:sym typeface="Raleway Bold"/>
              </a:rPr>
              <a:t> • Estate Planning</a:t>
            </a:r>
          </a:p>
          <a:p>
            <a:pPr algn="just">
              <a:lnSpc>
                <a:spcPts val="6204"/>
              </a:lnSpc>
            </a:pPr>
            <a:endParaRPr lang="en-US" sz="4632" b="1">
              <a:solidFill>
                <a:srgbClr val="000000"/>
              </a:solidFill>
              <a:latin typeface="Raleway Bold"/>
              <a:ea typeface="Raleway Bold"/>
              <a:cs typeface="Raleway Bold"/>
              <a:sym typeface="Raleway Bold"/>
            </a:endParaRPr>
          </a:p>
        </p:txBody>
      </p:sp>
      <p:sp>
        <p:nvSpPr>
          <p:cNvPr id="7" name="Freeform 7"/>
          <p:cNvSpPr/>
          <p:nvPr/>
        </p:nvSpPr>
        <p:spPr>
          <a:xfrm>
            <a:off x="11861590" y="3974071"/>
            <a:ext cx="5129910" cy="3441703"/>
          </a:xfrm>
          <a:custGeom>
            <a:avLst/>
            <a:gdLst/>
            <a:ahLst/>
            <a:cxnLst/>
            <a:rect l="l" t="t" r="r" b="b"/>
            <a:pathLst>
              <a:path w="5129910" h="3441703">
                <a:moveTo>
                  <a:pt x="0" y="0"/>
                </a:moveTo>
                <a:lnTo>
                  <a:pt x="5129910" y="0"/>
                </a:lnTo>
                <a:lnTo>
                  <a:pt x="5129910" y="3441703"/>
                </a:lnTo>
                <a:lnTo>
                  <a:pt x="0" y="3441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TextBox 8"/>
          <p:cNvSpPr txBox="1"/>
          <p:nvPr/>
        </p:nvSpPr>
        <p:spPr>
          <a:xfrm>
            <a:off x="-2009248" y="1123950"/>
            <a:ext cx="17511290" cy="636283"/>
          </a:xfrm>
          <a:prstGeom prst="rect">
            <a:avLst/>
          </a:prstGeom>
        </p:spPr>
        <p:txBody>
          <a:bodyPr lIns="0" tIns="0" rIns="0" bIns="0" rtlCol="0" anchor="t">
            <a:spAutoFit/>
          </a:bodyPr>
          <a:lstStyle/>
          <a:p>
            <a:pPr algn="ctr">
              <a:lnSpc>
                <a:spcPts val="4800"/>
              </a:lnSpc>
            </a:pPr>
            <a:r>
              <a:rPr lang="en-US" sz="4800" b="1">
                <a:solidFill>
                  <a:srgbClr val="1C6993"/>
                </a:solidFill>
                <a:latin typeface="Montserrat Ultra-Bold"/>
                <a:ea typeface="Montserrat Ultra-Bold"/>
                <a:cs typeface="Montserrat Ultra-Bold"/>
                <a:sym typeface="Montserrat Ultra-Bold"/>
              </a:rPr>
              <a:t>IMPORTANCE OF POA IN INDIA</a:t>
            </a:r>
          </a:p>
        </p:txBody>
      </p:sp>
      <p:sp>
        <p:nvSpPr>
          <p:cNvPr id="9" name="TextBox 9"/>
          <p:cNvSpPr txBox="1"/>
          <p:nvPr/>
        </p:nvSpPr>
        <p:spPr>
          <a:xfrm>
            <a:off x="13518952" y="9590401"/>
            <a:ext cx="476904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TextBox 5"/>
          <p:cNvSpPr txBox="1"/>
          <p:nvPr/>
        </p:nvSpPr>
        <p:spPr>
          <a:xfrm>
            <a:off x="4789068" y="5639453"/>
            <a:ext cx="8709864" cy="523838"/>
          </a:xfrm>
          <a:prstGeom prst="rect">
            <a:avLst/>
          </a:prstGeom>
        </p:spPr>
        <p:txBody>
          <a:bodyPr lIns="0" tIns="0" rIns="0" bIns="0" rtlCol="0" anchor="t">
            <a:spAutoFit/>
          </a:bodyPr>
          <a:lstStyle/>
          <a:p>
            <a:pPr algn="ctr">
              <a:lnSpc>
                <a:spcPts val="4200"/>
              </a:lnSpc>
            </a:pPr>
            <a:r>
              <a:rPr lang="en-US" sz="3000" b="1">
                <a:solidFill>
                  <a:srgbClr val="000000"/>
                </a:solidFill>
                <a:latin typeface="Raleway Bold"/>
                <a:ea typeface="Raleway Bold"/>
                <a:cs typeface="Raleway Bold"/>
                <a:sym typeface="Raleway Bold"/>
              </a:rPr>
              <a:t>Let’s connect or ask questions</a:t>
            </a:r>
          </a:p>
        </p:txBody>
      </p:sp>
      <p:sp>
        <p:nvSpPr>
          <p:cNvPr id="6" name="TextBox 6"/>
          <p:cNvSpPr txBox="1"/>
          <p:nvPr/>
        </p:nvSpPr>
        <p:spPr>
          <a:xfrm>
            <a:off x="2070800" y="3032717"/>
            <a:ext cx="14146399" cy="2308946"/>
          </a:xfrm>
          <a:prstGeom prst="rect">
            <a:avLst/>
          </a:prstGeom>
        </p:spPr>
        <p:txBody>
          <a:bodyPr lIns="0" tIns="0" rIns="0" bIns="0" rtlCol="0" anchor="t">
            <a:spAutoFit/>
          </a:bodyPr>
          <a:lstStyle/>
          <a:p>
            <a:pPr algn="ctr">
              <a:lnSpc>
                <a:spcPts val="18896"/>
              </a:lnSpc>
            </a:pPr>
            <a:r>
              <a:rPr lang="en-US" sz="13497" b="1">
                <a:solidFill>
                  <a:srgbClr val="000000"/>
                </a:solidFill>
                <a:latin typeface="Montserrat Ultra-Bold"/>
                <a:ea typeface="Montserrat Ultra-Bold"/>
                <a:cs typeface="Montserrat Ultra-Bold"/>
                <a:sym typeface="Montserrat Ultra-Bold"/>
              </a:rPr>
              <a:t>THANK YOU!</a:t>
            </a:r>
          </a:p>
        </p:txBody>
      </p:sp>
      <p:sp>
        <p:nvSpPr>
          <p:cNvPr id="7" name="TextBox 7"/>
          <p:cNvSpPr txBox="1"/>
          <p:nvPr/>
        </p:nvSpPr>
        <p:spPr>
          <a:xfrm>
            <a:off x="13479562" y="9191625"/>
            <a:ext cx="4808438"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 Pereira &amp; Associates </a:t>
            </a:r>
          </a:p>
          <a:p>
            <a:pPr algn="ctr">
              <a:lnSpc>
                <a:spcPts val="4759"/>
              </a:lnSpc>
            </a:pPr>
            <a:endParaRPr lang="en-US" sz="3399" b="1">
              <a:solidFill>
                <a:srgbClr val="000000"/>
              </a:solidFill>
              <a:latin typeface="Canva Sans Bold"/>
              <a:ea typeface="Canva Sans Bold"/>
              <a:cs typeface="Canva Sans Bold"/>
              <a:sym typeface="Canva Sans 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rot="-6270082">
            <a:off x="13562709" y="-927020"/>
            <a:ext cx="6029659" cy="6306682"/>
          </a:xfrm>
          <a:custGeom>
            <a:avLst/>
            <a:gdLst/>
            <a:ahLst/>
            <a:cxnLst/>
            <a:rect l="l" t="t" r="r" b="b"/>
            <a:pathLst>
              <a:path w="6029659" h="6306682">
                <a:moveTo>
                  <a:pt x="0" y="0"/>
                </a:moveTo>
                <a:lnTo>
                  <a:pt x="6029658" y="0"/>
                </a:lnTo>
                <a:lnTo>
                  <a:pt x="6029658"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4502428">
            <a:off x="-1287464" y="4889081"/>
            <a:ext cx="6029659" cy="6306682"/>
          </a:xfrm>
          <a:custGeom>
            <a:avLst/>
            <a:gdLst/>
            <a:ahLst/>
            <a:cxnLst/>
            <a:rect l="l" t="t" r="r" b="b"/>
            <a:pathLst>
              <a:path w="6029659" h="6306682">
                <a:moveTo>
                  <a:pt x="0" y="0"/>
                </a:moveTo>
                <a:lnTo>
                  <a:pt x="6029659" y="0"/>
                </a:lnTo>
                <a:lnTo>
                  <a:pt x="6029659" y="6306682"/>
                </a:lnTo>
                <a:lnTo>
                  <a:pt x="0" y="6306682"/>
                </a:lnTo>
                <a:lnTo>
                  <a:pt x="0" y="0"/>
                </a:lnTo>
                <a:close/>
              </a:path>
            </a:pathLst>
          </a:custGeom>
          <a:blipFill>
            <a:blip r:embed="rId3">
              <a:alphaModFix amt="25000"/>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655809" y="2903111"/>
            <a:ext cx="6363143" cy="6355189"/>
          </a:xfrm>
          <a:custGeom>
            <a:avLst/>
            <a:gdLst/>
            <a:ahLst/>
            <a:cxnLst/>
            <a:rect l="l" t="t" r="r" b="b"/>
            <a:pathLst>
              <a:path w="6363143" h="6355189">
                <a:moveTo>
                  <a:pt x="0" y="0"/>
                </a:moveTo>
                <a:lnTo>
                  <a:pt x="6363143" y="0"/>
                </a:lnTo>
                <a:lnTo>
                  <a:pt x="6363143" y="6355189"/>
                </a:lnTo>
                <a:lnTo>
                  <a:pt x="0" y="6355189"/>
                </a:lnTo>
                <a:lnTo>
                  <a:pt x="0" y="0"/>
                </a:lnTo>
                <a:close/>
              </a:path>
            </a:pathLst>
          </a:custGeom>
          <a:blipFill>
            <a:blip r:embed="rId5"/>
            <a:stretch>
              <a:fillRect/>
            </a:stretch>
          </a:blipFill>
        </p:spPr>
        <p:txBody>
          <a:bodyPr/>
          <a:lstStyle/>
          <a:p>
            <a:endParaRPr lang="en-IN"/>
          </a:p>
        </p:txBody>
      </p:sp>
      <p:sp>
        <p:nvSpPr>
          <p:cNvPr id="6" name="TextBox 6"/>
          <p:cNvSpPr txBox="1"/>
          <p:nvPr/>
        </p:nvSpPr>
        <p:spPr>
          <a:xfrm>
            <a:off x="2070800" y="-114300"/>
            <a:ext cx="14146399" cy="1012207"/>
          </a:xfrm>
          <a:prstGeom prst="rect">
            <a:avLst/>
          </a:prstGeom>
        </p:spPr>
        <p:txBody>
          <a:bodyPr lIns="0" tIns="0" rIns="0" bIns="0" rtlCol="0" anchor="t">
            <a:spAutoFit/>
          </a:bodyPr>
          <a:lstStyle/>
          <a:p>
            <a:pPr algn="ctr">
              <a:lnSpc>
                <a:spcPts val="8259"/>
              </a:lnSpc>
            </a:pPr>
            <a:r>
              <a:rPr lang="en-US" sz="5899" b="1">
                <a:solidFill>
                  <a:srgbClr val="000000"/>
                </a:solidFill>
                <a:latin typeface="Montserrat Ultra-Bold"/>
                <a:ea typeface="Montserrat Ultra-Bold"/>
                <a:cs typeface="Montserrat Ultra-Bold"/>
                <a:sym typeface="Montserrat Ultra-Bold"/>
              </a:rPr>
              <a:t>CONTACT US </a:t>
            </a:r>
          </a:p>
        </p:txBody>
      </p:sp>
      <p:sp>
        <p:nvSpPr>
          <p:cNvPr id="7" name="TextBox 7"/>
          <p:cNvSpPr txBox="1"/>
          <p:nvPr/>
        </p:nvSpPr>
        <p:spPr>
          <a:xfrm>
            <a:off x="1207117" y="1371753"/>
            <a:ext cx="15873765" cy="1097294"/>
          </a:xfrm>
          <a:prstGeom prst="rect">
            <a:avLst/>
          </a:prstGeom>
        </p:spPr>
        <p:txBody>
          <a:bodyPr lIns="0" tIns="0" rIns="0" bIns="0" rtlCol="0" anchor="t">
            <a:spAutoFit/>
          </a:bodyPr>
          <a:lstStyle/>
          <a:p>
            <a:pPr algn="ctr">
              <a:lnSpc>
                <a:spcPts val="4200"/>
              </a:lnSpc>
            </a:pPr>
            <a:r>
              <a:rPr lang="en-US" sz="4200" b="1" i="1">
                <a:solidFill>
                  <a:srgbClr val="000000"/>
                </a:solidFill>
                <a:latin typeface="Playfair Display SC Bold Italics"/>
                <a:ea typeface="Playfair Display SC Bold Italics"/>
                <a:cs typeface="Playfair Display SC Bold Italics"/>
                <a:sym typeface="Playfair Display SC Bold Italics"/>
              </a:rPr>
              <a:t>PEREIRA &amp; ASSOCIATES, ADVOCATES &amp; NOTARY</a:t>
            </a:r>
          </a:p>
          <a:p>
            <a:pPr algn="ctr">
              <a:lnSpc>
                <a:spcPts val="4200"/>
              </a:lnSpc>
              <a:spcBef>
                <a:spcPct val="0"/>
              </a:spcBef>
            </a:pPr>
            <a:endParaRPr lang="en-US" sz="4200" b="1" i="1">
              <a:solidFill>
                <a:srgbClr val="000000"/>
              </a:solidFill>
              <a:latin typeface="Playfair Display SC Bold Italics"/>
              <a:ea typeface="Playfair Display SC Bold Italics"/>
              <a:cs typeface="Playfair Display SC Bold Italics"/>
              <a:sym typeface="Playfair Display SC Bold Italics"/>
            </a:endParaRPr>
          </a:p>
        </p:txBody>
      </p:sp>
      <p:sp>
        <p:nvSpPr>
          <p:cNvPr id="8" name="TextBox 8"/>
          <p:cNvSpPr txBox="1"/>
          <p:nvPr/>
        </p:nvSpPr>
        <p:spPr>
          <a:xfrm>
            <a:off x="7374943" y="2379975"/>
            <a:ext cx="9705939" cy="12951815"/>
          </a:xfrm>
          <a:prstGeom prst="rect">
            <a:avLst/>
          </a:prstGeom>
        </p:spPr>
        <p:txBody>
          <a:bodyPr lIns="0" tIns="0" rIns="0" bIns="0" rtlCol="0" anchor="t">
            <a:spAutoFit/>
          </a:bodyPr>
          <a:lstStyle/>
          <a:p>
            <a:pPr algn="just">
              <a:lnSpc>
                <a:spcPts val="3779"/>
              </a:lnSpc>
            </a:pPr>
            <a:r>
              <a:rPr lang="en-US" sz="2699" b="1" dirty="0">
                <a:solidFill>
                  <a:srgbClr val="000000"/>
                </a:solidFill>
                <a:latin typeface="Canva Sans Bold"/>
                <a:ea typeface="Canva Sans Bold"/>
                <a:cs typeface="Canva Sans Bold"/>
                <a:sym typeface="Canva Sans Bold"/>
              </a:rPr>
              <a:t>Address:</a:t>
            </a:r>
          </a:p>
          <a:p>
            <a:pPr algn="just">
              <a:lnSpc>
                <a:spcPts val="3779"/>
              </a:lnSpc>
            </a:pPr>
            <a:r>
              <a:rPr lang="en-US" sz="2699" b="1" dirty="0">
                <a:solidFill>
                  <a:srgbClr val="1800AD"/>
                </a:solidFill>
                <a:latin typeface="Canva Sans Bold"/>
                <a:ea typeface="Canva Sans Bold"/>
                <a:cs typeface="Canva Sans Bold"/>
                <a:sym typeface="Canva Sans Bold"/>
              </a:rPr>
              <a:t>604, 6th Floor, Pooja </a:t>
            </a:r>
            <a:r>
              <a:rPr lang="en-US" sz="2699" b="1" dirty="0" err="1">
                <a:solidFill>
                  <a:srgbClr val="1800AD"/>
                </a:solidFill>
                <a:latin typeface="Canva Sans Bold"/>
                <a:ea typeface="Canva Sans Bold"/>
                <a:cs typeface="Canva Sans Bold"/>
                <a:sym typeface="Canva Sans Bold"/>
              </a:rPr>
              <a:t>Apartments,Behind</a:t>
            </a:r>
            <a:r>
              <a:rPr lang="en-US" sz="2699" b="1" dirty="0">
                <a:solidFill>
                  <a:srgbClr val="1800AD"/>
                </a:solidFill>
                <a:latin typeface="Canva Sans Bold"/>
                <a:ea typeface="Canva Sans Bold"/>
                <a:cs typeface="Canva Sans Bold"/>
                <a:sym typeface="Canva Sans Bold"/>
              </a:rPr>
              <a:t> Parsee </a:t>
            </a:r>
            <a:r>
              <a:rPr lang="en-US" sz="2699" b="1" dirty="0" err="1">
                <a:solidFill>
                  <a:srgbClr val="1800AD"/>
                </a:solidFill>
                <a:latin typeface="Canva Sans Bold"/>
                <a:ea typeface="Canva Sans Bold"/>
                <a:cs typeface="Canva Sans Bold"/>
                <a:sym typeface="Canva Sans Bold"/>
              </a:rPr>
              <a:t>Agyari</a:t>
            </a:r>
            <a:r>
              <a:rPr lang="en-US" sz="2699" b="1" dirty="0">
                <a:solidFill>
                  <a:srgbClr val="1800AD"/>
                </a:solidFill>
                <a:latin typeface="Canva Sans Bold"/>
                <a:ea typeface="Canva Sans Bold"/>
                <a:cs typeface="Canva Sans Bold"/>
                <a:sym typeface="Canva Sans Bold"/>
              </a:rPr>
              <a:t>, </a:t>
            </a:r>
            <a:r>
              <a:rPr lang="en-US" sz="2699" b="1" dirty="0" err="1">
                <a:solidFill>
                  <a:srgbClr val="1800AD"/>
                </a:solidFill>
                <a:latin typeface="Canva Sans Bold"/>
                <a:ea typeface="Canva Sans Bold"/>
                <a:cs typeface="Canva Sans Bold"/>
                <a:sym typeface="Canva Sans Bold"/>
              </a:rPr>
              <a:t>Chinchpokli</a:t>
            </a:r>
            <a:r>
              <a:rPr lang="en-US" sz="2699" b="1" dirty="0">
                <a:solidFill>
                  <a:srgbClr val="1800AD"/>
                </a:solidFill>
                <a:latin typeface="Canva Sans Bold"/>
                <a:ea typeface="Canva Sans Bold"/>
                <a:cs typeface="Canva Sans Bold"/>
                <a:sym typeface="Canva Sans Bold"/>
              </a:rPr>
              <a:t> </a:t>
            </a:r>
            <a:r>
              <a:rPr lang="en-US" sz="2699" b="1" dirty="0" err="1">
                <a:solidFill>
                  <a:srgbClr val="1800AD"/>
                </a:solidFill>
                <a:latin typeface="Canva Sans Bold"/>
                <a:ea typeface="Canva Sans Bold"/>
                <a:cs typeface="Canva Sans Bold"/>
                <a:sym typeface="Canva Sans Bold"/>
              </a:rPr>
              <a:t>Road,Off</a:t>
            </a:r>
            <a:r>
              <a:rPr lang="en-US" sz="2699" b="1" dirty="0">
                <a:solidFill>
                  <a:srgbClr val="1800AD"/>
                </a:solidFill>
                <a:latin typeface="Canva Sans Bold"/>
                <a:ea typeface="Canva Sans Bold"/>
                <a:cs typeface="Canva Sans Bold"/>
                <a:sym typeface="Canva Sans Bold"/>
              </a:rPr>
              <a:t>. Hill Road, Bandra West Mumbai 400050, India</a:t>
            </a:r>
          </a:p>
          <a:p>
            <a:pPr algn="just">
              <a:lnSpc>
                <a:spcPts val="3779"/>
              </a:lnSpc>
            </a:pPr>
            <a:endParaRPr lang="en-US" sz="2699" b="1" dirty="0">
              <a:solidFill>
                <a:srgbClr val="1800AD"/>
              </a:solidFill>
              <a:latin typeface="Canva Sans Bold"/>
              <a:ea typeface="Canva Sans Bold"/>
              <a:cs typeface="Canva Sans Bold"/>
              <a:sym typeface="Canva Sans Bold"/>
            </a:endParaRPr>
          </a:p>
          <a:p>
            <a:pPr algn="just">
              <a:lnSpc>
                <a:spcPts val="3779"/>
              </a:lnSpc>
            </a:pPr>
            <a:r>
              <a:rPr lang="en-US" sz="2699" b="1" i="1" dirty="0">
                <a:solidFill>
                  <a:srgbClr val="000000"/>
                </a:solidFill>
                <a:latin typeface="Canva Sans Bold Italics"/>
                <a:ea typeface="Canva Sans Bold Italics"/>
                <a:cs typeface="Canva Sans Bold Italics"/>
                <a:sym typeface="Canva Sans Bold Italics"/>
              </a:rPr>
              <a:t>Adv. Darryl Pereira </a:t>
            </a:r>
          </a:p>
          <a:p>
            <a:pPr algn="just">
              <a:lnSpc>
                <a:spcPts val="3779"/>
              </a:lnSpc>
            </a:pPr>
            <a:r>
              <a:rPr lang="en-US" sz="2699" b="1" dirty="0">
                <a:solidFill>
                  <a:srgbClr val="1800AD"/>
                </a:solidFill>
                <a:latin typeface="Canva Sans Bold"/>
                <a:ea typeface="Canva Sans Bold"/>
                <a:cs typeface="Canva Sans Bold"/>
                <a:sym typeface="Canva Sans Bold"/>
              </a:rPr>
              <a:t>Email: </a:t>
            </a:r>
            <a:r>
              <a:rPr lang="en-US" sz="2699" b="1" u="sng" dirty="0">
                <a:solidFill>
                  <a:srgbClr val="1800AD"/>
                </a:solidFill>
                <a:latin typeface="Canva Sans Bold"/>
                <a:ea typeface="Canva Sans Bold"/>
                <a:cs typeface="Canva Sans Bold"/>
                <a:sym typeface="Canva Sans Bold"/>
                <a:hlinkClick r:id="rId6" tooltip="mailto:darrylpereira@yahoo.com"/>
              </a:rPr>
              <a:t>darrylpereira@yahoo.com</a:t>
            </a:r>
            <a:r>
              <a:rPr lang="en-US" sz="2699" dirty="0">
                <a:solidFill>
                  <a:srgbClr val="1800AD"/>
                </a:solidFill>
                <a:latin typeface="Canva Sans"/>
                <a:ea typeface="Canva Sans"/>
                <a:cs typeface="Canva Sans"/>
                <a:sym typeface="Canva Sans"/>
              </a:rPr>
              <a:t> </a:t>
            </a:r>
          </a:p>
          <a:p>
            <a:pPr algn="just">
              <a:lnSpc>
                <a:spcPts val="3779"/>
              </a:lnSpc>
            </a:pPr>
            <a:r>
              <a:rPr lang="en-US" sz="2699" b="1" dirty="0">
                <a:solidFill>
                  <a:srgbClr val="1800AD"/>
                </a:solidFill>
                <a:latin typeface="Canva Sans Bold"/>
                <a:ea typeface="Canva Sans Bold"/>
                <a:cs typeface="Canva Sans Bold"/>
                <a:sym typeface="Canva Sans Bold"/>
              </a:rPr>
              <a:t>Mobile No: 91 9167734342</a:t>
            </a:r>
          </a:p>
          <a:p>
            <a:pPr algn="just">
              <a:lnSpc>
                <a:spcPts val="3779"/>
              </a:lnSpc>
            </a:pPr>
            <a:endParaRPr lang="en-US" sz="2699" b="1" dirty="0">
              <a:solidFill>
                <a:srgbClr val="1800AD"/>
              </a:solidFill>
              <a:latin typeface="Canva Sans Bold"/>
              <a:ea typeface="Canva Sans Bold"/>
              <a:cs typeface="Canva Sans Bold"/>
              <a:sym typeface="Canva Sans Bold"/>
            </a:endParaRPr>
          </a:p>
          <a:p>
            <a:pPr algn="just">
              <a:lnSpc>
                <a:spcPts val="3779"/>
              </a:lnSpc>
            </a:pPr>
            <a:r>
              <a:rPr lang="en-US" sz="2699" b="1" i="1" dirty="0">
                <a:solidFill>
                  <a:srgbClr val="000000"/>
                </a:solidFill>
                <a:latin typeface="Canva Sans Bold Italics"/>
                <a:ea typeface="Canva Sans Bold Italics"/>
                <a:cs typeface="Canva Sans Bold Italics"/>
                <a:sym typeface="Canva Sans Bold Italics"/>
              </a:rPr>
              <a:t>Adv. Natasha Kasad</a:t>
            </a:r>
          </a:p>
          <a:p>
            <a:pPr algn="just">
              <a:lnSpc>
                <a:spcPts val="3779"/>
              </a:lnSpc>
            </a:pPr>
            <a:r>
              <a:rPr lang="en-US" sz="2699" b="1" dirty="0">
                <a:solidFill>
                  <a:srgbClr val="1800AD"/>
                </a:solidFill>
                <a:latin typeface="Canva Sans Bold"/>
                <a:ea typeface="Canva Sans Bold"/>
                <a:cs typeface="Canva Sans Bold"/>
                <a:sym typeface="Canva Sans Bold"/>
              </a:rPr>
              <a:t>Email: </a:t>
            </a:r>
            <a:r>
              <a:rPr lang="en-US" sz="2699" b="1" u="sng" dirty="0">
                <a:solidFill>
                  <a:srgbClr val="1800AD"/>
                </a:solidFill>
                <a:latin typeface="Canva Sans Bold"/>
                <a:ea typeface="Canva Sans Bold"/>
                <a:cs typeface="Canva Sans Bold"/>
                <a:sym typeface="Canva Sans Bold"/>
                <a:hlinkClick r:id="rId7" tooltip="mailto:pereiraassociates604@gmail.com"/>
              </a:rPr>
              <a:t>pereiraassociates604@gmail.com</a:t>
            </a:r>
          </a:p>
          <a:p>
            <a:pPr algn="just">
              <a:lnSpc>
                <a:spcPts val="3779"/>
              </a:lnSpc>
            </a:pPr>
            <a:r>
              <a:rPr lang="en-US" sz="2699" b="1" dirty="0">
                <a:solidFill>
                  <a:srgbClr val="1800AD"/>
                </a:solidFill>
                <a:latin typeface="Canva Sans Bold"/>
                <a:ea typeface="Canva Sans Bold"/>
                <a:cs typeface="Canva Sans Bold"/>
                <a:sym typeface="Canva Sans Bold"/>
              </a:rPr>
              <a:t>Mobile No: +91 9769302381</a:t>
            </a:r>
          </a:p>
          <a:p>
            <a:pPr algn="just">
              <a:lnSpc>
                <a:spcPts val="3779"/>
              </a:lnSpc>
            </a:pPr>
            <a:endParaRPr lang="en-US" sz="2699" b="1" dirty="0">
              <a:solidFill>
                <a:srgbClr val="1800AD"/>
              </a:solidFill>
              <a:latin typeface="Canva Sans Bold"/>
              <a:ea typeface="Canva Sans Bold Italics"/>
              <a:cs typeface="Canva Sans Bold Italics"/>
              <a:sym typeface="Canva Sans Bold"/>
            </a:endParaRPr>
          </a:p>
          <a:p>
            <a:pPr algn="just">
              <a:lnSpc>
                <a:spcPts val="3779"/>
              </a:lnSpc>
            </a:pPr>
            <a:r>
              <a:rPr lang="en-US" sz="2699" b="1" i="1" dirty="0">
                <a:solidFill>
                  <a:srgbClr val="000000"/>
                </a:solidFill>
                <a:latin typeface="Canva Sans Bold Italics"/>
                <a:ea typeface="Canva Sans Bold Italics"/>
                <a:cs typeface="Canva Sans Bold Italics"/>
                <a:sym typeface="Canva Sans Bold Italics"/>
              </a:rPr>
              <a:t>Adv. Beverly Fernandes</a:t>
            </a:r>
          </a:p>
          <a:p>
            <a:pPr algn="just">
              <a:lnSpc>
                <a:spcPts val="3779"/>
              </a:lnSpc>
            </a:pPr>
            <a:r>
              <a:rPr lang="en-US" sz="2699" b="1" dirty="0">
                <a:solidFill>
                  <a:srgbClr val="1800AD"/>
                </a:solidFill>
                <a:latin typeface="Canva Sans Bold"/>
                <a:ea typeface="Canva Sans Bold"/>
                <a:cs typeface="Canva Sans Bold"/>
                <a:sym typeface="Canva Sans Bold"/>
              </a:rPr>
              <a:t>Email: </a:t>
            </a:r>
            <a:r>
              <a:rPr lang="en-US" sz="2699" b="1" u="sng" dirty="0">
                <a:solidFill>
                  <a:srgbClr val="1800AD"/>
                </a:solidFill>
                <a:latin typeface="Canva Sans Bold"/>
                <a:ea typeface="Canva Sans Bold"/>
                <a:cs typeface="Canva Sans Bold"/>
                <a:sym typeface="Canva Sans Bold"/>
                <a:hlinkClick r:id="rId7" tooltip="mailto:pereiraassociates604@gmail.com"/>
              </a:rPr>
              <a:t>pereiraassociates604@gmail.com</a:t>
            </a:r>
          </a:p>
          <a:p>
            <a:pPr algn="just">
              <a:lnSpc>
                <a:spcPts val="3779"/>
              </a:lnSpc>
            </a:pPr>
            <a:r>
              <a:rPr lang="en-US" sz="2699" b="1" dirty="0">
                <a:solidFill>
                  <a:srgbClr val="1800AD"/>
                </a:solidFill>
                <a:latin typeface="Canva Sans Bold"/>
                <a:ea typeface="Canva Sans Bold"/>
                <a:cs typeface="Canva Sans Bold"/>
                <a:sym typeface="Canva Sans Bold"/>
                <a:hlinkClick r:id="rId7" tooltip="mailto:pereiraassociates604@gmail.com"/>
              </a:rPr>
              <a:t>Mobile No: 9920844503</a:t>
            </a:r>
          </a:p>
          <a:p>
            <a:pPr algn="just">
              <a:lnSpc>
                <a:spcPts val="3566"/>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2866"/>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2866"/>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2866"/>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2866"/>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a:p>
            <a:pPr algn="just">
              <a:lnSpc>
                <a:spcPts val="3610"/>
              </a:lnSpc>
            </a:pPr>
            <a:endParaRPr lang="en-US" sz="2699" b="1" u="sng" dirty="0">
              <a:solidFill>
                <a:srgbClr val="1800AD"/>
              </a:solidFill>
              <a:latin typeface="Canva Sans Bold"/>
              <a:ea typeface="Canva Sans Bold"/>
              <a:cs typeface="Canva Sans Bold"/>
              <a:sym typeface="Canva Sans Bold"/>
              <a:hlinkClick r:id="rId7" tooltip="mailto:pereiraassociates604@gmail.com"/>
            </a:endParaRPr>
          </a:p>
        </p:txBody>
      </p:sp>
      <p:sp>
        <p:nvSpPr>
          <p:cNvPr id="9" name="TextBox 9"/>
          <p:cNvSpPr txBox="1"/>
          <p:nvPr/>
        </p:nvSpPr>
        <p:spPr>
          <a:xfrm>
            <a:off x="14340028" y="9735383"/>
            <a:ext cx="4475020" cy="1103234"/>
          </a:xfrm>
          <a:prstGeom prst="rect">
            <a:avLst/>
          </a:prstGeom>
        </p:spPr>
        <p:txBody>
          <a:bodyPr lIns="0" tIns="0" rIns="0" bIns="0" rtlCol="0" anchor="t">
            <a:spAutoFit/>
          </a:bodyPr>
          <a:lstStyle/>
          <a:p>
            <a:pPr algn="ctr">
              <a:lnSpc>
                <a:spcPts val="4429"/>
              </a:lnSpc>
            </a:pPr>
            <a:r>
              <a:rPr lang="en-US" sz="2400" b="1" dirty="0">
                <a:solidFill>
                  <a:srgbClr val="000000"/>
                </a:solidFill>
                <a:latin typeface="Canva Sans Bold"/>
                <a:ea typeface="Canva Sans Bold"/>
                <a:cs typeface="Canva Sans Bold"/>
                <a:sym typeface="Canva Sans Bold"/>
              </a:rPr>
              <a:t>© Pereira &amp; Associates </a:t>
            </a:r>
          </a:p>
          <a:p>
            <a:pPr algn="ctr">
              <a:lnSpc>
                <a:spcPts val="4429"/>
              </a:lnSpc>
            </a:pPr>
            <a:endParaRPr lang="en-US" sz="3164" b="1" dirty="0">
              <a:solidFill>
                <a:srgbClr val="000000"/>
              </a:solidFill>
              <a:latin typeface="Canva Sans Bold"/>
              <a:ea typeface="Canva Sans Bold"/>
              <a:cs typeface="Canva Sans Bold"/>
              <a:sym typeface="Canva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2286</Words>
  <Application>Microsoft Office PowerPoint</Application>
  <PresentationFormat>Custom</PresentationFormat>
  <Paragraphs>241</Paragraphs>
  <Slides>26</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26</vt:i4>
      </vt:variant>
    </vt:vector>
  </HeadingPairs>
  <TitlesOfParts>
    <vt:vector size="40" baseType="lpstr">
      <vt:lpstr>Poppins Bold Italics</vt:lpstr>
      <vt:lpstr>Raleway Bold</vt:lpstr>
      <vt:lpstr>Calibri</vt:lpstr>
      <vt:lpstr>Playfair Display SC Bold Italics</vt:lpstr>
      <vt:lpstr>Raleway Semi-Bold</vt:lpstr>
      <vt:lpstr>Canva Sans Bold Italics</vt:lpstr>
      <vt:lpstr>Montserrat Ultra-Bold</vt:lpstr>
      <vt:lpstr>Canva Sans Bold</vt:lpstr>
      <vt:lpstr>Aptos</vt:lpstr>
      <vt:lpstr>Arial</vt:lpstr>
      <vt:lpstr>Raleway</vt:lpstr>
      <vt:lpstr>Raleway Bold Italics</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OF ATTORNEY</dc:title>
  <cp:lastModifiedBy>LENOVO</cp:lastModifiedBy>
  <cp:revision>2</cp:revision>
  <dcterms:created xsi:type="dcterms:W3CDTF">2006-08-16T00:00:00Z</dcterms:created>
  <dcterms:modified xsi:type="dcterms:W3CDTF">2026-02-03T12:04:19Z</dcterms:modified>
  <dc:identifier>DAG9owvDslU</dc:identifier>
</cp:coreProperties>
</file>